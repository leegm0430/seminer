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1B1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1B12"/>
                </a:solidFill>
                <a:latin typeface="Arial"/>
              </a:rPr>
              <a:t>2025년 주요 카페 프랜차이즈 구매액 증가율(%)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전년 대비 구매액 증가율</c:v>
                </c:pt>
              </c:strCache>
            </c:strRef>
          </c:tx>
          <c:spPr>
            <a:solidFill>
              <a:srgbClr val="C085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5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1F1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전체 구매액</c:v>
                  </c:pt>
                  <c:pt idx="1">
                    <c:v>사이드메뉴(식품류)</c:v>
                  </c:pt>
                  <c:pt idx="2">
                    <c:v>조리빵류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11.4</c:v>
                </c:pt>
                <c:pt idx="1">
                  <c:v>20.7</c:v>
                </c:pt>
                <c:pt idx="2">
                  <c:v>141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E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1B1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1B12"/>
                </a:solidFill>
                <a:latin typeface="Arial"/>
              </a:rPr>
              <a:t>카페 이용 중 '최악의 비매너 카공족' 유형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응답 비율(%)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자리 맡고
장시간 외출</c:v>
                  </c:pt>
                  <c:pt idx="1">
                    <c:v>큰 소리
통화·대화</c:v>
                  </c:pt>
                  <c:pt idx="2">
                    <c:v>음료 한 잔으로
장시간 체류</c:v>
                  </c:pt>
                  <c:pt idx="3">
                    <c:v>무리한 정숙·
자리변경 요구</c:v>
                  </c:pt>
                  <c:pt idx="4">
                    <c:v>콘센트·좌석
독점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25</c:v>
                </c:pt>
                <c:pt idx="2">
                  <c:v>17</c:v>
                </c:pt>
                <c:pt idx="3">
                  <c:v>9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DE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1B1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1B12"/>
                </a:solidFill>
                <a:latin typeface="Arial"/>
              </a:rPr>
              <a:t>설문별 카페 공부 경험 비율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카페 공부 경험률(%)</c:v>
                </c:pt>
              </c:strCache>
            </c:strRef>
          </c:tx>
          <c:spPr>
            <a:solidFill>
              <a:srgbClr val="C085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B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2017
(대학내일20대연구소)</c:v>
                  </c:pt>
                  <c:pt idx="1">
                    <c:v>2025
(진학사 캐치)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B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1B1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E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2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64008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3" name="Shape 1"/>
          <p:cNvSpPr/>
          <p:nvPr/>
        </p:nvSpPr>
        <p:spPr>
          <a:xfrm>
            <a:off x="9006840" y="64008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64008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5" name="Shape 3"/>
          <p:cNvSpPr/>
          <p:nvPr/>
        </p:nvSpPr>
        <p:spPr>
          <a:xfrm>
            <a:off x="10012680" y="640080"/>
            <a:ext cx="292608" cy="2926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64008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0" y="64008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114300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9" name="Shape 7"/>
          <p:cNvSpPr/>
          <p:nvPr/>
        </p:nvSpPr>
        <p:spPr>
          <a:xfrm>
            <a:off x="9006840" y="114300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0" y="1143000"/>
            <a:ext cx="292608" cy="2926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1" name="Shape 9"/>
          <p:cNvSpPr/>
          <p:nvPr/>
        </p:nvSpPr>
        <p:spPr>
          <a:xfrm>
            <a:off x="10012680" y="114300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0" y="114300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18520" y="114300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645920"/>
            <a:ext cx="292608" cy="2926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5" name="Shape 13"/>
          <p:cNvSpPr/>
          <p:nvPr/>
        </p:nvSpPr>
        <p:spPr>
          <a:xfrm>
            <a:off x="9006840" y="1645920"/>
            <a:ext cx="292608" cy="2926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164592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12680" y="1645920"/>
            <a:ext cx="292608" cy="2926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0" y="1645920"/>
            <a:ext cx="292608" cy="2926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18520" y="164592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214884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214884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214884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12680" y="214884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0" y="2148840"/>
            <a:ext cx="292608" cy="2926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18520" y="2148840"/>
            <a:ext cx="292608" cy="29260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PLANNING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카페 좌석 &amp; 콘센트 지도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카공족을 위한 키오스크 연동형 좌석 선점 서비스 기획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8368" y="416052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43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현황분석 · 문제점 · 원인분석 · 유사콘텐츠분석 · 해결방안 · 타겟분석 · 컨셉 · 스토리보드 · 프로모션 전략 · 향후 과제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기획서 스토리라인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발견하고, 원인을 찾고, 해결책을 설계하는 10단계 여정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5623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847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현황분석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18541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카공족은 어떻게 카페의 주류 고객이 되었나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752344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815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이용자와 사장님, 서로 다른 두 개의 불편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64845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6393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원인분석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아직도 '가봐야 아는' 좌석 정보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471416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4544568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5354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유사콘텐츠분석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8737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 · 코인노래방 · 키오스크에서 찾은 힌트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367528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544068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54315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해결방안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57698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좌석부터 고르는 카페 키오스크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1783080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185623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95160" y="1847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타겟분석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95160" y="218541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누구를 위한 서비스인가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679192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2752344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95160" y="27432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95160" y="30815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서비스의 한 줄 정의와 SWOT 분석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3575304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35" name="Text 33"/>
          <p:cNvSpPr/>
          <p:nvPr/>
        </p:nvSpPr>
        <p:spPr>
          <a:xfrm>
            <a:off x="6245352" y="364845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95160" y="363931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스토리보드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95160" y="3977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실행부터 퇴실까지, 3장면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80760" y="4471416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39" name="Text 37"/>
          <p:cNvSpPr/>
          <p:nvPr/>
        </p:nvSpPr>
        <p:spPr>
          <a:xfrm>
            <a:off x="6245352" y="4544568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95160" y="45354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프로모션 전략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95160" y="48737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대학가에서 전국으로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80760" y="5367528"/>
            <a:ext cx="5349240" cy="768096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43" name="Text 41"/>
          <p:cNvSpPr/>
          <p:nvPr/>
        </p:nvSpPr>
        <p:spPr>
          <a:xfrm>
            <a:off x="6245352" y="544068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95160" y="543153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과제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95160" y="57698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숙제와 다음 단계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카페 좌석 &amp; 콘센트 지도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현황분석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카공족, 이제는 카페의 '주류 고객'이다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카페에서 노트북을 펴고 공부·업무를 보는 사람들은 더 이상 소수의 취향이 아니라, 카페 매출 구조를 바꾸는 핵심 고객층으로 자리 잡았다.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566160" cy="214884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Z세대 구직자 중 카페에서 공부한다고 응답한 비율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진학사 캐치, 2025.8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61104" y="1965960"/>
            <a:ext cx="3566160" cy="214884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9704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55개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489704" y="2971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 특화 브랜드 '카공족'의 수도권 운영 지점 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9704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데이터뉴스, 2026.3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3566160" cy="214884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93608" y="2148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293608" y="2971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20대 대학생 중 카페 공부 경험이 있는 비율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93608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대학내일20대연구소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카공족은 단순히 자리를 오래 차지하는 손님이 아니라, 스스로를 '몰입할 수 있는 공간'을 찾는 소비자로 카페를 재정의하고 있다.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7492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012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작업</a:t>
            </a:r>
            <a:endParaRPr lang="en-US" sz="12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074920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1772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시험·자격증 공부</a:t>
            </a:r>
            <a:endParaRPr lang="en-US" sz="12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7492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7532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프리랜서·1인 사업자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진학사 캐치 「카페 공부 실태」 조사(2025.8, Z세대 구직자 2,037명) · 데이터뉴스(2026.3) · 대학내일20대연구소(2017, 대학생 300명)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현황분석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현황분석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장기 체류 고객이 오히려 매출을 키운다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주요 카페 프랜차이즈의 구매 데이터는, 카공족처럼 오래 머무는 고객이 카페 매출에 부정적이지만은 않다는 것을 보여준다.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2024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920240"/>
            <a:ext cx="4663440" cy="39319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8" name="Text 5"/>
          <p:cNvSpPr/>
          <p:nvPr/>
        </p:nvSpPr>
        <p:spPr>
          <a:xfrm>
            <a:off x="7269480" y="2103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269480" y="251460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대용 메뉴(조리빵 등) 구매가 141% 급증 — 장시간 체류·혼밥 트렌드와 맞물림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69480" y="35661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사이드메뉴 성장률(20.7%)이 전체 구매액 성장률(11.4%)을 크게 앞지름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69480" y="46177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장기 체류 고객을 비용 요인이 아닌 매출 기여 고객으로 재평가하는 시각 확대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경향신문, 「'카공족 사절'을 사절합니다」(2026.4.25) — 엠브레인 딥데이터 분석 인용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현황분석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현황분석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대형 프랜차이즈는 이미 '좌석 설계'로 응답했다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스타벅스·할리스 등은 카공족을 밀어내는 대신, 전용 좌석을 만드는 방향으로 전략을 바꾸고 있다 — 하지만 '정보 제공'은 빠져 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566160" cy="292608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402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6829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944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스타벅스 '포커스 존'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3232" y="3401568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신림녹두거리·세종대점 등 대학가 6개 매장에 1인 좌석·칸막이·개별 콘센트를 갖춘 전용 공간 도입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61104" y="1965960"/>
            <a:ext cx="3566160" cy="292608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5424" y="22402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6829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7136" y="2944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할리스커피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17136" y="3401568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카공족을 겨냥해 1~2인용 노트북 작업 전용 좌석을 대거 확충하는 추세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65008" y="1965960"/>
            <a:ext cx="3566160" cy="2926080"/>
          </a:xfrm>
          <a:prstGeom prst="rect">
            <a:avLst/>
          </a:prstGeom>
          <a:solidFill>
            <a:srgbClr val="F7F3E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224028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36829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944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카공족(브랜드)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21040" y="3401568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5,900원 정액에 시간 제한 없이 이용 가능한 카페·스터디카페 결합형 공간, 수도권 55개 지점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5074920"/>
            <a:ext cx="11247120" cy="777240"/>
          </a:xfrm>
          <a:prstGeom prst="rect">
            <a:avLst/>
          </a:prstGeom>
          <a:solidFill>
            <a:srgbClr val="FBF1DF"/>
          </a:solidFill>
          <a:ln/>
        </p:spPr>
      </p:sp>
      <p:sp>
        <p:nvSpPr>
          <p:cNvPr id="22" name="Text 17"/>
          <p:cNvSpPr/>
          <p:nvPr/>
        </p:nvSpPr>
        <p:spPr>
          <a:xfrm>
            <a:off x="685800" y="519379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세 사례 모두 '어느 매장에 자리가 남아있는지'는 고객이 여전히 직접 가봐야 안다 — 공간은 진화했지만 정보는 그대로다.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경향신문(2026.4.25), 나무위키 「카공족」 항목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현황분석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문제점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이용자: 가봤는데 자리가 없다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콘센트와 좌석 정보를 미리 알 수 없어, 카페를 향한 발걸음이 헛걸음이 되는 경우가 절반에 가깝다.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554480" cy="1554480"/>
          </a:xfrm>
          <a:prstGeom prst="ellipse">
            <a:avLst/>
          </a:prstGeom>
          <a:solidFill>
            <a:srgbClr val="23171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40280" y="21488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 때문에 앉을 자리가 없었던 경험이 '자주/종종' 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1554480" cy="1554480"/>
          </a:xfrm>
          <a:prstGeom prst="ellipse">
            <a:avLst/>
          </a:prstGeom>
          <a:solidFill>
            <a:srgbClr val="231710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9202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1488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카공족이 자리를 오랜 시간 비운 것을 목격한 적 있다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헛걸음을 만드는 대표 상황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251960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419709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매장은 붐비는데 앉을 자리가 있는지 밖에서 알 수 없다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87375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48188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자리는 있어도 콘센트 근처 좌석만 이미 만석인 경우가 흔하다</a:t>
            </a:r>
            <a:endParaRPr lang="en-US" sz="12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9554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54406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노트북·책만 두고 장시간 자리를 비우는 손님 때문에 '보이지만 못 앉는' 좌석이 생긴다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한국리서치(2021) 카페 이용 실태 조사 — 머니S 재인용(2025.6.11)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문제점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사장님: 회전율과 매출 사이의 딜레마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체류 손님을 무작정 막을 수도, 그대로 둘 수도 없는 카페 운영자의 현실적인 고민.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297680" cy="356616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8" name="Text 5"/>
          <p:cNvSpPr/>
          <p:nvPr/>
        </p:nvSpPr>
        <p:spPr>
          <a:xfrm>
            <a:off x="763524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사장님의 딜레마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35240" y="24505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회전율을 높이면 손님이 줄고, 그대로 두면 좌석 매출 효율이 떨어진다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35240" y="34107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이용시간 제한, 콘센트 차단, 와이파이 해제 등 '눈치 주기'식 대응은 갈등만 키운다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35240" y="43708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무인주문기 도입률은 2023년 기준 7.8%에 불과 — 결제는 자동화됐지만 좌석 관리는 여전히 수기·눈대중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진학사 캐치(2025.8, Z세대 구직자 2,037명) · 한국농촌경제연구원 「무인주문기 활용의 외식업체 매출·고용영향 분석」(2023년 기준)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문제점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 정리: 두 고객의 서로 다른 불편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이용자와 사장님이 겪는 문제는 대립하는 것처럼 보이지만, 실은 '같은 정보 공백'에서 출발한다.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겪는 문제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근본 배경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710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1B12"/>
                          </a:solidFill>
                        </a:rPr>
                        <a:t>이용자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1B12"/>
                          </a:solidFill>
                        </a:rPr>
                        <a:t>(카공족)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</a:rPr>
                        <a:t>가기 전엔 좌석·콘센트 여부를 알 수 없어 헛걸음 (47% 경험)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259"/>
                          </a:solidFill>
                        </a:rPr>
                        <a:t>카페 밖에서 확인 가능한 실시간 좌석 정보 채널 부재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1B12"/>
                          </a:solidFill>
                        </a:rPr>
                        <a:t>사장님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1B12"/>
                          </a:solidFill>
                        </a:rPr>
                        <a:t>(운영자)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1B12"/>
                          </a:solidFill>
                        </a:rPr>
                        <a:t>누가 좌석을 실제로 쓰는지 파악하기 어려워 회전율 관리·갈등 대응이 수동적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259"/>
                          </a:solidFill>
                        </a:rPr>
                        <a:t>주문(키오스크)과 좌석 점유 상태가 서로 연동되지 않는 시스템 구조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1710"/>
                          </a:solidFill>
                        </a:rPr>
                        <a:t>공통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1710"/>
                          </a:solidFill>
                        </a:rPr>
                        <a:t>좌석 상태(비어있음 / 사용중)가 '보이지 않는' 상태로 방치되어 있다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1710"/>
                          </a:solidFill>
                        </a:rPr>
                        <a:t>→ 실시간 좌석 데이터화가 곧 해결의 출발점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한국리서치(2021) · 진학사 캐치(2025) · 한국농촌경제연구원(2023) 종합 재구성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원인분석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근본 원인 ① 정보 비대칭 — '가봐야 안다'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카카오맵·네이버지도는 카페의 위치와 리뷰는 보여주지만, 지금 이 순간 좌석과 콘센트가 남아있는지는 알려주지 않는다.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40680" cy="37490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지도 앱이 보여주는 정보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 위치·영업시간·전화번호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별점·방문자 리뷰(과거 시점)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사진, 대표 사진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'콘센트 있음' 여부(정적 태그, 사용자 제보 의존)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440680" cy="374904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필요한 '지금' 정보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시간, 몇 자리가 비어있는가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2918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콘센트 좌석이 남아있는가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8404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혼잡도는 언제쯤 완화되는가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3891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대기·이용 가능 시간은 얼마나인가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카카오맵·네이버지도 서비스 현황 분석(2026) — 좌석·혼잡도 실시간 정보 항목 부재 확인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원인분석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원인분석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근본 원인 ② 주문 시스템과 좌석 관리가 분리되어 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키오스크·테이블오더는 이미 널리 보급되고 있지만, '결제'만 자동화했을 뿐 '좌석 점유'는 여전히 데이터화되지 않았다.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103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55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80360" y="2103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7F3EE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103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55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12080" y="2103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7F3E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1031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552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43800" y="2103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7F3EE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키오스크·테이블오더가 자동화한 영역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0698480" cy="45720"/>
          </a:xfrm>
          <a:prstGeom prst="rect">
            <a:avLst/>
          </a:prstGeom>
          <a:solidFill>
            <a:srgbClr val="E7DED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빠져 있는 연결고리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3171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4114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552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840480" y="41148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31710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41148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점유 상태 기록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114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8552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132320" y="41148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3171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41148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외부 공유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1663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무인주문기(키오스크·테이블오더) 도입률은 2023년 기준 외식업체의 7.8%에 불과하지만, 티오더 20만대·페이히어 7만 가맹점 등 빠르게 확산 중인 인프라 위에 '좌석 선택' 단계만 얹으면 이 공백을 메울 수 있다.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한국농촌경제연구원(2023) · 중소기업신문(2025.3.19, 티오더·페이히어 도입 현황)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원인분석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원인분석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문제의 뿌리: 두 원인이 만나 하나의 결과를 만든다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206240" cy="1554480"/>
          </a:xfrm>
          <a:prstGeom prst="rect">
            <a:avLst/>
          </a:prstGeom>
          <a:solidFill>
            <a:srgbClr val="2E1F1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비대칭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지도·앱에 실시간 좌석 정보 없음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4206240" cy="1554480"/>
          </a:xfrm>
          <a:prstGeom prst="rect">
            <a:avLst/>
          </a:prstGeom>
          <a:solidFill>
            <a:srgbClr val="2E1F1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단절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주문(키오스크)과 좌석 점유가 연동 안 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2606040"/>
            <a:ext cx="1463040" cy="77724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4434840"/>
            <a:ext cx="1463040" cy="-77724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788920"/>
            <a:ext cx="5120640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이용자는 '가봐야 알고', 사장님은 '지나야 안다'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좌석이라는 가장 기본적인 자원이 여전히 아날로그로 관리된다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슬라이드 6~10의 현황·문제점 데이터 종합 재구성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유사콘텐츠분석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사례 ① 도서관 좌석 배정 시스템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바코드로 좌석을 '체크인/체크아웃'하는 도서관 열람실 시스템은, 방문 없이도 실시간 좌석 현황을 외부에 공개하는 가장 오래된 성공 사례다.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640080" cy="640080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21854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로그인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학생증·회원 계정으로 좌석 배정 시스템에 접속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7180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DED3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114800" y="2011680"/>
            <a:ext cx="640080" cy="640080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1854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 &amp; 체크인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좌석을 선택하고 바코드를 스캔해 점유 상태로 전환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1500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DED3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858000" y="2011680"/>
            <a:ext cx="640080" cy="640080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21854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실시간 확인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3504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 않아도 웹·앱에서 잔여 좌석 수를 바로 확인 가능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45820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DED3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9601200" y="2011680"/>
            <a:ext cx="640080" cy="640080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218541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퇴실 시 체크아웃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778240" y="3154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퇴실 시 다시 바코드를 찍어 좌석을 즉시 '이용 가능'으로 전환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6" name="Text 20"/>
          <p:cNvSpPr/>
          <p:nvPr/>
        </p:nvSpPr>
        <p:spPr>
          <a:xfrm>
            <a:off x="68580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적용 시사점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85800" y="5138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도서관처럼 '좌석 단위'로 체크인·체크아웃을 강제하면, 카페도 방문 전 실시간 잔여 좌석을 외부에 공개할 수 있다. 다만 카페는 결제(음료 주문)와 자연스럽게 결합해야 이용자 저항이 적다.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유사콘텐츠분석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유사콘텐츠분석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사례 ② 코인노래방 · 무인시설 결제형 공간 선택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코인노래방·스터디카페·무인 독서실은 '공간(방/좌석) 선택 → 결제 → 이용'의 순서를 기계 한 대로 완결한다.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40680" cy="37490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코인노래방 방식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 화면에서 빈 방 번호를 직접 선택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1729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 시간(요금)을 선택해 결제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73989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즉시 해당 방이 '사용중'으로 전환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30682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종료 시 자동으로 '이용 가능' 복귀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440680" cy="37490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488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좌석 키오스크로 응용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화면에서 빈 좌석 번호를 직접 선택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17296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좌석 기준으로 음료·메뉴를 주문·결제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73989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즉시 해당 좌석이 '사용중'으로 실시간 전환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30682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퇴실 태그 또는 자동 시간 만료 시 '이용 가능' 복귀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6440" y="3383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코인노래방·무인 스터디카페 결제 방식 현장 관찰 및 서비스 구조 분석(2026)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유사콘텐츠분석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유사콘텐츠분석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카페·외식업 무인주문기 시장은 이미 성장 중이다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 기능을 '새로 만드는 것'이 아니라, 이미 빠르게 보급되고 있는 키오스크·테이블오더 인프라에 '얹는' 접근이 현실적이다.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566160" cy="18288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03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외식업체 무인주문기 도입률(2023년 기준)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1104" y="1965960"/>
            <a:ext cx="3566160" cy="18288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0" name="Text 8"/>
          <p:cNvSpPr/>
          <p:nvPr/>
        </p:nvSpPr>
        <p:spPr>
          <a:xfrm>
            <a:off x="4489704" y="2103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20만대+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9704" y="2834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테이블오더 업계 1위 '티오더' 누적 설치 대수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965960"/>
            <a:ext cx="3566160" cy="18288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08" y="21031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8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7만개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93608" y="2834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핀테크 스타트업 '페이히어' 무인주문 가맹점 수(2025)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무인주문기 도입률이 7.8%로 아직 낮다는 것은 '초기 확산 단계'라는 뜻이며, 지금이 좌석 선택 기능을 표준 기능으로 끼워 넣을 수 있는 시점이라는 의미다. 신규 도입 매장부터 '좌석형 키오스크'를 표준 옵션으로 제안할 수 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한국농촌경제연구원(2023) · 중소기업신문(2025.3.19)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유사콘텐츠분석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유사콘텐츠분석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'콘센트 카페 찾기' 콘텐츠의 한계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카카오맵·네이버지도·블로그 등에도 '콘센트 있는 카페' 정보는 존재하지만, 실시간성과 신뢰도에서 구조적 한계가 뚜렷하다.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채널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제공 정보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7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한계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71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카카오맵 / 네이버지도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위치, 리뷰, '콘센트 있음' 정적 태그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259"/>
                          </a:solidFill>
                        </a:rPr>
                        <a:t>실시간 잔여 좌석·혼잡도 정보 없음, 태그는 사용자 제보 의존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블로그 / SNS 후기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방문 당시 좌석·분위기 묘사, 사진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259"/>
                          </a:solidFill>
                        </a:rPr>
                        <a:t>작성 시점의 '과거' 정보 — 방문 시점과 무관해 신뢰도 낮음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카카오맵 AI메이트 로컬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대화형으로 맛집·카페 추천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259"/>
                          </a:solidFill>
                        </a:rPr>
                        <a:t>추천 로직일 뿐 좌석 재고 데이터 자체가 없어 '지금 갈 수 있는지'는 답하지 못함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카카오맵·네이버지도 서비스 분석, 브런치 「카카오맵+AI」(2025.7.17) 재구성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유사콘텐츠분석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유사콘텐츠분석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비교: 세 가지 사례에서 가져올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도서관의 '체크인 구조', 코인노래방의 '결제형 공간 선택', 키오스크의 '보급 인프라' — 세 요소를 결합하면 새로운 서비스가 완성된다.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566160" cy="27432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2402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6829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배울 점: 좌석 단위 체크인/아웃 구조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3232" y="3886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외부에서 실시간 잔여석 확인 가능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61104" y="2011680"/>
            <a:ext cx="3566160" cy="27432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4517136" y="22402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6829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7136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코인노래방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17136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배울 점: 결제 = 공간 점유 확정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17136" y="3886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즉시 상태가 자동 전환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65008" y="2011680"/>
            <a:ext cx="3566160" cy="274320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1040" y="22402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36829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키오스크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21040" y="3337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배울 점: 이미 보급된 결제 인프라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321040" y="3886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기기 없이 기능만 추가 가능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5029200"/>
            <a:ext cx="11247120" cy="86868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513892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'카페 키오스크 + 좌석 먼저 선택 + 음료 주문 결합'이 세 사례의 장점을 모두 취하는 가장 현실적인 조합이다.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유사콘텐츠분석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해결방안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좌석부터 고르는 카페 키오스크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순서를 뒤집는다: '음료 먼저, 자리는 알아서' → '자리 먼저, 그 다음 음료'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순서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2E1F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26517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259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26517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2E1F16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651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65176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259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65176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2E1F16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65176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 찾기(운)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순서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240280" y="40233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14600" y="40233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06240" y="40233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80560" y="40233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= 좌석 확정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2286000"/>
            <a:ext cx="4297680" cy="2560320"/>
          </a:xfrm>
          <a:prstGeom prst="rect">
            <a:avLst/>
          </a:prstGeom>
          <a:solidFill>
            <a:srgbClr val="2E1F16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2834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선택을 결제 절차 안에 넣으면, '결제 = 좌석 점유 확정'이 되어 별도의 체크인 기기나 직원 개입 없이도 좌석 상태가 자동으로 데이터화된다.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해결방안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해결방안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작동 원리: 앱과 키오스크의 연결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이용자는 앱으로 미리 확인하고, 카페는 키오스크로 좌석을 관리한다 — 둘은 하나의 실시간 데이터로 연결된다.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103120" cy="23774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앱에서 확인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카페의 실시간 좌석·콘센트 현황을 지도에서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554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552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2011680"/>
            <a:ext cx="2103120" cy="23774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방문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34640" y="31089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여유 좌석이 있는 카페로 이동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011680"/>
            <a:ext cx="1554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552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2103120" cy="23774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7492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좌석 선택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31089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화면의 좌석 배치도에서 원하는 자리를 직접 선택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2011680"/>
            <a:ext cx="1554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552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78040" y="2011680"/>
            <a:ext cx="2103120" cy="23774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음료 주문·결제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0" y="31089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좌석 기준으로 메뉴를 고르고 결제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81160" y="2011680"/>
            <a:ext cx="1554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08552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18320" y="2011680"/>
            <a:ext cx="2103120" cy="23774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7" name="Text 25"/>
          <p:cNvSpPr/>
          <p:nvPr/>
        </p:nvSpPr>
        <p:spPr>
          <a:xfrm>
            <a:off x="955548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5548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자동 반영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555480" y="310896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즉시 앱 지도에 '사용중'으로 실시간 반영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11247120" cy="105156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82803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퇴실 시: 키오스크 재태그 또는 설정된 이용시간 만료 시 좌석이 자동으로 '이용 가능' 상태로 복귀 — 별도의 직원 개입이 필요 없다.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도서관 좌석 체크인 시스템 및 코인노래방 결제 구조를 응용한 자체 설계(2026)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해결방안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해결방안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 4가지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이용자의 '헛걸음'과 사장님의 '수동 관리'를 동시에 줄이는 기능으로 설계했다.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49240" cy="18745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221992"/>
            <a:ext cx="566928" cy="566928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682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좌석 지도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63040" y="267919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카페의 잔여 좌석 수를 색상(초록/빨강)으로 지도에 실시간 표시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80760" y="1965960"/>
            <a:ext cx="5349240" cy="18745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2" name="Shape 9"/>
          <p:cNvSpPr/>
          <p:nvPr/>
        </p:nvSpPr>
        <p:spPr>
          <a:xfrm>
            <a:off x="6336792" y="2221992"/>
            <a:ext cx="566928" cy="566928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3682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콘센트 좌석 필터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086600" y="267919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콘센트 인접 좌석만 골라서 검색 · 잔여 콘센트석 수 별도 표기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4069080"/>
            <a:ext cx="5349240" cy="18745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" y="4325112"/>
            <a:ext cx="566928" cy="566928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47141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이용시간 알림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63040" y="478231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설정된 시간이 다가오면 이용자에게 사전 알림 — 자연스러운 회전율 관리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080760" y="4069080"/>
            <a:ext cx="5349240" cy="18745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2" name="Shape 17"/>
          <p:cNvSpPr/>
          <p:nvPr/>
        </p:nvSpPr>
        <p:spPr>
          <a:xfrm>
            <a:off x="6336792" y="4325112"/>
            <a:ext cx="566928" cy="566928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47141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예약(시범)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086600" y="4782312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혼잡 시간대 특정 좌석을 짧게 사전 예약, 노쇼 방지용 소액 보증금 옵션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해결방안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타겟분석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타겟 페르소나: 세 가지 '카공' 유형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카공족은 단일 집단이 아니다 — 목적과 체류 시간에 따라 서로 다른 니즈를 가진다.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566160" cy="37490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2194560"/>
            <a:ext cx="731520" cy="731520"/>
          </a:xfrm>
          <a:prstGeom prst="ellipse">
            <a:avLst/>
          </a:prstGeom>
          <a:solidFill>
            <a:srgbClr val="23171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377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대학생 · 시험공부형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580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24세, 시험기간에 3~4시간 집중 체류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4160520"/>
            <a:ext cx="2468880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콘센트석 · 조용한 좌석 · 저렴한 가격대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61104" y="1965960"/>
            <a:ext cx="3566160" cy="37490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5" name="Shape 12"/>
          <p:cNvSpPr/>
          <p:nvPr/>
        </p:nvSpPr>
        <p:spPr>
          <a:xfrm>
            <a:off x="5678424" y="2194560"/>
            <a:ext cx="731520" cy="731520"/>
          </a:xfrm>
          <a:prstGeom prst="ellipse">
            <a:avLst/>
          </a:prstGeom>
          <a:solidFill>
            <a:srgbClr val="23171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3774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9704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취준생 · Z세대 구직자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489704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26세, 자기소개서·인적성 준비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809744" y="4160520"/>
            <a:ext cx="2468880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89704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81144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장시간 이용해도 눈치 안 보이는 좌석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065008" y="1965960"/>
            <a:ext cx="3566160" cy="37490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3" name="Shape 19"/>
          <p:cNvSpPr/>
          <p:nvPr/>
        </p:nvSpPr>
        <p:spPr>
          <a:xfrm>
            <a:off x="9482328" y="2194560"/>
            <a:ext cx="731520" cy="731520"/>
          </a:xfrm>
          <a:prstGeom prst="ellipse">
            <a:avLst/>
          </a:prstGeom>
          <a:solidFill>
            <a:srgbClr val="23171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237744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93608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프리랜서 · 1인 사업자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8293608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32세, 원격근무·미팅 겸용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613648" y="4160520"/>
            <a:ext cx="2468880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93608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385048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와이파이 · 회의 가능한 좌석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진학사 캐치(2025) Z세대 카공족 실태조사 기반 페르소나 재구성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타겟분석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타겟분석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 볼륨: 작지 않은, 오히려 커지는 시장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카공족은 특정 세대의 일시적 유행이 아니라, 카페 산업의 소비 구조 변화와 함께 계속 커지는 시장이다.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2024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920240"/>
            <a:ext cx="5852160" cy="37490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2103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시장이 넓은 이유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80760" y="25603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표본과 세대가 달라도 카페 공부 경험률이 꾸준히 70~90%대 — 조사 시점과 무관하게 구조적으로 높음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80760" y="3520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 특화 브랜드가 이미 수도권 55개 지점으로 확장 — 별도 유료 공간에 지불할 의사가 확인된 시장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4480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프랜차이즈가 전용 좌석(포커스존 등)을 늘리는 중 — 서비스가 붙을 '물리적 공간'도 함께 늘어나는 추세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대학내일20대연구소(2017) · 진학사 캐치(2025.8) · 데이터뉴스(2026.3) 종합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타겟분석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컨셉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서비스 컨셉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“카페, 가기 전에 자리부터 확인하세요”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좌석·콘센트 지도 × 좌석 선택형 키오스크로, 이용자의 '헛걸음'과 사장님의 '눈치 주기'를 동시에 없애는 서비스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5349240" cy="1463040"/>
          </a:xfrm>
          <a:prstGeom prst="rect">
            <a:avLst/>
          </a:prstGeom>
          <a:solidFill>
            <a:srgbClr val="2E1F1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이용자에게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937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가지 않고도 아는 카페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80760" y="4434840"/>
            <a:ext cx="5349240" cy="1463040"/>
          </a:xfrm>
          <a:prstGeom prst="rect">
            <a:avLst/>
          </a:prstGeom>
          <a:solidFill>
            <a:srgbClr val="2E1F1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카페에게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4937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말하지 않고도 관리되는 좌석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컨셉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가치 제안 (Value Proposition)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이용자와 카페 사장님, 양쪽 모두에게 명확한 이득이 있어야 자발적으로 확산된다.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40680" cy="384048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이용자(카공족)에게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헛걸음 없이 자리 있는 카페로 바로 이동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콘센트석을 미리 필터링해 검색 시간 단축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눈치 보지 않고 정해진 시간만큼 당당히 이용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440680" cy="384048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사장님에게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점유 현황이 자동 데이터화되어 회전율을 정량적으로 파악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3832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안내·눈치 주기 없이 이용시간 알림이 자연스럽게 작동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160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매장 노출 확대 — 앱 지도에서 '콘센트 카페'로 신규 고객 유입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컨셉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분석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선택형 키오스크 서비스가 가진 내부 역량과 외부 환경을 함께 짚어 전략의 균형을 잡는다.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40680" cy="1874520"/>
          </a:xfrm>
          <a:prstGeom prst="rect">
            <a:avLst/>
          </a:prstGeom>
          <a:solidFill>
            <a:srgbClr val="E8F5E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57400"/>
            <a:ext cx="420624" cy="420624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· 강점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도서관·코인노래방의 검증된 '결제=점유' 모델을 응용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티오더·페이히어 등 기보급 키오스크 인프라에 기능만 추가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헛걸음(47%)·낮은 도입률(7.8%) 등 실제 pain point 해결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440680" cy="187452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05740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0574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· 약점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58775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제휴 매장이 적으면 좌석 데이터 공백(콜드스타트)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포스·키오스크와의 연동 개발 비용·기간 소요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소상공인의 신규 기능 도입 유인이 상대적으로 약함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440680" cy="1874520"/>
          </a:xfrm>
          <a:prstGeom prst="rect">
            <a:avLst/>
          </a:prstGeom>
          <a:solidFill>
            <a:srgbClr val="FBF1D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16052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1605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· 기회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69087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무인주문기 도입률 7.8%(2023) — 아직 초기 확산 단계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 특화 브랜드 55개 지점 등 관련 시장 성장세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포커스존 등 프랜차이즈의 좌석 설계 트렌드와 방향 일치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977640"/>
            <a:ext cx="5440680" cy="1874520"/>
          </a:xfrm>
          <a:prstGeom prst="rect">
            <a:avLst/>
          </a:prstGeom>
          <a:solidFill>
            <a:srgbClr val="EFE9E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4160520"/>
            <a:ext cx="420624" cy="420624"/>
          </a:xfrm>
          <a:prstGeom prst="ellipse">
            <a:avLst/>
          </a:prstGeom>
          <a:solidFill>
            <a:srgbClr val="231710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160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16052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· 위협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69087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카카오맵·네이버지도 등 대형 플랫폼의 유사 기능 추가 가능성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선점 후 노쇼 등 악용에 따른 초기 신뢰도 리스크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사장님의 결제 시스템 변경에 대한 심리적 저항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한국농촌경제연구원(2023) · 데이터뉴스(2026.3) · 경향신문(2026.4.25) 등 슬라이드 3~19 데이터 종합 재구성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스토리보드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1. 앱에서 확인하고 카페로 향하다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393192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86000"/>
            <a:ext cx="2926080" cy="32004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주변 카페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2788920"/>
            <a:ext cx="256032" cy="256032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990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빈자리 6 · 콘센트석 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43000" y="3611880"/>
            <a:ext cx="256032" cy="256032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3813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43000" y="443484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46360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빈자리 2 · 콘센트석 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1945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이용자가 앱을 열어 주변 카페의 실시간 좌석·콘센트 현황을 확인한다.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빈 자리와 콘센트석이 있는 카페 A를 선택하고 도보 경로를 확인한다.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8404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'만석'으로 표시된 카페 B는 애초에 후보에서 제외해 헛걸음을 방지한다.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4709160"/>
            <a:ext cx="6583680" cy="82296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8920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 내레이션: “오늘은 카페 A로 가야겠다. 콘센트 자리가 남아있대.”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스토리보드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스토리보드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2. 키오스크에서 좌석을 고르고 주문하다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393192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좌석을 선택하세요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743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9" name="Shape 7"/>
          <p:cNvSpPr/>
          <p:nvPr/>
        </p:nvSpPr>
        <p:spPr>
          <a:xfrm>
            <a:off x="1847088" y="2743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10" name="Shape 8"/>
          <p:cNvSpPr/>
          <p:nvPr/>
        </p:nvSpPr>
        <p:spPr>
          <a:xfrm>
            <a:off x="2505456" y="2743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64545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2743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64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1847088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505456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163824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847088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64545"/>
          </a:solidFill>
          <a:ln/>
        </p:spPr>
      </p:sp>
      <p:sp>
        <p:nvSpPr>
          <p:cNvPr id="18" name="Shape 16"/>
          <p:cNvSpPr/>
          <p:nvPr/>
        </p:nvSpPr>
        <p:spPr>
          <a:xfrm>
            <a:off x="2505456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19" name="Shape 17"/>
          <p:cNvSpPr/>
          <p:nvPr/>
        </p:nvSpPr>
        <p:spPr>
          <a:xfrm>
            <a:off x="3163824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9E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983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초록 = 이용 가능 · 빨강 = 사용중 · 콘센트석 강조 표시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21945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카페 도착 후 키오스크에서 실시간 좌석 배치도를 확인한다.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017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콘센트가 있는 빈 좌석(초록색, 12번)을 터치해 선택한다.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8404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선택한 좌석 기준으로 음료 메뉴를 고르고 결제를 진행한다.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6634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결제 완료 즉시 12번 좌석이 '사용중'으로 자동 전환된다.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5440680"/>
            <a:ext cx="6583680" cy="5486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555955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코인노래방의 '방 선택 → 결제' 구조를 카페 좌석에 그대로 적용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스토리보드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스토리보드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3. 이용 중 그리고 퇴실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393192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9456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 알림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743200"/>
            <a:ext cx="2651760" cy="777240"/>
          </a:xfrm>
          <a:prstGeom prst="rect">
            <a:avLst/>
          </a:prstGeom>
          <a:solidFill>
            <a:srgbClr val="FBF1D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이용시간이 15분 남았어요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연장하거나 퇴실을 준비해주세요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7280" y="3703320"/>
            <a:ext cx="2651760" cy="777240"/>
          </a:xfrm>
          <a:prstGeom prst="rect">
            <a:avLst/>
          </a:prstGeom>
          <a:solidFill>
            <a:srgbClr val="E8F5E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94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12번 좌석 이용이 종료되었어요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이용해주셔서 감사합니다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설정된 이용시간 15분 전, 이용자에게 사전 알림이 전송된다.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더 필요하면 앱·키오스크에서 간단히 연장, 아니면 자연스럽게 정리한다.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8404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퇴실 시 키오스크 재태그(또는 시간 만료)로 좌석이 즉시 '이용 가능'으로 전환된다.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46634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다음 이용자는 앱에서 방금 빈 자리를 실시간으로 확인하고 방문한다.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5440680"/>
            <a:ext cx="6583680" cy="5486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555955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사장님의 '눈치 주기'를 시스템 알림이 대신해 갈등을 줄인다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스토리보드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프로모션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초기 확산: 대학가 · 스터디 상권 집중 공략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카공족 밀집도가 가장 높은 상권부터 파일럿을 시작해, 좁고 깊게 검증한 뒤 넓힌다.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566160" cy="30175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94560"/>
            <a:ext cx="566928" cy="566928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907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대학가 파일럿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3456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대학내일20대연구소·진학사 캐치 조사에서 확인된 대학가·고시촌 상권 카페 10~20곳과 시범 제휴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23360" y="1965960"/>
            <a:ext cx="2377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DED3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61104" y="1965960"/>
            <a:ext cx="3566160" cy="30175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3" name="Shape 10"/>
          <p:cNvSpPr/>
          <p:nvPr/>
        </p:nvSpPr>
        <p:spPr>
          <a:xfrm>
            <a:off x="4517136" y="2194560"/>
            <a:ext cx="566928" cy="566928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7136" y="2907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프랜차이즈 제휴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17136" y="3456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포커스존을 운영 중인 스타벅스·할리스 등과 신규 매장 대상 좌석형 키오스크 공동 테스트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827264" y="1965960"/>
            <a:ext cx="23774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DED3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065008" y="1965960"/>
            <a:ext cx="3566160" cy="301752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1040" y="2194560"/>
            <a:ext cx="566928" cy="566928"/>
          </a:xfrm>
          <a:prstGeom prst="ellipse">
            <a:avLst/>
          </a:prstGeom>
          <a:solidFill>
            <a:srgbClr val="C0855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29077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전국 확산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321040" y="3456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무인주문기 신규 도입 매장(도입률 7.8%→성장 구간)을 대상으로 표준 옵션으로 제안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진학사 캐치(2025) · 경향신문(2026.4.25) 스타벅스 포커스존 사례 · 한국농촌경제연구원(2023) 종합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프로모션 전략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프로모션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채널별 확산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이용자에게는 편리함을, 카페 사장님에게는 매출 데이터라는 확실한 유인을 제공한다.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40680" cy="384048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 대상 (Pull)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 커뮤니티·에브리타임 등 캠퍼스 채널 시험기간 집중 광고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“내 자리 인증” 챌린지로 실사용 후기 확산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이용 음료 할인 쿠폰으로 초기 다운로드 유도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440680" cy="3840480"/>
          </a:xfrm>
          <a:prstGeom prst="rect">
            <a:avLst/>
          </a:prstGeom>
          <a:solidFill>
            <a:srgbClr val="23171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사장님 대상 (Push)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제휴 매장 키오스크 좌석 기능 무상 연동 지원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611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회전율·혼잡시간대 데이터 리포트를 매장 운영에 무료 제공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6177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지도 상단 노출 등 매장 홍보 효과를 제휴 인센티브로 제시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프로모션 전략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향후 과제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남은 숙제: 기술 · 운영 · 리스크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 서비스로 만들기 위해 반드시 짚어야 할 현실적인 제약들.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49240" cy="19202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76272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04288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 도입 비용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578608"/>
            <a:ext cx="4251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신규 설치·교체 비용 부담 — 기존 포스·테이블오더 API 연동형 저비용 옵션 필요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1920240"/>
            <a:ext cx="5349240" cy="19202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2" name="Shape 9"/>
          <p:cNvSpPr/>
          <p:nvPr/>
        </p:nvSpPr>
        <p:spPr>
          <a:xfrm>
            <a:off x="6336792" y="2176272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304288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개인정보·결제 보안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040880" y="2578608"/>
            <a:ext cx="4251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좌석-결제 연동 데이터의 안전한 처리, PG사 연동 및 개인정보 최소 수집 원칙 설계 필요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4069080"/>
            <a:ext cx="5349240" cy="19202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" y="4325112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5312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2702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노쇼·부정 선점 방지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4727448"/>
            <a:ext cx="4251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좌석만 찍고 결제하지 않거나 대리 선점하는 악용 사례에 대한 보증금·시간제한 정책 필요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080760" y="4069080"/>
            <a:ext cx="5349240" cy="1920240"/>
          </a:xfrm>
          <a:prstGeom prst="rect">
            <a:avLst/>
          </a:prstGeom>
          <a:solidFill>
            <a:srgbClr val="F7F3EE"/>
          </a:solidFill>
          <a:ln/>
        </p:spPr>
      </p:sp>
      <p:sp>
        <p:nvSpPr>
          <p:cNvPr id="22" name="Shape 17"/>
          <p:cNvSpPr/>
          <p:nvPr/>
        </p:nvSpPr>
        <p:spPr>
          <a:xfrm>
            <a:off x="6336792" y="4325112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45312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42702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취약계층 접근성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040880" y="4727448"/>
            <a:ext cx="4251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사용이 어려운 고령층 등을 위한 직원 대면 대체 경로 유지 필요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나무위키 「인터랙티브 키오스크」(키오스크 접근성 현황), 한국지능정보사회진흥원(2019) 종합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과제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3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47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향후 과제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단계: 검증에서 확산으로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0020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개발 &amp; 파일럿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대학가 카페 10곳 대상 좌석형 키오스크 MVP 테스트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2148840"/>
            <a:ext cx="320040" cy="0"/>
          </a:xfrm>
          <a:prstGeom prst="line">
            <a:avLst/>
          </a:prstGeom>
          <a:noFill/>
          <a:ln w="19050">
            <a:solidFill>
              <a:srgbClr val="6E62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검증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2900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회전율·재방문율 개선 효과를 정량 데이터로 검증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2148840"/>
            <a:ext cx="320040" cy="0"/>
          </a:xfrm>
          <a:prstGeom prst="line">
            <a:avLst/>
          </a:prstGeom>
          <a:noFill/>
          <a:ln w="19050">
            <a:solidFill>
              <a:srgbClr val="6E62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프랜차이즈 제휴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포커스존 운영 매장 등과 정식 제휴 확대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32520" y="2148840"/>
            <a:ext cx="320040" cy="0"/>
          </a:xfrm>
          <a:prstGeom prst="line">
            <a:avLst/>
          </a:prstGeom>
          <a:noFill/>
          <a:ln w="19050">
            <a:solidFill>
              <a:srgbClr val="6E62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1920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1540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15400" y="2788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확산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006840" y="3337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무인주문기 신규 도입 매장 대상 표준 기능화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3A2A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“가봐야 아는 카페”에서 “가기 전에 아는 카페”로 — 좌석 하나의 정보가 이용자의 헛걸음과 사장님의 갈등을 함께 줄인다.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과제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카페 좌석 &amp; 콘센트 지도 - 미니 기획서</dc:title>
  <dc:subject>PptxGenJS Presentation</dc:subject>
  <dc:creator>Mini App Planning</dc:creator>
  <cp:lastModifiedBy>Mini App Planning</cp:lastModifiedBy>
  <cp:revision>1</cp:revision>
  <dcterms:created xsi:type="dcterms:W3CDTF">2026-07-02T05:30:20Z</dcterms:created>
  <dcterms:modified xsi:type="dcterms:W3CDTF">2026-07-02T05:30:20Z</dcterms:modified>
</cp:coreProperties>
</file>