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219456" cy="219456"/>
          </a:xfrm>
          <a:prstGeom prst="ellipse">
            <a:avLst/>
          </a:prstGeom>
          <a:solidFill>
            <a:srgbClr val="DCEEB1"/>
          </a:solidFill>
          <a:ln/>
        </p:spPr>
      </p:sp>
      <p:sp>
        <p:nvSpPr>
          <p:cNvPr id="3" name="Shape 1"/>
          <p:cNvSpPr/>
          <p:nvPr/>
        </p:nvSpPr>
        <p:spPr>
          <a:xfrm>
            <a:off x="1536192" y="777240"/>
            <a:ext cx="219456" cy="219456"/>
          </a:xfrm>
          <a:prstGeom prst="ellipse">
            <a:avLst/>
          </a:prstGeom>
          <a:solidFill>
            <a:srgbClr val="C5B0F4"/>
          </a:solidFill>
          <a:ln/>
        </p:spPr>
      </p:sp>
      <p:sp>
        <p:nvSpPr>
          <p:cNvPr id="4" name="Shape 2"/>
          <p:cNvSpPr/>
          <p:nvPr/>
        </p:nvSpPr>
        <p:spPr>
          <a:xfrm>
            <a:off x="2249424" y="777240"/>
            <a:ext cx="219456" cy="219456"/>
          </a:xfrm>
          <a:prstGeom prst="ellipse">
            <a:avLst/>
          </a:prstGeom>
          <a:solidFill>
            <a:srgbClr val="F4ECD6"/>
          </a:solidFill>
          <a:ln/>
        </p:spPr>
      </p:sp>
      <p:sp>
        <p:nvSpPr>
          <p:cNvPr id="5" name="Shape 3"/>
          <p:cNvSpPr/>
          <p:nvPr/>
        </p:nvSpPr>
        <p:spPr>
          <a:xfrm>
            <a:off x="2962656" y="777240"/>
            <a:ext cx="219456" cy="219456"/>
          </a:xfrm>
          <a:prstGeom prst="ellipse">
            <a:avLst/>
          </a:prstGeom>
          <a:solidFill>
            <a:srgbClr val="C8E6CD"/>
          </a:solidFill>
          <a:ln/>
        </p:spPr>
      </p:sp>
      <p:sp>
        <p:nvSpPr>
          <p:cNvPr id="6" name="Shape 4"/>
          <p:cNvSpPr/>
          <p:nvPr/>
        </p:nvSpPr>
        <p:spPr>
          <a:xfrm>
            <a:off x="3675888" y="777240"/>
            <a:ext cx="219456" cy="219456"/>
          </a:xfrm>
          <a:prstGeom prst="ellipse">
            <a:avLst/>
          </a:prstGeom>
          <a:solidFill>
            <a:srgbClr val="EFD4D4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777240"/>
            <a:ext cx="219456" cy="219456"/>
          </a:xfrm>
          <a:prstGeom prst="ellipse">
            <a:avLst/>
          </a:prstGeom>
          <a:solidFill>
            <a:srgbClr val="F3C9B6"/>
          </a:solidFill>
          <a:ln/>
        </p:spPr>
      </p:sp>
      <p:sp>
        <p:nvSpPr>
          <p:cNvPr id="8" name="Shape 6"/>
          <p:cNvSpPr/>
          <p:nvPr/>
        </p:nvSpPr>
        <p:spPr>
          <a:xfrm>
            <a:off x="5102352" y="777240"/>
            <a:ext cx="219456" cy="219456"/>
          </a:xfrm>
          <a:prstGeom prst="ellipse">
            <a:avLst/>
          </a:prstGeom>
          <a:solidFill>
            <a:srgbClr val="DCEEB1"/>
          </a:solidFill>
          <a:ln/>
        </p:spPr>
      </p:sp>
      <p:sp>
        <p:nvSpPr>
          <p:cNvPr id="9" name="Shape 7"/>
          <p:cNvSpPr/>
          <p:nvPr/>
        </p:nvSpPr>
        <p:spPr>
          <a:xfrm>
            <a:off x="5815584" y="777240"/>
            <a:ext cx="219456" cy="219456"/>
          </a:xfrm>
          <a:prstGeom prst="ellipse">
            <a:avLst/>
          </a:prstGeom>
          <a:solidFill>
            <a:srgbClr val="C5B0F4"/>
          </a:solidFill>
          <a:ln/>
        </p:spPr>
      </p:sp>
      <p:sp>
        <p:nvSpPr>
          <p:cNvPr id="10" name="Shape 8"/>
          <p:cNvSpPr/>
          <p:nvPr/>
        </p:nvSpPr>
        <p:spPr>
          <a:xfrm>
            <a:off x="6528816" y="777240"/>
            <a:ext cx="219456" cy="219456"/>
          </a:xfrm>
          <a:prstGeom prst="ellipse">
            <a:avLst/>
          </a:prstGeom>
          <a:solidFill>
            <a:srgbClr val="F4ECD6"/>
          </a:solidFill>
          <a:ln/>
        </p:spPr>
      </p:sp>
      <p:sp>
        <p:nvSpPr>
          <p:cNvPr id="11" name="Shape 9"/>
          <p:cNvSpPr/>
          <p:nvPr/>
        </p:nvSpPr>
        <p:spPr>
          <a:xfrm>
            <a:off x="7242048" y="777240"/>
            <a:ext cx="219456" cy="219456"/>
          </a:xfrm>
          <a:prstGeom prst="ellipse">
            <a:avLst/>
          </a:prstGeom>
          <a:solidFill>
            <a:srgbClr val="C8E6CD"/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777240"/>
            <a:ext cx="219456" cy="21945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417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DESIGN DOCUMENT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버닝 PLUS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역기획서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월드 시즌4 (OVERDRIVE) 기준  |  이벤트 기간 2026.06.18 – 09.16  |  장비 유효기간 ~11.18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7947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CEEB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947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11단계 성장 미션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59152" y="3794760"/>
            <a:ext cx="1897380" cy="384048"/>
          </a:xfrm>
          <a:prstGeom prst="roundRect">
            <a:avLst>
              <a:gd name="adj" fmla="val 50000"/>
            </a:avLst>
          </a:prstGeom>
          <a:solidFill>
            <a:srgbClr val="C5B0F4"/>
          </a:solidFill>
          <a:ln/>
        </p:spPr>
      </p:sp>
      <p:sp>
        <p:nvSpPr>
          <p:cNvPr id="19" name="Text 17"/>
          <p:cNvSpPr/>
          <p:nvPr/>
        </p:nvSpPr>
        <p:spPr>
          <a:xfrm>
            <a:off x="2359152" y="3794760"/>
            <a:ext cx="18973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3중 조건(레벨·보스·문장)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21124" y="3794760"/>
            <a:ext cx="1581912" cy="384048"/>
          </a:xfrm>
          <a:prstGeom prst="roundRect">
            <a:avLst>
              <a:gd name="adj" fmla="val 50000"/>
            </a:avLst>
          </a:prstGeom>
          <a:solidFill>
            <a:srgbClr val="C8E6CD"/>
          </a:solidFill>
          <a:ln/>
        </p:spPr>
      </p:sp>
      <p:sp>
        <p:nvSpPr>
          <p:cNvPr id="21" name="Text 19"/>
          <p:cNvSpPr/>
          <p:nvPr/>
        </p:nvSpPr>
        <p:spPr>
          <a:xfrm>
            <a:off x="4421124" y="3794760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시즌1~4 변천사 비교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80960" y="3794760"/>
            <a:ext cx="1005840" cy="1005840"/>
          </a:xfrm>
          <a:prstGeom prst="roundRect">
            <a:avLst>
              <a:gd name="adj" fmla="val 13636"/>
            </a:avLst>
          </a:prstGeom>
          <a:solidFill>
            <a:srgbClr val="F4ECD6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4050792"/>
            <a:ext cx="493776" cy="4937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개요 및 분석 범위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시스템과 독립적으로 작동하는 별개의 장비 성장 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3931920" cy="3474720"/>
          </a:xfrm>
          <a:prstGeom prst="roundRect">
            <a:avLst>
              <a:gd name="adj" fmla="val 2368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정보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시스템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버닝 PLUS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957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버전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3957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시즌4 (OVERDRIVE)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6265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 단위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96265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메이플ID당 1캐릭터 고정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52958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표기 원칙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52958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사양은 평서,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미확인은 ※추정·※미확인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234440"/>
            <a:ext cx="4069080" cy="1645920"/>
          </a:xfrm>
          <a:prstGeom prst="roundRect">
            <a:avLst>
              <a:gd name="adj" fmla="val 5000"/>
            </a:avLst>
          </a:prstGeom>
          <a:solidFill>
            <a:srgbClr val="C8E6CD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1732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230368" y="1399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 — 포함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30368" y="176479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캐릭터 지정 규칙 · 도전자의 장비 · 도전의 문장 획득 규칙 · 11단계 성장 미션 · 장비 유효기간 · UI(추정) · 예외 처리 · 시즌별 변천사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17720" y="3017520"/>
            <a:ext cx="4069080" cy="1645920"/>
          </a:xfrm>
          <a:prstGeom prst="roundRect">
            <a:avLst>
              <a:gd name="adj" fmla="val 5000"/>
            </a:avLst>
          </a:prstGeom>
          <a:solidFill>
            <a:srgbClr val="EFD4D4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0040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30368" y="3182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범위 — 제외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5230368" y="3547872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티어 시스템 (별도 문서) · 챌린저스 패스 · 제네시스 패스 &amp; PLUS (별도 문서 대상) · 챌린저스 코인샵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정의와 기획 목표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레벨·보스 격파·문장 보유량 3중 조건으로 11단계에 걸쳐 장비를 강화하는 로드맵 시스템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406908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53896"/>
            <a:ext cx="475488" cy="475488"/>
          </a:xfrm>
          <a:prstGeom prst="ellipse">
            <a:avLst/>
          </a:prstGeom>
          <a:solidFill>
            <a:srgbClr val="DCEEB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6819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4356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325880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로드맵의 시스템화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13232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저급~시즌 보스로 이어지는 격파 순서를 시스템이 직접 제시, 외부 공략 의존도를 낮춘다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17720" y="1234440"/>
            <a:ext cx="406908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453896"/>
            <a:ext cx="475488" cy="475488"/>
          </a:xfrm>
          <a:prstGeom prst="ellipse">
            <a:avLst/>
          </a:prstGeom>
          <a:solidFill>
            <a:srgbClr val="C5B0F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568196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4356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02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0" y="1673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성장 강제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873752" y="210312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레벨·보스·주간 사냥(문장) 중 하나만 파는 편중 플레이를 3중 조건으로 방지한다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2999232"/>
            <a:ext cx="406908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85800" y="3218688"/>
            <a:ext cx="475488" cy="475488"/>
          </a:xfrm>
          <a:prstGeom prst="ellipse">
            <a:avLst/>
          </a:prstGeom>
          <a:solidFill>
            <a:srgbClr val="C8E6C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332988"/>
            <a:ext cx="246888" cy="2468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03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325880" y="34381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콘텐츠 참여 유도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13232" y="38679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11단계 조건을 시즌 보스(메이린) 격파로 설정, 티어 시스템 마스터 관문과 목표가 합류한다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17720" y="2999232"/>
            <a:ext cx="406908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46320" y="3218688"/>
            <a:ext cx="475488" cy="475488"/>
          </a:xfrm>
          <a:prstGeom prst="ellipse">
            <a:avLst/>
          </a:prstGeom>
          <a:solidFill>
            <a:srgbClr val="F4ECD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3332988"/>
            <a:ext cx="246888" cy="2468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86400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04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486400" y="34381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 유예 제공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4873752" y="3867912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유효기간을 시즌 종료보다 2개월 길게(~11/18) 설정해 정착 초기 스펙 공백을 완충한다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지정 → 장비 지급 → 3중 조건 반복 판정 → 11단계 완료 → 유효기간까지 사용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캐릭터 지정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(ID당 1명)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1714500"/>
            <a:ext cx="411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371600"/>
            <a:ext cx="1828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71600"/>
            <a:ext cx="18288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도전자의 장비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8부위 지급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34840" y="1714500"/>
            <a:ext cx="411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46320" y="137160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DCEEB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371600"/>
            <a:ext cx="155448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스펙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(18성)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달성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15544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격파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(순서 무관)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554480" cy="594360"/>
          </a:xfrm>
          <a:prstGeom prst="roundRect">
            <a:avLst>
              <a:gd name="adj" fmla="val 10769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보유량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(3단계~)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548640" cy="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011680" y="3497580"/>
            <a:ext cx="548640" cy="-182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011680" y="4229100"/>
            <a:ext cx="548640" cy="-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606040" y="2880360"/>
            <a:ext cx="18288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880360"/>
            <a:ext cx="18288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미션 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판정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(3중 조건 AND)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3474720"/>
            <a:ext cx="411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46320" y="2880360"/>
            <a:ext cx="1554480" cy="1188720"/>
          </a:xfrm>
          <a:prstGeom prst="roundRect">
            <a:avLst>
              <a:gd name="adj" fmla="val 5385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80360"/>
            <a:ext cx="15544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강화 적용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(스타포스·잠재↑)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474720"/>
            <a:ext cx="4572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858000" y="2880360"/>
            <a:ext cx="1737360" cy="1188720"/>
          </a:xfrm>
          <a:prstGeom prst="roundRect">
            <a:avLst>
              <a:gd name="adj" fmla="val 5385"/>
            </a:avLst>
          </a:prstGeom>
          <a:solidFill>
            <a:srgbClr val="C5B0F4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11단계 완료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(메이린 노멀)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스펙 도달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26680" y="4069080"/>
            <a:ext cx="0" cy="4572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8000" y="4526280"/>
            <a:ext cx="1737360" cy="502920"/>
          </a:xfrm>
          <a:prstGeom prst="roundRect">
            <a:avLst>
              <a:gd name="adj" fmla="val 12727"/>
            </a:avLst>
          </a:prstGeom>
          <a:solidFill>
            <a:srgbClr val="F4ECD6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526280"/>
            <a:ext cx="17373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~11/18까지 사용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조건 및 캐릭터 지정 규칙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R-01~R-05 · 비가역 지정 — 삭제해도 재지정 불가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822960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685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0876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조건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14173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챌린저스 1~4 월드의 200레벨 이상 캐릭터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1920240"/>
            <a:ext cx="685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202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단위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1920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메이플ID당 1명, 지정 후 변경 불가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423160"/>
            <a:ext cx="685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231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08760" y="24231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시 처리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17520" y="24231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슬롯 소멸, 재지정 불가 — 해당 ID는 시즌 내 재참여 불가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2926080"/>
            <a:ext cx="685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9260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08760" y="2926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제로 캐릭터 예외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29260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무기 부위 제외, 나머지 7부위만 지급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429000"/>
            <a:ext cx="6858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4290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0876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마감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0" y="34290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참여 기간(~09.16) 내 지정 필요 ※추정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12000"/>
            </a:avLst>
          </a:prstGeom>
          <a:solidFill>
            <a:srgbClr val="F3C9B6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15968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051560" y="41605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비가역 결정 — 참여 캐릭터 지정은 UI상 확정 팝업이 반드시 필요한 액션으로 추정된다 (5장 참조)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 장비 — 도전자의 장비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R-06~R-08 · 유효기간은 시즌 종료(9/16)보다 2개월 긴 11/18까지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DCEEB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8부위 세트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 맞춤 추가옵션·잠재능력 사전 세팅, 1단계(18성)부터 시작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64408" y="123444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371600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F4ECD6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47288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기한 2026년 11월 18일 — 참여 기간(~9/16) 종료 후에도 약 2개월 사용 가능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234440"/>
            <a:ext cx="2624328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1371600"/>
            <a:ext cx="329184" cy="128016"/>
          </a:xfrm>
          <a:prstGeom prst="roundRect">
            <a:avLst>
              <a:gd name="adj" fmla="val 50000"/>
            </a:avLst>
          </a:prstGeom>
          <a:solidFill>
            <a:srgbClr val="EF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6254496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 제한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54496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임의 스타포스·잠재 강화 불가. 유일한 예외: 소울웨폰(무기, +10~20 공/마)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1783080"/>
          </a:xfrm>
          <a:prstGeom prst="roundRect">
            <a:avLst>
              <a:gd name="adj" fmla="val 4615"/>
            </a:avLst>
          </a:prstGeom>
          <a:solidFill>
            <a:srgbClr val="C8E6CD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소울웨폰 예외 규칙 상세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456432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소울 전환만 지정해도 풀데카 기준 공격력/마력 +10 보장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아무 소울이나 장착 시 풀데카 기준 +20 + 소울 옵션 효과 추가 획득 (스타포스 2성급 효과)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사망으로 데카 1개라도 차감되는 순간 이 효과는 사라짐 — 고가 소울(1티어 위대한 소울 등)은 가성비상 비권장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도전의 문장 — 획득 규칙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R-09~R-12 · 주간 사냥은 상한 500, 보스는 평생 1회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2468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지급량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사냥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레벨 범위 몬스터 2,000마리당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100문장 (주당 최대 500)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 1회성 (하위)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노멀 스우/데미안, 이지 루시드/윌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50문장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 1회성 (중위)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노멀 더스크/듄켈, 하드 스우/데미안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150문장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 1회성 (상위)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하드 진 힐라, 메이린(노멀)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200문장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 대체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주 미획득분 소급 구매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100문장 = 1,000 메이플포인트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0332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F4ECD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38404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R-10  보스 1회성 문장은 메이플ID당 평생 1회만 지급 (매주 반복 아님)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R-11  유료 대체 구매는 직전 주 미획득분에 한해서만 소급 적용 (선구매 불가) ※추정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R-12  문장은 소모되지 않고 누적 — 각 단계는 '보유량 도달'로 판정 (차감형 아님, ※추정)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11단계 성장 미션 테이블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R-13~R-17 · 레벨+보스+문장 3중 AND 조건, 보스는 순서 무관 판정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31520"/>
                <a:gridCol w="1920240"/>
                <a:gridCol w="914400"/>
                <a:gridCol w="3840480"/>
              </a:tblGrid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레벨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강화 내용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스우(노멀)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스타포스 18성, 방어구 잠재 유니크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루시드(이지)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주문서↑, 무기 에디 유니크, 방어구 에디 에픽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윌(이지)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무기 잠재 레전드리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카이(노멀)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 잠재 레전드리 (1일 1회 교체)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루시드(노멀)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1,500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신발/망토/장갑 19성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듄켈(노멀)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2,250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모자/상의/하의/견장 19성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데미안(하드)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신발/망토/장갑 20성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 힐라(노멀)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3,750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모자/상의/하의/견장 20성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가엔슬(카오스)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4,500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신발/망토/장갑 21성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275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더스크(카오스)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5,500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모자/상의/하의/견장 21성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11(최종)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메이린(노멀)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6,500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방어구 스타포스 22성</a:t>
                      </a:r>
                      <a:endParaRPr lang="en-US" sz="92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판정 플로우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레벨·보스·문장 이벤트마다 재판정 · 3단계부터 문장 조건 추가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레벨업/보스격파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/문장적립 이벤트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5960" y="1714500"/>
            <a:ext cx="411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77440" y="137160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레벨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77640" y="1714500"/>
            <a:ext cx="411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863340" y="14767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89120" y="137160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371600"/>
            <a:ext cx="1600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보스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격파 기록?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1714500"/>
            <a:ext cx="411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875020" y="14767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이상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(문장 조건)?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7540" y="2057400"/>
            <a:ext cx="0" cy="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857500" y="20711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377440" y="274320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EFD4D4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유지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89220" y="2057400"/>
            <a:ext cx="0" cy="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869180" y="20711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0" y="274320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EFD4D4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유지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2057400"/>
            <a:ext cx="0" cy="50292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949440" y="20711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0" y="2743200"/>
            <a:ext cx="1737360" cy="640080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743200"/>
            <a:ext cx="17373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문장≥요구치?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아니오→단계 유지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69480" y="3383280"/>
            <a:ext cx="0" cy="4114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949440" y="33512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0" y="1714500"/>
            <a:ext cx="-21945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4983480" y="14767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아니오(1~2단계)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77440" y="3977640"/>
            <a:ext cx="3931920" cy="685800"/>
          </a:xfrm>
          <a:prstGeom prst="roundRect">
            <a:avLst>
              <a:gd name="adj" fmla="val 9333"/>
            </a:avLst>
          </a:prstGeom>
          <a:solidFill>
            <a:srgbClr val="DCEEB1"/>
          </a:solidFill>
          <a:ln/>
        </p:spPr>
      </p:sp>
      <p:sp>
        <p:nvSpPr>
          <p:cNvPr id="37" name="Text 35"/>
          <p:cNvSpPr/>
          <p:nvPr/>
        </p:nvSpPr>
        <p:spPr>
          <a:xfrm>
            <a:off x="237744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완료 → 강화 적용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43400" y="2880360"/>
            <a:ext cx="0" cy="10972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269480" y="3794760"/>
            <a:ext cx="-100584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400800" y="3977640"/>
            <a:ext cx="1737360" cy="685800"/>
          </a:xfrm>
          <a:prstGeom prst="roundRect">
            <a:avLst>
              <a:gd name="adj" fmla="val 9333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97764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11단계 미만: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대기</a:t>
            </a:r>
            <a:endParaRPr lang="en-US" sz="8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11단계: 최종 완료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309360" y="4320540"/>
            <a:ext cx="914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명세 — 메인 창 레이아웃 (실측 반영)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진행 중 상태 캡처 기준 · 챌린저스 창과는 별개의 독립 창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822960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325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기간 : 2026.09.16(수) 오후 11시 59분까지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1691640" cy="3017520"/>
          </a:xfrm>
          <a:prstGeom prst="roundRect">
            <a:avLst>
              <a:gd name="adj" fmla="val 4865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737360"/>
            <a:ext cx="1508760" cy="493776"/>
          </a:xfrm>
          <a:prstGeom prst="roundRect">
            <a:avLst>
              <a:gd name="adj" fmla="val 9259"/>
            </a:avLst>
          </a:prstGeom>
          <a:solidFill>
            <a:srgbClr val="DCEEB1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7922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Lv.225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0025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49808" y="2304288"/>
            <a:ext cx="15087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3591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Lv.250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25694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</a:t>
            </a:r>
            <a:endParaRPr lang="en-US" sz="7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450592"/>
            <a:ext cx="182880" cy="1828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49808" y="2871216"/>
            <a:ext cx="15087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" y="29260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Lv.255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41248" y="3136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EASY</a:t>
            </a:r>
            <a:endParaRPr lang="en-US" sz="7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017520"/>
            <a:ext cx="182880" cy="182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749808" y="3438144"/>
            <a:ext cx="15087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41248" y="3493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Lv.260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41248" y="3703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3584448"/>
            <a:ext cx="182880" cy="18288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49808" y="4005072"/>
            <a:ext cx="15087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41248" y="4059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Lv.265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41248" y="42702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7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4151376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532888" y="1645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도전자의 장비 1차 성장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2532888" y="1938528"/>
            <a:ext cx="2743200" cy="1280160"/>
          </a:xfrm>
          <a:prstGeom prst="roundRect">
            <a:avLst>
              <a:gd name="adj" fmla="val 6429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2697480" y="20574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CEEB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19272" y="20574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DCEEB1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941064" y="20574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562856" y="205740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2697480" y="26060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319272" y="26060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3941064" y="26060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562856" y="26060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532888" y="3337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스타포스 18성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방어구 잠재능력 유니크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2532888" y="3858768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4ECD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670048" y="39136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시 전투력 변화량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2670048" y="40965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+864,157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58368" y="4709160"/>
            <a:ext cx="4617720" cy="896112"/>
          </a:xfrm>
          <a:prstGeom prst="roundRect">
            <a:avLst>
              <a:gd name="adj" fmla="val 9184"/>
            </a:avLst>
          </a:prstGeom>
          <a:solidFill>
            <a:srgbClr val="F7F7F5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95528" y="4773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1 단계 미션 ◆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675888" y="503834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795528" y="50109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225 달성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2944368" y="50109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200/225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3675888" y="531266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95528" y="5285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스우(노멀) 1인 격파</a:t>
            </a:r>
            <a:endParaRPr lang="en-US" sz="850" dirty="0"/>
          </a:p>
        </p:txBody>
      </p:sp>
      <p:sp>
        <p:nvSpPr>
          <p:cNvPr id="50" name="Text 44"/>
          <p:cNvSpPr/>
          <p:nvPr/>
        </p:nvSpPr>
        <p:spPr>
          <a:xfrm>
            <a:off x="2944368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0/1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3995928" y="4956048"/>
            <a:ext cx="1234440" cy="5486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2" name="Text 46"/>
          <p:cNvSpPr/>
          <p:nvPr/>
        </p:nvSpPr>
        <p:spPr>
          <a:xfrm>
            <a:off x="3995928" y="4956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458968" y="1645920"/>
            <a:ext cx="2971800" cy="2999232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596128" y="17373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◈ 도전의 문장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5596128" y="20116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보유량 : 0 개</a:t>
            </a:r>
            <a:endParaRPr lang="en-US" sz="850" dirty="0"/>
          </a:p>
        </p:txBody>
      </p:sp>
      <p:sp>
        <p:nvSpPr>
          <p:cNvPr id="56" name="Shape 50"/>
          <p:cNvSpPr/>
          <p:nvPr/>
        </p:nvSpPr>
        <p:spPr>
          <a:xfrm>
            <a:off x="5596128" y="2267712"/>
            <a:ext cx="2697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5596128" y="22677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사냥미션 패스 10  [패스 사용]</a:t>
            </a:r>
            <a:endParaRPr lang="en-US" sz="750" dirty="0"/>
          </a:p>
        </p:txBody>
      </p:sp>
      <p:sp>
        <p:nvSpPr>
          <p:cNvPr id="58" name="Text 52"/>
          <p:cNvSpPr/>
          <p:nvPr/>
        </p:nvSpPr>
        <p:spPr>
          <a:xfrm>
            <a:off x="5596128" y="2651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10,000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5596128" y="2907792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F7F7F5"/>
          </a:solidFill>
          <a:ln/>
        </p:spPr>
      </p:sp>
      <p:sp>
        <p:nvSpPr>
          <p:cNvPr id="60" name="Shape 54"/>
          <p:cNvSpPr/>
          <p:nvPr/>
        </p:nvSpPr>
        <p:spPr>
          <a:xfrm>
            <a:off x="5596128" y="3108960"/>
            <a:ext cx="269748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1" name="Text 55"/>
          <p:cNvSpPr/>
          <p:nvPr/>
        </p:nvSpPr>
        <p:spPr>
          <a:xfrm>
            <a:off x="5596128" y="31089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 완료</a:t>
            </a:r>
            <a:endParaRPr lang="en-US" sz="850" dirty="0"/>
          </a:p>
        </p:txBody>
      </p:sp>
      <p:sp>
        <p:nvSpPr>
          <p:cNvPr id="62" name="Text 56"/>
          <p:cNvSpPr/>
          <p:nvPr/>
        </p:nvSpPr>
        <p:spPr>
          <a:xfrm>
            <a:off x="5596128" y="343814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2,000마리 처치당 도전의 문장 100개 획득</a:t>
            </a:r>
            <a:endParaRPr lang="en-US" sz="680" dirty="0"/>
          </a:p>
        </p:txBody>
      </p:sp>
      <p:sp>
        <p:nvSpPr>
          <p:cNvPr id="63" name="Text 57"/>
          <p:cNvSpPr/>
          <p:nvPr/>
        </p:nvSpPr>
        <p:spPr>
          <a:xfrm>
            <a:off x="5596128" y="36758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 보스 미션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5596128" y="39136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DCEEB1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5943600" y="39136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5B0F4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6291072" y="39136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ECD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6638544" y="39136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8E6CD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6986016" y="39136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EFD4D4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5596128" y="42611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3C9B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5943600" y="42611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DCEEB1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6291072" y="42611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5B0F4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6638544" y="42611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ECD6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6986016" y="42611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C8E6CD"/>
          </a:solidFill>
          <a:ln w="12700">
            <a:solidFill>
              <a:srgbClr val="E6E6E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핵심 정정 &amp; 신규 발견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받기 버튼 없음 — 조건 충족 시 자동 적용되는 구조로 확인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4023360" cy="1965960"/>
          </a:xfrm>
          <a:prstGeom prst="roundRect">
            <a:avLst>
              <a:gd name="adj" fmla="val 4186"/>
            </a:avLst>
          </a:prstGeom>
          <a:solidFill>
            <a:srgbClr val="EFD4D4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티어 시스템 — 수동 수령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승급 → '받기' 버튼 활성화 → 수량입력(스택형) → 확인 팝업 → 지급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유저가 능동적으로 눌러야 보상을 받는다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1965960"/>
          </a:xfrm>
          <a:prstGeom prst="roundRect">
            <a:avLst>
              <a:gd name="adj" fmla="val 4186"/>
            </a:avLst>
          </a:prstGeom>
          <a:solidFill>
            <a:srgbClr val="DCEEB1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 버닝 PLUS — 자동 적용 (신규 확정)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체크박스 개별 충족 → 하단 버튼은 상태 텍스트('진행 중')만 표시 → 전 조건 충족 시 별도 액션 없이 자동 강화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액션 버튼이 아니라 상태 버튼이다 (R-20)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822960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발견 사항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R-19  전투력 변화량 수치가 UI에 직접 노출 (1단계 착용 시 +864,157) — 3.4절 테이블에 없던 정량 데이터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R-20  조건은 레벨/보스/문장 개별 체크박스로 표시, 하단 버튼은 상태 텍스트('진행 중')일 뿐 액션 버튼이 아님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R-21  '사냥미션 패스' (보유 10개 + [패스 사용] 버튼) — 기존 문서에 없던 재화, 정확한 기능은 ※미확인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R-09 보완  주간 사냥이 2,000마리×5회 개별 완료가 아니라 0~10,000마리 단일 진행 바로 구현됨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명세 (발췌)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시 영구 소멸 · 순서 무관 보스 판정 · 유효기간 경과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4297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케이스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캐릭터 삭제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슬롯 영구 소멸, 재지정 불가 (R-03)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E-04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사냥 500문장 상한 도달 후 추가 사냥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초과분 미지급 (R-09)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E-06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단계 미클리어 상태로 상위 보스 선격파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 조건 즉시 완료 처리, 순서 무관 (R-15 확정)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E-07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참여 기간(9/16) 종료 시 미완료 단계 존재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단계 진행 중단 추정, 장비는 11/18까지 사용 가능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E-08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유효기간(11/18) 경과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소멸 ※미확인 (완전삭제 vs 봉인)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E-09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제로 캐릭터로 참여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무기 제외 7부위만 지급 (R-04)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E-10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3개 조건 중 일부만 체크된 상태로 재접속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체크박스별 개별 상태 유지 (R-20 실측 확인)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E-11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사냥미션 패스 보유 중 주간 게이지 이미 만렙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패스 사용 버튼 비활성 추정 (R-21, 기능 자체 ※미확인)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테이블 정의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ItemBurningStageTable · TokenLedger · BurningCharacterState (실측 반영 필드 추가)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ItemBurningStageTable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stage_id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식별자 (1~11)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required_level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레벨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required_boss_id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 보스+난이도 ID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required_token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int?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 누적 문장 (1~2단계 null)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combat_power_delta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int?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전투력 변화량 (실측 신규)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TokenLedger</a:t>
            </a:r>
            <a:endParaRPr lang="en-US" sz="11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source_type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enum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HUNT_WEEKLY / BOSS_ONETIME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 PAID / HUNT_PASS(신규)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획득량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week_index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(500 상한 판정용)</a:t>
                      </a:r>
                      <a:endParaRPr lang="en-US" sz="8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29992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BurningCharacterState</a:t>
            </a:r>
            <a:endParaRPr lang="en-US" sz="105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484632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필드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designated_character_id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string?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캐릭터, 삭제 후에도 값 유지(락)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current_stage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완료된 최고 단계 (0=미지급)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stage_condition_flags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bitmask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조건별 개별 체크 상태 (실측 신규, 5.4절)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total_token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 보유 문장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weekly_hunt_count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주 사냥 마릿수 (0~10,000 게이지, 실측 신규)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hunt_mission_pass_count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사냥미션 패스 보유량 (실측 신규, 기능 ※미확인)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gear_expire_at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datetime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유효기한 (2026-11-18)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hat_option_last_switched_at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date?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 옵션 교체 쿨다운(1일 1회)</a:t>
                      </a:r>
                      <a:endParaRPr lang="en-US" sz="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시즌별 변천사 비교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도입기(MILESTONE) → 시즌3(CROWN) → 시즌4(OVERDRIVE) 아이템 버닝 PLUS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092440" y="274320"/>
            <a:ext cx="59436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092440" y="274320"/>
            <a:ext cx="594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07008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920240"/>
                <a:gridCol w="32004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도입기 (MILESTONE)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시즌3 (CROWN)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시즌4 — PLUS (OVERDRIVE)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아이템 버닝 (최초)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아이템 버닝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아이템 버닝 PLUS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허들 난이도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여전히 높음 (실효성 제한적)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유저 맞춤 고난도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대폭 완화 — 거의 전원 완주 가능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 템포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간격 강화 (일부 2주)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구조 유지 (미해결 이슈)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모자 잠재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레전드리 옵션 없음 (쿨뚝 부재)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레전드리 옵션 신설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보스 격파 순서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※미확인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※미확인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 순서 무관 (R-15)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평가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실효성 제한적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진입장벽 높다는 부정 평가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허들·모자는 호평, 템포는 아쉬움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EB1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79392"/>
            <a:ext cx="8229600" cy="502920"/>
          </a:xfrm>
          <a:prstGeom prst="roundRect">
            <a:avLst>
              <a:gd name="adj" fmla="val 16364"/>
            </a:avLst>
          </a:prstGeom>
          <a:solidFill>
            <a:srgbClr val="F3C9B6"/>
          </a:solidFill>
          <a:ln w="12700">
            <a:solidFill>
              <a:srgbClr val="E6E6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799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427939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간격 강화 템포(time-gate)는 시즌3부터 4까지 구조적으로 개선되지 않은 유일한 미해결 지점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B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536192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2249424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962656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75888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102352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815584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528816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242048" y="6400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640080"/>
            <a:ext cx="182880" cy="1828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188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시사점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22960" y="19568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19202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목적의 진자운동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463040" y="223113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'초기 자본 지원'(도입기) → '코어 유저 콘텐츠'(시즌3) → '전원 완주형 로드맵'(시즌4)으로 대상층이 왕복하며 진화했다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28254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278892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3중 조건 + 순서 무관 판정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63040" y="309981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 성장을 강제하면서도, 상위 보스 선격파를 인정해 3개월 압축 시즌의 시간 압박을 동시에 해소한다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369417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36576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미해결 지점의 존재를 인정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463040" y="39684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간격 템포처럼 여러 시즌에 걸쳐 개선되지 않은 이슈는 '설계상 알려진 한계'로 별도 관리할 필요가 있다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 문서: 「챌린저스 월드 시즌4 콘텐츠 분석서」 v2.2 · 「티어 시스템 역기획서」 v1.1  ·  5장 UI/UX는 캡처 미확보로 추정 명세임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아이템 버닝 PLUS 역기획서</dc:title>
  <dc:subject>PptxGenJS Presentation</dc:subject>
  <dc:creator>PptxGenJS</dc:creator>
  <cp:lastModifiedBy>PptxGenJS</cp:lastModifiedBy>
  <cp:revision>1</cp:revision>
  <dcterms:created xsi:type="dcterms:W3CDTF">2026-07-08T06:44:25Z</dcterms:created>
  <dcterms:modified xsi:type="dcterms:W3CDTF">2026-07-08T06:44:25Z</dcterms:modified>
</cp:coreProperties>
</file>