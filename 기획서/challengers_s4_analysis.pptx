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737360" y="7772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777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651760" y="7772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777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66160" y="7772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777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ANALYSIS REPORT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월드 시즌4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분석서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OVERDRIVE 업데이트  |  2026.06.18 – 09.17  |  넥슨(NEXON)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월드 구조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384048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384048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시스템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55264" y="3840480"/>
            <a:ext cx="2029968" cy="36576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18" name="Text 16"/>
          <p:cNvSpPr/>
          <p:nvPr/>
        </p:nvSpPr>
        <p:spPr>
          <a:xfrm>
            <a:off x="3255264" y="384048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OVERDRIVE 개편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22392" y="384048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20" name="Text 18"/>
          <p:cNvSpPr/>
          <p:nvPr/>
        </p:nvSpPr>
        <p:spPr>
          <a:xfrm>
            <a:off x="5422392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분석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65392" y="3840480"/>
            <a:ext cx="1444752" cy="36576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384048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시즌1~4 비교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4279392"/>
            <a:ext cx="713232" cy="36576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27939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개요 및 핵심 기획 의도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월드 = 버닝 월드의 업그레이드 버전, 시즌제 특수 월드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29844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신규·복귀 유저 유입이 집중되는 방학 시즌에 개설되며, 육성 기간 종료 후 '월드 리프'로 캐릭터를 일반 월드로 이전. 메이플 유니온·아티팩트·링크 전수·몬스터 컬렉션이 불가능한 대신, 월드 전용 패시브 버프와 성장 지원 시스템으로 대체된다.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232B5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729484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장벽 해소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월드의 스펙·경제 격차에서 분리된 평등한 출발선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17720" y="24231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2606040"/>
            <a:ext cx="457200" cy="457200"/>
          </a:xfrm>
          <a:prstGeom prst="ellipse">
            <a:avLst/>
          </a:prstGeom>
          <a:solidFill>
            <a:srgbClr val="232B5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2729484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리셋 경험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9496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유저에게도 부캐 육성·경쟁 랭킹 목표 부여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37947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232B5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101084"/>
            <a:ext cx="246888" cy="2468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서버 연착륙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234440" y="4251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리프 시스템으로 성과를 본 서버 자산화, 이탈 방지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617720" y="37947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00600" y="3977640"/>
            <a:ext cx="457200" cy="457200"/>
          </a:xfrm>
          <a:prstGeom prst="ellipse">
            <a:avLst/>
          </a:prstGeom>
          <a:solidFill>
            <a:srgbClr val="232B5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4101084"/>
            <a:ext cx="246888" cy="2468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극대화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394960" y="4251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패스형 BM과 육성 편의 상품의 집중 판매 창구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월드 구조 — 경제 통합과 리프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시즌4부터 옥션·메소마켓이 월드 그룹 단위로 일반 월드와 통합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5212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월드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옥션·메소마켓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1그룹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스카니아 등 일반 12개 월드 + 챌린저스 1~3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옥션·메소마켓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2그룹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에오스, 핼리오스 + 챌린저스4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리프 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챌1~3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에오스/핼리오스 제외 일반 월드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리프 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에오스, 핼리오스 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310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리프 일정 (총 3회) &amp; 설계 포인트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사전리프 07.23~08.19  ·  2차 사전리프 08.20~09.16  ·  종료리프 09.17~09.30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390448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리프 조건: 길드 탈퇴 + 특수 스킬 반지 폐기 필요. 시즌 중 2회 사전 리프를 두어, 목표 조기 달성자가 본 서버로 미리 정착해 시즌 재화를 소비하게 함 → 시즌 이탈이 아닌 '본 서버 복귀'로 전환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육성 슬롯 설계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테라 버닝 최대 3개 — 다캐릭 운영이 시즌4의 기본 전제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슬롯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하이퍼 버닝 MAX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직업 '레테' 포함 지정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테라 버닝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3개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200레벨까지 1레벨업당 +2레벨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캐릭터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버닝 미적용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100레벨 이상 캐릭터 보유 시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401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지급 및 시즌4 신규 혜택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10주년 화이트 방어구 세트 · 파워 엘릭서 1,000개 · 주문의 흔적 1,000개 · 인벤토리 64칸 확장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260레벨 + 6차 전직 완료 시 명의당 1캐릭터에 솔 야누스 30레벨 무료 지원 (시즌4 신규)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패시브 — 티어별 능력치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티어가 곧 전투력: 비기너=유니온 7,000급 → 최상위=유니온 8,500+아티팩트 30렙급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비기너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브론즈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에메랄드+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 몬스터 데미지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방어율 무시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공격력 / 마력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올스탯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HP/MP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+2,500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+2,500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+3,500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+5,000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메소 획득/드롭률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+20% (사파이어~)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다이아몬드 도달 시 전 효과 개방, 스킬명 '챌린저스'로 고정 · 전 티어 공통: 크확 +30%, 스탠스 +100%, 쿨감 5%, 길드 기여도 2배, 해방룬 +50%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&amp; 재화 구조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포인트(티어)를 주는 미션과 코인(상점)만 주는 미션의 이원화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8912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미션 유형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 재화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미션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3택1 (몬스터 5,000/몬파 6회/심볼 12회)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코인 1,500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 미션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 마일스톤 약 35종 (심볼·코어·전투력 등)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코인 100~1,000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레벨 미션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260~290레벨 구간별 달성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포인트+코인 (누계 36,700P)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 미션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주간/월간 보스 1인 격파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포인트+코인 (누계 101,300P)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8328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493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포인트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티어(포인트)는 오직 레벨·보스로만 상승 → 접속 일수가 아닌 성장 성과 중심 (이론상 최대 138,000점)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미션은 성장 체크리스트 자체를 미션화 — '다음에 뭘 해야 하는지'를 시스템이 안내하는 온보딩 장치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시스템 및 보상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티어=월드 내 소모, 에메랄드 이상=본 서버 반출 가능 자산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749808" cy="822960"/>
          </a:xfrm>
          <a:prstGeom prst="roundRect">
            <a:avLst>
              <a:gd name="adj" fmla="val 6098"/>
            </a:avLst>
          </a:prstGeom>
          <a:solidFill>
            <a:srgbClr val="C98A4B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16459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브론즈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298448" y="1801368"/>
            <a:ext cx="749808" cy="941832"/>
          </a:xfrm>
          <a:prstGeom prst="roundRect">
            <a:avLst>
              <a:gd name="adj" fmla="val 6098"/>
            </a:avLst>
          </a:prstGeom>
          <a:solidFill>
            <a:srgbClr val="C9CFD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3584" y="15270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07008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실버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139696" y="1682496"/>
            <a:ext cx="749808" cy="1060704"/>
          </a:xfrm>
          <a:prstGeom prst="roundRect">
            <a:avLst>
              <a:gd name="adj" fmla="val 6098"/>
            </a:avLst>
          </a:prstGeom>
          <a:solidFill>
            <a:srgbClr val="F5C5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140817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48256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골드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980944" y="1563624"/>
            <a:ext cx="749808" cy="1179576"/>
          </a:xfrm>
          <a:prstGeom prst="roundRect">
            <a:avLst>
              <a:gd name="adj" fmla="val 6098"/>
            </a:avLst>
          </a:prstGeom>
          <a:solidFill>
            <a:srgbClr val="8FE3D0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1289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89504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플래티넘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822192" y="1444752"/>
            <a:ext cx="749808" cy="1298448"/>
          </a:xfrm>
          <a:prstGeom prst="roundRect">
            <a:avLst>
              <a:gd name="adj" fmla="val 6098"/>
            </a:avLst>
          </a:prstGeom>
          <a:solidFill>
            <a:srgbClr val="3DD68C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67328" y="11704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30752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에메랄드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749808" cy="1417320"/>
          </a:xfrm>
          <a:prstGeom prst="roundRect">
            <a:avLst>
              <a:gd name="adj" fmla="val 6098"/>
            </a:avLst>
          </a:prstGeom>
          <a:solidFill>
            <a:srgbClr val="4D8DF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08576" y="10515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0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사파이어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504688" y="1207008"/>
            <a:ext cx="749808" cy="1536192"/>
          </a:xfrm>
          <a:prstGeom prst="roundRect">
            <a:avLst>
              <a:gd name="adj" fmla="val 6098"/>
            </a:avLst>
          </a:prstGeom>
          <a:solidFill>
            <a:srgbClr val="9AD8F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49824" y="9326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13248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다이아몬드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345936" y="1088136"/>
            <a:ext cx="749808" cy="1655064"/>
          </a:xfrm>
          <a:prstGeom prst="roundRect">
            <a:avLst>
              <a:gd name="adj" fmla="val 6098"/>
            </a:avLst>
          </a:prstGeom>
          <a:solidFill>
            <a:srgbClr val="B57BF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91072" y="8138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54496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187184" y="969264"/>
            <a:ext cx="749808" cy="1773936"/>
          </a:xfrm>
          <a:prstGeom prst="roundRect">
            <a:avLst>
              <a:gd name="adj" fmla="val 6098"/>
            </a:avLst>
          </a:prstGeom>
          <a:solidFill>
            <a:srgbClr val="F0B429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32320" y="6949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95744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028432" y="850392"/>
            <a:ext cx="749808" cy="1892808"/>
          </a:xfrm>
          <a:prstGeom prst="roundRect">
            <a:avLst>
              <a:gd name="adj" fmla="val 6098"/>
            </a:avLst>
          </a:prstGeom>
          <a:solidFill>
            <a:srgbClr val="FF5D5D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73568" y="5760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36992" y="2798064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슈퍼챌린저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57200" y="33375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" y="3456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마스터: 70,000P + 메이린(노멀) 격파 · 챌린저/슈퍼챌린저: 90,000P + 메이린(하드) 격파 (999등까지 슈챌, 1,000등부터 챌린저 / 챌4는 50등까지)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391363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영구 보상: 솔 에르다 조각 · 티어 모자 · 페어리 하트만 해당. 특수 스킬 반지는 월드 전용·9/17 만료. 챌린저 티어의 솔 야누스 20레벨 강화권이 시즌4 최상위 목표 보상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보스 — 카이(시즌3) → 메이린(시즌4)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파밍만으로 최상위 티어 도달을 막는 '실전 격파 능력 인증' 장치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카이 (시즌3)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메이린 (시즌4)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콘셉트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시간의 방랑자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카드로 예지하는 '운명의 인도자'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 체감 난이도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 세렌~이지 카링급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이지 카링~노멀 칼로스급 (상향)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티어 배점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노멀 1,000 / 하드 별도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노멀 5,000 / 하드 9,000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선착순 정원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월드 통합 10명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챌1~3 통합 10명 / 챌4 3명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영구 보상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'크로노 브레이커' 칭호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'운명의 인도자' 칭호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분석: 시즌 개막 직후 최상위권의 속도 경쟁(e스포츠적 장치) · 하드 난이도 위상을 시즌마다 상향해 반복 참여자의 목표 갱신 · 보상은 스펙이 아닌 시즌 한정 코스메틱으로 설계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의문의 결계 — 성장 지원 시스템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티어가 오를수록 하위 핵이 등장 테이블에서 제거되어 기대값이 구조적으로 상승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4023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37160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결계 등급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해제 티어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레전드리 확률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초소형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골드 미만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0.007%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중형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에메랄드 이상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0.10%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5단계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초대형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다이아몬드 이상(최종)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1.05%</a:t>
                      </a:r>
                      <a:endParaRPr lang="en-US" sz="8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207008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92040" y="1298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재화 수급 (결계 제어봉)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92040" y="157276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7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0시 3개 자동 지급(최대 보유 20개, 접속 무관) · 메소샵 개당 500만 메소, 챌1~3 주20개/챌4 주50개 추가 구매 가능 → 메소 소각처 역할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3090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결계의 핵 — 최종 단계(레전드리 12강) 능력치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4015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주스탯 +105 · 부스탯 +90 · 공격력/마력 +116 · 주스탯% +40%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22성 레전드리 유니크 5줄 가디언 엔젤 링과 동등한 수준의 무자본 스펙업 축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7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희귀도만 교체 장착 가능(하향·수평 교체 차단), 미사용 핵은 에너지로 환원되는 무손실 루프. 리프 시 능력치 미적용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버닝 PLUS — 장비 성장 지원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레벨+보스+문장 3중 조건, 11단계 로드맵의 최종 목표는 시즌 보스 메이린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2560320"/>
                <a:gridCol w="3474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강화 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스우(노멀)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스타포스 18성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카이(노멀)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 잠재 레전드리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 힐라(노멀)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모자/상의/하의/견장 20성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11(최종)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메이린(노멀)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방어구 스타포스 22성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310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도전의 문장 &amp; 참여 조건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사냥 2,000마리당 100문장(주 최대 500) · 명의당 1캐릭터 지정(삭제 후 재지정 불가) · 도전자의 장비는 11/18까지 사용 가능(시즌 종료보다 2개월 유예)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패스 &amp; 제네시스 패스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육성 속도(EXP 패스)와 해방 기간 단축(제네시스 패스)을 판매하는 2대 유료 패스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4023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효과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챌린저스 EXP 패스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19,800캐시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몬스터 데미지 +200% 등 육성 가속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챌린저스 프리미엄 패스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19,800캐시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 트랙 확장 (EXP 구매자 전용)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제네시스 패스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30,000캐시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어둠의 흔적 3배, 해방 파티 완화(6인)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제네시스 패스 PLUS 프리미엄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30,000캐시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해방 후 주차별 보스 미션 보상 트랙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 모두 명의당 1회 한정 → 1인당 과금 상한 약 99,600캐시로 설계. 제네시스 패스 PLUS는 파티 인정하되 연습 모드는 불인정(실전 격파 요구, 아이템 버닝과 반대)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3931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과금 여정 정렬: 빠른 육성(무료) → 해방 가시권(제네시스 패스) → 해방 이후(PLUS)로 이어지는 BM이 콘텐츠 성장 곡선과 정확히 정렬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OVERDRIVE 공통 개편 (1) — 온보딩 &amp; 보스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전반 QoL 개편이 시즌4 신규 유입 경험과 직결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807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UI 개선 + 자동 배분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전직마다 스킬을 일일이 찍던 과정 자동화, 신규 유저 진입 장벽 제거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772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4173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3807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길드 효과 개편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18888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1개만 가입해도 월드 내 최대 6캐릭터 동시 적용 (다캐릭 시너지)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260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8895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제한시간 20분 통일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58368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체력도 비례 축소되어 사실상의 난이도 개편 (다음 슬라이드 상세)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17720" y="2743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92608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28895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페이지별 연습 모드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818888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진입/클리어 기록 있는 페이즈부터 연습 가능, 학습 비용 절감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심층: 플레이 타임 단축 → 전투력 컷 하향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제한시간 30→20분 통일, 체력도 약 30% 일괄 축소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21031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보스(난이도)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개편 전 컷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개편 후 컷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하향폭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스우/데미안(노멀)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700만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500만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-29%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윌(이지)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1,500만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700만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-53%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 검은 마법사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1.2억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환산 3.0만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1시간→20분 압축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 카링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10억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환산 10.9만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310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 효과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한 단계 위 보스 도전 가능  ② 파티 보스 솔로화 → 결정석 수익 독식 (보스 결정가 조정과 짝 설계)  ③ 제네시스 해방 기간 6~7주 → 3~4주 단축  ④ 챌린저스 보스미션·아이템버닝 실질 난이도 동반 하락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OVERDRIVE 공통 개편 (2) — 루틴 경량화 &amp; 육성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총량은 보존하고 소요 시간만 제거하는 방식이 일관 적용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42062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심볼 일일 퀘스트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200마리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100마리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스페셜 콘텐츠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익스트림 몬스터파크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콘텐츠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→ 몬파 주5회 클리어 시 동급 경험치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하이퍼 블링크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200~260구간 추가 경험치 +5,000%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버닝 비욘드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칭호 보상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패시브 방식으로 변경 (슬롯 비점유)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 블링크가 시즌3 최대 실패 요인이던 '260까지의 지나가는 구간'을 사실상 삭제한 핵심 장치. 자석펫도 보유량 기반 스킬 + 월드 공유 펫으로 개편되어 캐시 자산 가치를 계정 단위로 격상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BM(수익 모델) 분석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속도(패스)와 편의(메포 대체)를 판매, 영구 스펙은 플레이로 획득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25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패스 포트폴리오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32588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 명의당 1회, 1인당 과금 상한 약 99,600캐시로 설계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377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간접 BM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시간→재화 전환 안전판을 시스템 전반에 일관 배치 (챌린저스패스·아이템버닝 공통)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핵심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4290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육성 → 해방 가시권 → 제네시스 패스 → 해방 후 PLUS로 이어지는 과금 여정이 성장 곡선과 정렬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 패스 전투 버프가 강력해 '과금 효율 역대급' 호평과 '사실상 필수 과금' 비판이 공존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시즌별 변천사 및 평가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시즌의 최대 불만을 다음 시즌에서 구조적으로 수정하는 패치 사이클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291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키워드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평가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시즌1 NEXT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도입, 버닝월드 개선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긍정 (신생서버 문제 존재)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시즌2 ASSEMBLE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사냥터 개인화, 결계·패스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D6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역대 최고 평가 (유저 +69%)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시즌3 CROWN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시즌보스, 순수 성장 경쟁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부정적 (초반 페이싱 실패)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시즌4 OVERDRIVE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초반구간 삭제, 경제통합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DF0F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긍정적 흐름 (템포 과제 남음)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14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337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축의 진화: (1) 육성 속도 상향  (2) 경쟁 요소 강화(시즌 보스)  (3) 본 서버 경제 연결 확대  (4) 운영 기간 압축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시즌1 자리경쟁 → 시즌2 사냥터 개인화 / 시즌3 초반 페이싱 실패 → 시즌4 경험치 +5,000% 대응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잘된 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티어-보상-리프의 삼중 연결이 시즌 성취를 본 서버 자산으로 전환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5272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티어-보상-리프 삼중 연결: 고가치 보상은 반출 허용, 밸런스 영향 큰 아이템은 월드 전용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719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티어=전투력 구조: 패시브 강화·결계 해금이 승급과 직결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219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2037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로드맵의 시스템화: 아이템 버닝·시즌 미션이 '다음 목표'를 직접 제시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06624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6883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모드 인정: 도전 콘텐츠와 주간 경제 콘텐츠 분리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91256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172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경매장 통합: 신규 유저의 최대 장벽인 템 세팅 해결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75888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686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보스 설계: 메이린 격파를 조건화해 랭킹 권위 확보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60520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68680" y="4142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catch-up과 유예: 하위 보상 누적, 장비 사용기한 유예, 3회 리프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잠금(time-gate) 템포가 시즌3부터 개선되지 않은 유일한 미해결 지점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18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3444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사실상 필수화된 유료 패스: EXP+제네시스 포함 권장 과금 약 10만 캐시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05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783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피로도: 여러 시스템에 걸친 주간 루틴 중복 (경량화되었으나 총량은 여전)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5915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3317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기간제 보상의 소멸감: 반지·결계핵·도전자 장비가 리프·만료와 함께 소멸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0779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88036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복잡도: 포인트/코인/문장 등 재화 종류多, 반지 분기 학습 부담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56432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42900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잠금 템포: 아이템 버닝 2주 대기 구간, 제네시스 PLUS 늦은 해금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05072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68680" y="397764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부속 이벤트 편차: 파티 강제·긴 플레이타임 미니게임이 유저층과 불일치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 및 벤치마킹 포인트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월드는 '분리'가 아닌 '환류' 설계가 핵심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환류 설계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6184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리프 + 반출 가능 보상 파이프라인이 있어야 시즌 참여가 장기 리텐션으로 이어진다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반출 가능/불가 이원화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0600" y="16184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영구 재화는 반출 허용, 밸런스 영향 아이템은 월드 전용·기간제로 파워 인플레이션 차단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과금 여정 정렬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7614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과금 상품이 유저의 '다음 목표'와 일치하는 시점에 제시될 때 저항이 최소화됨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617720" y="2377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경쟁의 관문화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0600" y="27614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포인트(시간)+시즌보스 격파(실력) 이중 조건으로 랭킹 인플레이션 방지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611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경제의 선택적 통합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9044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 재화는 월드 전용, 아이템 거래는 정착 월드군과 통합 — 두 마리 토끼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617720" y="352044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1B21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3611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미션의 온보딩화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9044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체크리스트를 보상형 미션화해 튜토리얼 없이 성장 경로를 학습시킴</a:t>
            </a:r>
            <a:endParaRPr lang="en-US" sz="8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201168" cy="201168"/>
          </a:xfrm>
          <a:prstGeom prst="ellipse">
            <a:avLst/>
          </a:prstGeom>
          <a:solidFill>
            <a:srgbClr val="232B57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685800"/>
            <a:ext cx="201168" cy="201168"/>
          </a:xfrm>
          <a:prstGeom prst="ellipse">
            <a:avLst/>
          </a:prstGeom>
          <a:solidFill>
            <a:srgbClr val="232B57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685800"/>
            <a:ext cx="201168" cy="201168"/>
          </a:xfrm>
          <a:prstGeom prst="ellipse">
            <a:avLst/>
          </a:prstGeom>
          <a:solidFill>
            <a:srgbClr val="232B57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685800"/>
            <a:ext cx="201168" cy="20116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DF0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월드 시즌4(OVERDRIVE)는 시즌3의 최대 실패 요인이던 초반 페이싱을 정면으로 수정하고, 경제 통합·전투력 컷 하향·루틴 경량화라는 세 축의 접근성 개선을 동시에 밀어붙인 시즌이다. 그 결과 진입 장벽은 크게 낮아졌지만, 시간 잠금 템포처럼 여러 시즌에 걸쳐 개선되지 않은 지점도 분명히 남아있다.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7498080" cy="914400"/>
          </a:xfrm>
          <a:prstGeom prst="roundRect">
            <a:avLst>
              <a:gd name="adj" fmla="val 8000"/>
            </a:avLst>
          </a:prstGeom>
          <a:solidFill>
            <a:srgbClr val="232B57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5661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줄: "시즌 월드의 성패는 콘텐츠 난이도가 아니라, 성과를 본 서버로 흘려보내는 환류 파이프라인의 설계에 달려 있다."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자료: 메이플스토리 공식 공지 · 정심심 블로그 · 나무위키 · 환산주스탯(maplescouter.com) · 메이플 인벤/아카라이브/에펨코리아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챌린저스 월드 시즌4 콘텐츠 분석서</dc:title>
  <dc:subject>PptxGenJS Presentation</dc:subject>
  <dc:creator>PptxGenJS</dc:creator>
  <cp:lastModifiedBy>PptxGenJS</cp:lastModifiedBy>
  <cp:revision>1</cp:revision>
  <dcterms:created xsi:type="dcterms:W3CDTF">2026-07-12T15:05:54Z</dcterms:created>
  <dcterms:modified xsi:type="dcterms:W3CDTF">2026-07-12T15:05:54Z</dcterms:modified>
</cp:coreProperties>
</file>