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7"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3795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재미 분석(FUN QA) 후속 문서로, 분석에서 도출한 이탈 요인을 실제 개선 기획으로 연결한다.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 111퍼센트 재무(사람인 기업정보, 2025년 매출 1,375억 6,638만원·영업이익 254억 7,484만원 / 2024년 1,058억·52억), 더구루 2024.10.01 기사(2024년 8월 MAU 6위·매출 11위), 게임뷰 2026.02.13 기사(확률형 콘텐츠 오류 인정·보상, 한국게임이용자협회 공정위 신고), 나무위키 게임 모드 문서(침공 모드 2026.05.01 출시). 매출은 111퍼센트 전사 기준이며 운빨존많겜 단일 매출이 아님에 유의.</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요인은 플레이 후기(블로그 "실수 없는 패배", 2026.03)를 반영해 파트너 이탈에서 보스 패턴 운·미션 1개 미달까지 포함하는 "실수 없는 패배"로 확장했다. 3번 요인에는 지옥 70웨이브 벽과 초월 유물 격차를 추가. 재미 분석에서 정의한 3개 이탈 요인에, 2026년 2월 확률 오류 사태를 근거로 "확률 신뢰 하락"을 4번째 요인으로 추가했다. 운빨존많겜의 핵심 재미(잭팟 경험)는 확률이 공정하다는 믿음을 전제로 하기 때문에 우선순위를 P1으로 둔다.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재미 분석 7p의 1·2단계 제안(1인 기준 하향 조정, 생존자 버프)을 실제 시스템 흐름으로 구체화했다. 모든 수치는 초기 가설값이며 사내 테스트 서버의 클리어율 데이터로 튜닝한다. 악용 방지(고의 탈주로 난이도를 낮추는 행위)를 설계 단계부터 포함시켰다.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배속 관련: 2024년 해외 App Store 리뷰에서 2배속이 월정액 상품 전용이라는 불만이 제기됨. 현행 BM 구조는 사내 확인이 필요하며, 무료 배속은 협동 모드 한정·1.5배 수준으로 매출 영향을 A/B 테스트로 확인하는 것을 전제로 한다.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플레이 후기(2026.03)에서 유닛 최대 강화·정석 배치로도 유물 초월 수치 차이를 넘기 어렵고 지옥 70웨이브 부근에서 반복 실패한다는 경험이 제시되어, 초월 격차 보정 카드를 추가함. 초월 보정은 과금 가치를 훼손하지 않도록 협동 난이도 한정·상한만 두는 방향으로 BM팀과 협의 필요. 난이도 단계(보통·어려움·지옥·신·태초)는 나무위키 게임 모드 문서 기준. 블라인드 게임 게시판에서 "보통만 반복하면 지루하고 어려움은 벽"이라는 이탈 사유가 확인됨. 대여 시스템은 과금 욕구를 대체하지 않고 체험 후 목표를 만들어 주는 방향으로 설계한다.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게임뷰 2026.02.13 — 111퍼센트가 2월 5일 확률형 콘텐츠의 의도와 다른 동작을 인정, 보석 등 보상 지급, 로그 전수 조사 후 실제 분포표 공개, 2월 12일 코드 기반 확률 시뮬레이션 페이지 공개. 그럼에도 오류 기간 미명시 등으로 불신이 지속됨. 본 제안은 이미 공개한 시뮬레이션 페이지를 인게임·상시 검증 체계로 확장하는 것이 목적.</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전투 중 예고·경고 표시는 게임을 쉽게 만든다는 판단으로 제외했다. 대신 지목 대상 선정을 조건 기반으로 고정해 "배치로 대비할 수 있는 패턴"으로 바꾸고, 학습 정보는 전투 밖 도감과 판 종료 후 리포트로만 제공한다. 지목 규칙 개편은 보스 난이도 밸런스에 직접 영향을 주므로 밸런스팀 협의와 클리어율 재측정이 전제. 근거: 플레이 후기 「운빨존많겜에서 실수 없는 패배」(2026.03.01). 달성률 80% 등 수치는 초기 가설값.</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근거: 유저 리뷰 「[모바일게임] 운빨존많겜 리뷰」(2026.04.10, 약 6개월 플레이). 지적된 문제 — (1) 오래 플레이할수록 신화석·저등급 유닛이 쌓이는데 활용처가 없음, (2) 업데이트 일정만 공지하고 정확한 시간을 알리지 않아 3배수 이벤트 보상에 형평성 문제, (3) 태초 난이도 출시 이후 약 9개월간 신규 난이도 없이 이벤트성 콘텐츠 위주. 같은 글에서 누적 다운로드 500만+, 난이도 5단계와 모드별 기믹(신의 돌·카드) 확인. 전환 비율·주간 한도 등 수치는 초기 가설값이며 재화 경제 시뮬레이션 후 확정.</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출처: 사람인 기업정보 111퍼센트 재무정보 / 더구루 "111퍼센트 개발 운빨존많겜, 시장 안착 이어가는 이유"(2024.10.01) / 게임뷰 "확률·보상 논란에 제도권 움직여"(2026.02.13) / 나무위키 운빨존많겜·게임 모드 문서 / App Store Lucky Defense 리뷰 / 블라인드 게임 게시판 / 플레이 후기 「운빨존많겜에서 실수 없는 패배」(게임의 모든 것 블로그, 2026.03.01) / 유저 리뷰 「[모바일게임] 운빨존많겜 리뷰」(2026.04.10) / Gamigion Lucky Defense 분석. 작성자 본인의 FUN QA 재미 분석 문서.</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914400" y="1600200"/>
            <a:ext cx="10360152" cy="502920"/>
          </a:xfrm>
          <a:prstGeom prst="rect">
            <a:avLst/>
          </a:prstGeom>
          <a:noFill/>
          <a:ln/>
        </p:spPr>
        <p:txBody>
          <a:bodyPr wrap="square" lIns="0" tIns="0" rIns="0" bIns="0" rtlCol="0" anchor="t"/>
          <a:lstStyle/>
          <a:p>
            <a:pPr marL="0" indent="0" algn="ctr">
              <a:buNone/>
            </a:pPr>
            <a:r>
              <a:rPr lang="en-US" sz="2600" dirty="0">
                <a:solidFill>
                  <a:srgbClr val="1E1F22"/>
                </a:solidFill>
                <a:latin typeface="Pretendard" pitchFamily="34" charset="0"/>
                <a:ea typeface="Pretendard" pitchFamily="34" charset="-122"/>
                <a:cs typeface="Pretendard" pitchFamily="34" charset="-120"/>
              </a:rPr>
              <a:t>운빨존많겜</a:t>
            </a:r>
            <a:endParaRPr lang="en-US" sz="2600" dirty="0"/>
          </a:p>
        </p:txBody>
      </p:sp>
      <p:sp>
        <p:nvSpPr>
          <p:cNvPr id="13" name="Text 9"/>
          <p:cNvSpPr txBox="1"/>
          <p:nvPr/>
        </p:nvSpPr>
        <p:spPr>
          <a:xfrm>
            <a:off x="914400" y="2148840"/>
            <a:ext cx="10360152" cy="914400"/>
          </a:xfrm>
          <a:prstGeom prst="rect">
            <a:avLst/>
          </a:prstGeom>
          <a:noFill/>
          <a:ln/>
        </p:spPr>
        <p:txBody>
          <a:bodyPr wrap="square" lIns="0" tIns="0" rIns="0" bIns="0" rtlCol="0" anchor="t"/>
          <a:lstStyle/>
          <a:p>
            <a:pPr marL="0" indent="0" algn="ctr">
              <a:buNone/>
            </a:pPr>
            <a:r>
              <a:rPr lang="en-US" sz="5400" b="1" dirty="0">
                <a:solidFill>
                  <a:srgbClr val="1E1F22"/>
                </a:solidFill>
                <a:latin typeface="Pretendard" pitchFamily="34" charset="0"/>
                <a:ea typeface="Pretendard" pitchFamily="34" charset="-122"/>
                <a:cs typeface="Pretendard" pitchFamily="34" charset="-120"/>
              </a:rPr>
              <a:t>개선 및 발전 제안 기획서</a:t>
            </a:r>
            <a:endParaRPr lang="en-US" sz="5400" dirty="0"/>
          </a:p>
        </p:txBody>
      </p:sp>
      <p:pic>
        <p:nvPicPr>
          <p:cNvPr id="15" name="Image 1" descr="preencoded.png"/>
          <p:cNvPicPr>
            <a:picLocks noChangeAspect="1"/>
          </p:cNvPicPr>
          <p:nvPr/>
        </p:nvPicPr>
        <p:blipFill>
          <a:blip r:embed="rId4"/>
          <a:stretch>
            <a:fillRect/>
          </a:stretch>
        </p:blipFill>
        <p:spPr>
          <a:xfrm>
            <a:off x="4526280" y="3904488"/>
            <a:ext cx="502920" cy="566928"/>
          </a:xfrm>
          <a:prstGeom prst="rect">
            <a:avLst/>
          </a:prstGeom>
        </p:spPr>
      </p:pic>
      <p:pic>
        <p:nvPicPr>
          <p:cNvPr id="16" name="Image 2" descr="preencoded.png"/>
          <p:cNvPicPr>
            <a:picLocks noChangeAspect="1"/>
          </p:cNvPicPr>
          <p:nvPr/>
        </p:nvPicPr>
        <p:blipFill>
          <a:blip r:embed="rId5"/>
          <a:stretch>
            <a:fillRect/>
          </a:stretch>
        </p:blipFill>
        <p:spPr>
          <a:xfrm>
            <a:off x="5349240" y="4014216"/>
            <a:ext cx="566928" cy="566928"/>
          </a:xfrm>
          <a:prstGeom prst="rect">
            <a:avLst/>
          </a:prstGeom>
        </p:spPr>
      </p:pic>
      <p:pic>
        <p:nvPicPr>
          <p:cNvPr id="17" name="Image 3" descr="preencoded.png"/>
          <p:cNvPicPr>
            <a:picLocks noChangeAspect="1"/>
          </p:cNvPicPr>
          <p:nvPr/>
        </p:nvPicPr>
        <p:blipFill>
          <a:blip r:embed="rId6"/>
          <a:stretch>
            <a:fillRect/>
          </a:stretch>
        </p:blipFill>
        <p:spPr>
          <a:xfrm>
            <a:off x="6236208" y="3886200"/>
            <a:ext cx="548640" cy="603504"/>
          </a:xfrm>
          <a:prstGeom prst="rect">
            <a:avLst/>
          </a:prstGeom>
        </p:spPr>
      </p:pic>
      <p:pic>
        <p:nvPicPr>
          <p:cNvPr id="18" name="Image 4" descr="preencoded.png"/>
          <p:cNvPicPr>
            <a:picLocks noChangeAspect="1"/>
          </p:cNvPicPr>
          <p:nvPr/>
        </p:nvPicPr>
        <p:blipFill>
          <a:blip r:embed="rId7"/>
          <a:stretch>
            <a:fillRect/>
          </a:stretch>
        </p:blipFill>
        <p:spPr>
          <a:xfrm>
            <a:off x="7104888" y="3991356"/>
            <a:ext cx="566928" cy="393192"/>
          </a:xfrm>
          <a:prstGeom prst="rect">
            <a:avLst/>
          </a:prstGeom>
        </p:spPr>
      </p:pic>
      <p:pic>
        <p:nvPicPr>
          <p:cNvPr id="19" name="Image 5" descr="preencoded.png"/>
          <p:cNvPicPr>
            <a:picLocks noChangeAspect="1"/>
          </p:cNvPicPr>
          <p:nvPr/>
        </p:nvPicPr>
        <p:blipFill>
          <a:blip r:embed="rId8"/>
          <a:stretch>
            <a:fillRect/>
          </a:stretch>
        </p:blipFill>
        <p:spPr>
          <a:xfrm>
            <a:off x="7991856" y="3922776"/>
            <a:ext cx="658368" cy="530352"/>
          </a:xfrm>
          <a:prstGeom prst="rect">
            <a:avLst/>
          </a:prstGeom>
        </p:spPr>
      </p:pic>
      <p:sp>
        <p:nvSpPr>
          <p:cNvPr id="20" name="Text 11"/>
          <p:cNvSpPr txBox="1"/>
          <p:nvPr/>
        </p:nvSpPr>
        <p:spPr>
          <a:xfrm>
            <a:off x="6858000" y="5806440"/>
            <a:ext cx="4572000" cy="365760"/>
          </a:xfrm>
          <a:prstGeom prst="rect">
            <a:avLst/>
          </a:prstGeom>
          <a:noFill/>
          <a:ln/>
        </p:spPr>
        <p:txBody>
          <a:bodyPr wrap="square" lIns="0" tIns="0" rIns="0" bIns="0" rtlCol="0" anchor="t"/>
          <a:lstStyle/>
          <a:p>
            <a:pPr marL="0" indent="0" algn="r">
              <a:buNone/>
            </a:pPr>
            <a:r>
              <a:rPr lang="en-US" sz="1800" dirty="0">
                <a:solidFill>
                  <a:srgbClr val="1E1F22"/>
                </a:solidFill>
                <a:latin typeface="Pretendard" pitchFamily="34" charset="0"/>
                <a:ea typeface="Pretendard" pitchFamily="34" charset="-122"/>
                <a:cs typeface="Pretendard" pitchFamily="34" charset="-120"/>
              </a:rPr>
              <a:t>작성자 : 이경민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9"/>
          <p:cNvSpPr txBox="1"/>
          <p:nvPr/>
        </p:nvSpPr>
        <p:spPr>
          <a:xfrm>
            <a:off x="777240" y="1554480"/>
            <a:ext cx="2743200" cy="822960"/>
          </a:xfrm>
          <a:prstGeom prst="rect">
            <a:avLst/>
          </a:prstGeom>
          <a:noFill/>
          <a:ln/>
        </p:spPr>
        <p:txBody>
          <a:bodyPr wrap="square" lIns="0" tIns="0" rIns="0" bIns="0" rtlCol="0" anchor="t"/>
          <a:lstStyle/>
          <a:p>
            <a:pPr marL="0" indent="0">
              <a:buNone/>
            </a:pPr>
            <a:r>
              <a:rPr lang="en-US" sz="4800" b="1" dirty="0">
                <a:solidFill>
                  <a:srgbClr val="1E1F22"/>
                </a:solidFill>
                <a:latin typeface="Pretendard" pitchFamily="34" charset="0"/>
                <a:ea typeface="Pretendard" pitchFamily="34" charset="-122"/>
                <a:cs typeface="Pretendard" pitchFamily="34" charset="-120"/>
              </a:rPr>
              <a:t>목차</a:t>
            </a:r>
            <a:endParaRPr lang="en-US" sz="4800" dirty="0"/>
          </a:p>
        </p:txBody>
      </p:sp>
      <p:pic>
        <p:nvPicPr>
          <p:cNvPr id="13" name="Image 1" descr="preencoded.png"/>
          <p:cNvPicPr>
            <a:picLocks noChangeAspect="1"/>
          </p:cNvPicPr>
          <p:nvPr/>
        </p:nvPicPr>
        <p:blipFill>
          <a:blip r:embed="rId4"/>
          <a:stretch>
            <a:fillRect/>
          </a:stretch>
        </p:blipFill>
        <p:spPr>
          <a:xfrm>
            <a:off x="822960" y="5257800"/>
            <a:ext cx="566928" cy="393192"/>
          </a:xfrm>
          <a:prstGeom prst="rect">
            <a:avLst/>
          </a:prstGeom>
        </p:spPr>
      </p:pic>
      <p:sp>
        <p:nvSpPr>
          <p:cNvPr id="14" name="Text 10"/>
          <p:cNvSpPr txBox="1"/>
          <p:nvPr/>
        </p:nvSpPr>
        <p:spPr>
          <a:xfrm>
            <a:off x="4572000" y="1234440"/>
            <a:ext cx="118872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목차1</a:t>
            </a:r>
            <a:endParaRPr lang="en-US" sz="2000" dirty="0"/>
          </a:p>
        </p:txBody>
      </p:sp>
      <p:sp>
        <p:nvSpPr>
          <p:cNvPr id="15" name="Text 11"/>
          <p:cNvSpPr txBox="1"/>
          <p:nvPr/>
        </p:nvSpPr>
        <p:spPr>
          <a:xfrm>
            <a:off x="6035040" y="1234440"/>
            <a:ext cx="5029200" cy="411480"/>
          </a:xfrm>
          <a:prstGeom prst="rect">
            <a:avLst/>
          </a:prstGeom>
          <a:noFill/>
          <a:ln/>
        </p:spPr>
        <p:txBody>
          <a:bodyPr wrap="square" lIns="0" tIns="0" rIns="0" bIns="0" rtlCol="0" anchor="t"/>
          <a:lstStyle/>
          <a:p>
            <a:pPr marL="0" indent="0">
              <a:buNone/>
            </a:pPr>
            <a:r>
              <a:rPr lang="en-US" sz="2000" dirty="0">
                <a:solidFill>
                  <a:srgbClr val="1E1F22"/>
                </a:solidFill>
                <a:latin typeface="Pretendard" pitchFamily="34" charset="0"/>
                <a:ea typeface="Pretendard" pitchFamily="34" charset="-122"/>
                <a:cs typeface="Pretendard" pitchFamily="34" charset="-120"/>
              </a:rPr>
              <a:t>기획 배경 · 현황</a:t>
            </a:r>
            <a:endParaRPr lang="en-US" sz="2000" dirty="0"/>
          </a:p>
        </p:txBody>
      </p:sp>
      <p:sp>
        <p:nvSpPr>
          <p:cNvPr id="17" name="Text 13"/>
          <p:cNvSpPr txBox="1"/>
          <p:nvPr/>
        </p:nvSpPr>
        <p:spPr>
          <a:xfrm>
            <a:off x="4572000" y="2167128"/>
            <a:ext cx="118872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목차2</a:t>
            </a:r>
            <a:endParaRPr lang="en-US" sz="2000" dirty="0"/>
          </a:p>
        </p:txBody>
      </p:sp>
      <p:sp>
        <p:nvSpPr>
          <p:cNvPr id="18" name="Text 14"/>
          <p:cNvSpPr txBox="1"/>
          <p:nvPr/>
        </p:nvSpPr>
        <p:spPr>
          <a:xfrm>
            <a:off x="6035040" y="2167128"/>
            <a:ext cx="5029200" cy="411480"/>
          </a:xfrm>
          <a:prstGeom prst="rect">
            <a:avLst/>
          </a:prstGeom>
          <a:noFill/>
          <a:ln/>
        </p:spPr>
        <p:txBody>
          <a:bodyPr wrap="square" lIns="0" tIns="0" rIns="0" bIns="0" rtlCol="0" anchor="t"/>
          <a:lstStyle/>
          <a:p>
            <a:pPr marL="0" indent="0">
              <a:buNone/>
            </a:pPr>
            <a:r>
              <a:rPr lang="en-US" sz="2000" dirty="0">
                <a:solidFill>
                  <a:srgbClr val="1E1F22"/>
                </a:solidFill>
                <a:latin typeface="Pretendard" pitchFamily="34" charset="0"/>
                <a:ea typeface="Pretendard" pitchFamily="34" charset="-122"/>
                <a:cs typeface="Pretendard" pitchFamily="34" charset="-120"/>
              </a:rPr>
              <a:t>문제 정의</a:t>
            </a:r>
            <a:endParaRPr lang="en-US" sz="2000" dirty="0"/>
          </a:p>
        </p:txBody>
      </p:sp>
      <p:sp>
        <p:nvSpPr>
          <p:cNvPr id="20" name="Text 16"/>
          <p:cNvSpPr txBox="1"/>
          <p:nvPr/>
        </p:nvSpPr>
        <p:spPr>
          <a:xfrm>
            <a:off x="4572000" y="3099816"/>
            <a:ext cx="118872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목차3</a:t>
            </a:r>
            <a:endParaRPr lang="en-US" sz="2000" dirty="0"/>
          </a:p>
        </p:txBody>
      </p:sp>
      <p:sp>
        <p:nvSpPr>
          <p:cNvPr id="21" name="Text 17"/>
          <p:cNvSpPr txBox="1"/>
          <p:nvPr/>
        </p:nvSpPr>
        <p:spPr>
          <a:xfrm>
            <a:off x="6035040" y="3099816"/>
            <a:ext cx="5029200" cy="411480"/>
          </a:xfrm>
          <a:prstGeom prst="rect">
            <a:avLst/>
          </a:prstGeom>
          <a:noFill/>
          <a:ln/>
        </p:spPr>
        <p:txBody>
          <a:bodyPr wrap="square" lIns="0" tIns="0" rIns="0" bIns="0" rtlCol="0" anchor="t"/>
          <a:lstStyle/>
          <a:p>
            <a:pPr marL="0" indent="0">
              <a:buNone/>
            </a:pPr>
            <a:r>
              <a:rPr lang="en-US" sz="2000" dirty="0">
                <a:solidFill>
                  <a:srgbClr val="1E1F22"/>
                </a:solidFill>
                <a:latin typeface="Pretendard" pitchFamily="34" charset="0"/>
                <a:ea typeface="Pretendard" pitchFamily="34" charset="-122"/>
                <a:cs typeface="Pretendard" pitchFamily="34" charset="-120"/>
              </a:rPr>
              <a:t>개선 제안 A · B</a:t>
            </a:r>
            <a:endParaRPr lang="en-US" sz="2000" dirty="0"/>
          </a:p>
        </p:txBody>
      </p:sp>
      <p:sp>
        <p:nvSpPr>
          <p:cNvPr id="23" name="Text 19"/>
          <p:cNvSpPr txBox="1"/>
          <p:nvPr/>
        </p:nvSpPr>
        <p:spPr>
          <a:xfrm>
            <a:off x="4572000" y="4032504"/>
            <a:ext cx="118872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목차4</a:t>
            </a:r>
            <a:endParaRPr lang="en-US" sz="2000" dirty="0"/>
          </a:p>
        </p:txBody>
      </p:sp>
      <p:sp>
        <p:nvSpPr>
          <p:cNvPr id="24" name="Text 20"/>
          <p:cNvSpPr txBox="1"/>
          <p:nvPr/>
        </p:nvSpPr>
        <p:spPr>
          <a:xfrm>
            <a:off x="6035040" y="4032504"/>
            <a:ext cx="5029200" cy="411480"/>
          </a:xfrm>
          <a:prstGeom prst="rect">
            <a:avLst/>
          </a:prstGeom>
          <a:noFill/>
          <a:ln/>
        </p:spPr>
        <p:txBody>
          <a:bodyPr wrap="square" lIns="0" tIns="0" rIns="0" bIns="0" rtlCol="0" anchor="t"/>
          <a:lstStyle/>
          <a:p>
            <a:pPr marL="0" indent="0">
              <a:buNone/>
            </a:pPr>
            <a:r>
              <a:rPr lang="en-US" sz="2000" dirty="0">
                <a:solidFill>
                  <a:srgbClr val="1E1F22"/>
                </a:solidFill>
                <a:latin typeface="Pretendard" pitchFamily="34" charset="0"/>
                <a:ea typeface="Pretendard" pitchFamily="34" charset="-122"/>
                <a:cs typeface="Pretendard" pitchFamily="34" charset="-120"/>
              </a:rPr>
              <a:t>개선 제안 C · D · E</a:t>
            </a:r>
            <a:endParaRPr lang="en-US" sz="2000" dirty="0"/>
          </a:p>
        </p:txBody>
      </p:sp>
      <p:sp>
        <p:nvSpPr>
          <p:cNvPr id="26" name="Text 22"/>
          <p:cNvSpPr txBox="1"/>
          <p:nvPr/>
        </p:nvSpPr>
        <p:spPr>
          <a:xfrm>
            <a:off x="4572000" y="4965192"/>
            <a:ext cx="118872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목차5</a:t>
            </a:r>
            <a:endParaRPr lang="en-US" sz="2000" dirty="0"/>
          </a:p>
        </p:txBody>
      </p:sp>
      <p:sp>
        <p:nvSpPr>
          <p:cNvPr id="27" name="Text 23"/>
          <p:cNvSpPr txBox="1"/>
          <p:nvPr/>
        </p:nvSpPr>
        <p:spPr>
          <a:xfrm>
            <a:off x="6035040" y="4965192"/>
            <a:ext cx="5029200" cy="411480"/>
          </a:xfrm>
          <a:prstGeom prst="rect">
            <a:avLst/>
          </a:prstGeom>
          <a:noFill/>
          <a:ln/>
        </p:spPr>
        <p:txBody>
          <a:bodyPr wrap="square" lIns="0" tIns="0" rIns="0" bIns="0" rtlCol="0" anchor="t"/>
          <a:lstStyle/>
          <a:p>
            <a:pPr marL="0" indent="0">
              <a:buNone/>
            </a:pPr>
            <a:r>
              <a:rPr lang="en-US" sz="2000" dirty="0">
                <a:solidFill>
                  <a:srgbClr val="1E1F22"/>
                </a:solidFill>
                <a:latin typeface="Pretendard" pitchFamily="34" charset="0"/>
                <a:ea typeface="Pretendard" pitchFamily="34" charset="-122"/>
                <a:cs typeface="Pretendard" pitchFamily="34" charset="-120"/>
              </a:rPr>
              <a:t>개선 제안 F · QA 검증</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기획 배경 · 현황</a:t>
            </a:r>
            <a:endParaRPr lang="en-US" sz="3000" dirty="0"/>
          </a:p>
        </p:txBody>
      </p:sp>
      <p:pic>
        <p:nvPicPr>
          <p:cNvPr id="14" name="Image 1" descr="preencoded.png"/>
          <p:cNvPicPr>
            <a:picLocks noChangeAspect="1"/>
          </p:cNvPicPr>
          <p:nvPr/>
        </p:nvPicPr>
        <p:blipFill>
          <a:blip r:embed="rId4"/>
          <a:stretch>
            <a:fillRect/>
          </a:stretch>
        </p:blipFill>
        <p:spPr>
          <a:xfrm>
            <a:off x="777240" y="2148840"/>
            <a:ext cx="3931920" cy="2212848"/>
          </a:xfrm>
          <a:prstGeom prst="rect">
            <a:avLst/>
          </a:prstGeom>
        </p:spPr>
      </p:pic>
      <p:sp>
        <p:nvSpPr>
          <p:cNvPr id="15" name="Text 10"/>
          <p:cNvSpPr txBox="1"/>
          <p:nvPr/>
        </p:nvSpPr>
        <p:spPr>
          <a:xfrm>
            <a:off x="777240" y="4526280"/>
            <a:ext cx="4023360" cy="1554480"/>
          </a:xfrm>
          <a:prstGeom prst="rect">
            <a:avLst/>
          </a:prstGeom>
          <a:noFill/>
          <a:ln/>
        </p:spPr>
        <p:txBody>
          <a:bodyPr wrap="square" lIns="0" tIns="0" rIns="0" bIns="0" rtlCol="0" anchor="t"/>
          <a:lstStyle/>
          <a:p>
            <a:pPr marL="0" indent="0">
              <a:spcAft>
                <a:spcPts val="500"/>
              </a:spcAft>
              <a:buNone/>
            </a:pPr>
            <a:r>
              <a:rPr lang="en-US" sz="1350" b="1" dirty="0">
                <a:solidFill>
                  <a:srgbClr val="1E1F22"/>
                </a:solidFill>
                <a:latin typeface="Pretendard" pitchFamily="34" charset="0"/>
                <a:ea typeface="Pretendard" pitchFamily="34" charset="-122"/>
                <a:cs typeface="Pretendard" pitchFamily="34" charset="-120"/>
              </a:rPr>
              <a:t>게임 명 : </a:t>
            </a:r>
            <a:r>
              <a:rPr lang="en-US" sz="1350" dirty="0">
                <a:solidFill>
                  <a:srgbClr val="1E1F22"/>
                </a:solidFill>
                <a:latin typeface="Pretendard" pitchFamily="34" charset="0"/>
                <a:ea typeface="Pretendard" pitchFamily="34" charset="-122"/>
                <a:cs typeface="Pretendard" pitchFamily="34" charset="-120"/>
              </a:rPr>
              <a:t>운빨존많겜 (111퍼센트)</a:t>
            </a:r>
            <a:endParaRPr lang="en-US" sz="1350" dirty="0"/>
          </a:p>
          <a:p>
            <a:pPr marL="0" indent="0">
              <a:spcAft>
                <a:spcPts val="500"/>
              </a:spcAft>
              <a:buNone/>
            </a:pPr>
            <a:r>
              <a:rPr lang="en-US" sz="1350" b="1" dirty="0">
                <a:solidFill>
                  <a:srgbClr val="1E1F22"/>
                </a:solidFill>
                <a:latin typeface="Pretendard" pitchFamily="34" charset="0"/>
                <a:ea typeface="Pretendard" pitchFamily="34" charset="-122"/>
                <a:cs typeface="Pretendard" pitchFamily="34" charset="-120"/>
              </a:rPr>
              <a:t>출시 : </a:t>
            </a:r>
            <a:r>
              <a:rPr lang="en-US" sz="1350" dirty="0">
                <a:solidFill>
                  <a:srgbClr val="1E1F22"/>
                </a:solidFill>
                <a:latin typeface="Pretendard" pitchFamily="34" charset="0"/>
                <a:ea typeface="Pretendard" pitchFamily="34" charset="-122"/>
                <a:cs typeface="Pretendard" pitchFamily="34" charset="-120"/>
              </a:rPr>
              <a:t>2024.05.23  ·  2026.08 2주년</a:t>
            </a:r>
            <a:endParaRPr lang="en-US" sz="1350" dirty="0"/>
          </a:p>
          <a:p>
            <a:pPr marL="0" indent="0">
              <a:spcAft>
                <a:spcPts val="500"/>
              </a:spcAft>
              <a:buNone/>
            </a:pPr>
            <a:r>
              <a:rPr lang="en-US" sz="1350" b="1" dirty="0">
                <a:solidFill>
                  <a:srgbClr val="1E1F22"/>
                </a:solidFill>
                <a:latin typeface="Pretendard" pitchFamily="34" charset="0"/>
                <a:ea typeface="Pretendard" pitchFamily="34" charset="-122"/>
                <a:cs typeface="Pretendard" pitchFamily="34" charset="-120"/>
              </a:rPr>
              <a:t>장르 : </a:t>
            </a:r>
            <a:r>
              <a:rPr lang="en-US" sz="1350" dirty="0">
                <a:solidFill>
                  <a:srgbClr val="1E1F22"/>
                </a:solidFill>
                <a:latin typeface="Pretendard" pitchFamily="34" charset="0"/>
                <a:ea typeface="Pretendard" pitchFamily="34" charset="-122"/>
                <a:cs typeface="Pretendard" pitchFamily="34" charset="-120"/>
              </a:rPr>
              <a:t>2인 협동 랜덤 타워 디펜스</a:t>
            </a:r>
            <a:endParaRPr lang="en-US" sz="1350" dirty="0"/>
          </a:p>
          <a:p>
            <a:pPr marL="0" indent="0">
              <a:spcAft>
                <a:spcPts val="500"/>
              </a:spcAft>
              <a:buNone/>
            </a:pPr>
            <a:r>
              <a:rPr lang="en-US" sz="1350" b="1" dirty="0">
                <a:solidFill>
                  <a:srgbClr val="1E1F22"/>
                </a:solidFill>
                <a:latin typeface="Pretendard" pitchFamily="34" charset="0"/>
                <a:ea typeface="Pretendard" pitchFamily="34" charset="-122"/>
                <a:cs typeface="Pretendard" pitchFamily="34" charset="-120"/>
              </a:rPr>
              <a:t>최근 : </a:t>
            </a:r>
            <a:r>
              <a:rPr lang="en-US" sz="1350" dirty="0">
                <a:solidFill>
                  <a:srgbClr val="1E1F22"/>
                </a:solidFill>
                <a:latin typeface="Pretendard" pitchFamily="34" charset="0"/>
                <a:ea typeface="Pretendard" pitchFamily="34" charset="-122"/>
                <a:cs typeface="Pretendard" pitchFamily="34" charset="-120"/>
              </a:rPr>
              <a:t>침공 모드 출시(2026.05), 대전 1:1 전환</a:t>
            </a:r>
            <a:endParaRPr lang="en-US" sz="1350" dirty="0"/>
          </a:p>
          <a:p>
            <a:pPr marL="0" indent="0">
              <a:spcAft>
                <a:spcPts val="500"/>
              </a:spcAft>
              <a:buNone/>
            </a:pPr>
            <a:r>
              <a:rPr lang="en-US" sz="1350" b="1" dirty="0">
                <a:solidFill>
                  <a:srgbClr val="1E1F22"/>
                </a:solidFill>
                <a:latin typeface="Pretendard" pitchFamily="34" charset="0"/>
                <a:ea typeface="Pretendard" pitchFamily="34" charset="-122"/>
                <a:cs typeface="Pretendard" pitchFamily="34" charset="-120"/>
              </a:rPr>
              <a:t>다운로드 : </a:t>
            </a:r>
            <a:r>
              <a:rPr lang="en-US" sz="1350" dirty="0">
                <a:solidFill>
                  <a:srgbClr val="1E1F22"/>
                </a:solidFill>
                <a:latin typeface="Pretendard" pitchFamily="34" charset="0"/>
                <a:ea typeface="Pretendard" pitchFamily="34" charset="-122"/>
                <a:cs typeface="Pretendard" pitchFamily="34" charset="-120"/>
              </a:rPr>
              <a:t>500만+ (스토어 표기) · 6개월 이상 장기 유저층 형성</a:t>
            </a:r>
            <a:endParaRPr lang="en-US" sz="1350" dirty="0"/>
          </a:p>
        </p:txBody>
      </p:sp>
      <p:sp>
        <p:nvSpPr>
          <p:cNvPr id="16" name="Shape 11"/>
          <p:cNvSpPr/>
          <p:nvPr/>
        </p:nvSpPr>
        <p:spPr>
          <a:xfrm>
            <a:off x="5074920" y="2148840"/>
            <a:ext cx="19659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17" name="Shape 12"/>
          <p:cNvSpPr/>
          <p:nvPr/>
        </p:nvSpPr>
        <p:spPr>
          <a:xfrm>
            <a:off x="5257800" y="2331720"/>
            <a:ext cx="146304" cy="146304"/>
          </a:xfrm>
          <a:prstGeom prst="ellipse">
            <a:avLst/>
          </a:prstGeom>
          <a:solidFill>
            <a:srgbClr val="FC5230"/>
          </a:solidFill>
          <a:ln w="12700">
            <a:solidFill>
              <a:srgbClr val="FC5230"/>
            </a:solidFill>
            <a:prstDash val="solid"/>
          </a:ln>
        </p:spPr>
      </p:sp>
      <p:sp>
        <p:nvSpPr>
          <p:cNvPr id="18" name="Text 13"/>
          <p:cNvSpPr txBox="1"/>
          <p:nvPr/>
        </p:nvSpPr>
        <p:spPr>
          <a:xfrm>
            <a:off x="5257800" y="2606040"/>
            <a:ext cx="1691640" cy="548640"/>
          </a:xfrm>
          <a:prstGeom prst="rect">
            <a:avLst/>
          </a:prstGeom>
          <a:noFill/>
          <a:ln/>
        </p:spPr>
        <p:txBody>
          <a:bodyPr wrap="square" lIns="0" tIns="0" rIns="0" bIns="0" rtlCol="0" anchor="t"/>
          <a:lstStyle/>
          <a:p>
            <a:pPr marL="0" indent="0">
              <a:buNone/>
            </a:pPr>
            <a:r>
              <a:rPr lang="en-US" sz="2800" b="1" dirty="0">
                <a:solidFill>
                  <a:srgbClr val="1E1F22"/>
                </a:solidFill>
                <a:latin typeface="Pretendard" pitchFamily="34" charset="0"/>
                <a:ea typeface="Pretendard" pitchFamily="34" charset="-122"/>
                <a:cs typeface="Pretendard" pitchFamily="34" charset="-120"/>
              </a:rPr>
              <a:t>1,376억</a:t>
            </a:r>
            <a:endParaRPr lang="en-US" sz="2800" dirty="0"/>
          </a:p>
        </p:txBody>
      </p:sp>
      <p:sp>
        <p:nvSpPr>
          <p:cNvPr id="19" name="Text 14"/>
          <p:cNvSpPr txBox="1"/>
          <p:nvPr/>
        </p:nvSpPr>
        <p:spPr>
          <a:xfrm>
            <a:off x="5257800" y="3154680"/>
            <a:ext cx="1691640" cy="274320"/>
          </a:xfrm>
          <a:prstGeom prst="rect">
            <a:avLst/>
          </a:prstGeom>
          <a:noFill/>
          <a:ln/>
        </p:spPr>
        <p:txBody>
          <a:bodyPr wrap="square" lIns="0" tIns="0" rIns="0" bIns="0" rtlCol="0" anchor="t"/>
          <a:lstStyle/>
          <a:p>
            <a:pPr marL="0" indent="0">
              <a:buNone/>
            </a:pPr>
            <a:r>
              <a:rPr lang="en-US" sz="1150" b="1" dirty="0">
                <a:solidFill>
                  <a:srgbClr val="5E6066"/>
                </a:solidFill>
                <a:latin typeface="Pretendard" pitchFamily="34" charset="0"/>
                <a:ea typeface="Pretendard" pitchFamily="34" charset="-122"/>
                <a:cs typeface="Pretendard" pitchFamily="34" charset="-120"/>
              </a:rPr>
              <a:t>111퍼센트 2025년 매출</a:t>
            </a:r>
            <a:endParaRPr lang="en-US" sz="1150" dirty="0"/>
          </a:p>
        </p:txBody>
      </p:sp>
      <p:sp>
        <p:nvSpPr>
          <p:cNvPr id="20" name="Text 15"/>
          <p:cNvSpPr txBox="1"/>
          <p:nvPr/>
        </p:nvSpPr>
        <p:spPr>
          <a:xfrm>
            <a:off x="5257800" y="3456432"/>
            <a:ext cx="1691640" cy="274320"/>
          </a:xfrm>
          <a:prstGeom prst="rect">
            <a:avLst/>
          </a:prstGeom>
          <a:noFill/>
          <a:ln/>
        </p:spPr>
        <p:txBody>
          <a:bodyPr wrap="square" lIns="0" tIns="0" rIns="0" bIns="0" rtlCol="0" anchor="t"/>
          <a:lstStyle/>
          <a:p>
            <a:pPr marL="0" indent="0">
              <a:buNone/>
            </a:pPr>
            <a:r>
              <a:rPr lang="en-US" sz="1100" dirty="0">
                <a:solidFill>
                  <a:srgbClr val="8C8E93"/>
                </a:solidFill>
                <a:latin typeface="Pretendard" pitchFamily="34" charset="0"/>
                <a:ea typeface="Pretendard" pitchFamily="34" charset="-122"/>
                <a:cs typeface="Pretendard" pitchFamily="34" charset="-120"/>
              </a:rPr>
              <a:t>2024년 1,058억 → +30%</a:t>
            </a:r>
            <a:endParaRPr lang="en-US" sz="1100" dirty="0"/>
          </a:p>
        </p:txBody>
      </p:sp>
      <p:sp>
        <p:nvSpPr>
          <p:cNvPr id="21" name="Shape 16"/>
          <p:cNvSpPr/>
          <p:nvPr/>
        </p:nvSpPr>
        <p:spPr>
          <a:xfrm>
            <a:off x="7223760" y="2148840"/>
            <a:ext cx="19659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22" name="Shape 17"/>
          <p:cNvSpPr/>
          <p:nvPr/>
        </p:nvSpPr>
        <p:spPr>
          <a:xfrm>
            <a:off x="7406640" y="2331720"/>
            <a:ext cx="146304" cy="146304"/>
          </a:xfrm>
          <a:prstGeom prst="ellipse">
            <a:avLst/>
          </a:prstGeom>
          <a:solidFill>
            <a:srgbClr val="6FB848"/>
          </a:solidFill>
          <a:ln w="12700">
            <a:solidFill>
              <a:srgbClr val="6FB848"/>
            </a:solidFill>
            <a:prstDash val="solid"/>
          </a:ln>
        </p:spPr>
      </p:sp>
      <p:sp>
        <p:nvSpPr>
          <p:cNvPr id="23" name="Text 18"/>
          <p:cNvSpPr txBox="1"/>
          <p:nvPr/>
        </p:nvSpPr>
        <p:spPr>
          <a:xfrm>
            <a:off x="7406640" y="2606040"/>
            <a:ext cx="1691640" cy="548640"/>
          </a:xfrm>
          <a:prstGeom prst="rect">
            <a:avLst/>
          </a:prstGeom>
          <a:noFill/>
          <a:ln/>
        </p:spPr>
        <p:txBody>
          <a:bodyPr wrap="square" lIns="0" tIns="0" rIns="0" bIns="0" rtlCol="0" anchor="t"/>
          <a:lstStyle/>
          <a:p>
            <a:pPr marL="0" indent="0">
              <a:buNone/>
            </a:pPr>
            <a:r>
              <a:rPr lang="en-US" sz="2800" b="1" dirty="0">
                <a:solidFill>
                  <a:srgbClr val="1E1F22"/>
                </a:solidFill>
                <a:latin typeface="Pretendard" pitchFamily="34" charset="0"/>
                <a:ea typeface="Pretendard" pitchFamily="34" charset="-122"/>
                <a:cs typeface="Pretendard" pitchFamily="34" charset="-120"/>
              </a:rPr>
              <a:t>255억</a:t>
            </a:r>
            <a:endParaRPr lang="en-US" sz="2800" dirty="0"/>
          </a:p>
        </p:txBody>
      </p:sp>
      <p:sp>
        <p:nvSpPr>
          <p:cNvPr id="24" name="Text 19"/>
          <p:cNvSpPr txBox="1"/>
          <p:nvPr/>
        </p:nvSpPr>
        <p:spPr>
          <a:xfrm>
            <a:off x="7406640" y="3154680"/>
            <a:ext cx="1691640" cy="274320"/>
          </a:xfrm>
          <a:prstGeom prst="rect">
            <a:avLst/>
          </a:prstGeom>
          <a:noFill/>
          <a:ln/>
        </p:spPr>
        <p:txBody>
          <a:bodyPr wrap="square" lIns="0" tIns="0" rIns="0" bIns="0" rtlCol="0" anchor="t"/>
          <a:lstStyle/>
          <a:p>
            <a:pPr marL="0" indent="0">
              <a:buNone/>
            </a:pPr>
            <a:r>
              <a:rPr lang="en-US" sz="1150" b="1" dirty="0">
                <a:solidFill>
                  <a:srgbClr val="5E6066"/>
                </a:solidFill>
                <a:latin typeface="Pretendard" pitchFamily="34" charset="0"/>
                <a:ea typeface="Pretendard" pitchFamily="34" charset="-122"/>
                <a:cs typeface="Pretendard" pitchFamily="34" charset="-120"/>
              </a:rPr>
              <a:t>2025년 영업이익</a:t>
            </a:r>
            <a:endParaRPr lang="en-US" sz="1150" dirty="0"/>
          </a:p>
        </p:txBody>
      </p:sp>
      <p:sp>
        <p:nvSpPr>
          <p:cNvPr id="25" name="Text 20"/>
          <p:cNvSpPr txBox="1"/>
          <p:nvPr/>
        </p:nvSpPr>
        <p:spPr>
          <a:xfrm>
            <a:off x="7406640" y="3456432"/>
            <a:ext cx="1691640" cy="274320"/>
          </a:xfrm>
          <a:prstGeom prst="rect">
            <a:avLst/>
          </a:prstGeom>
          <a:noFill/>
          <a:ln/>
        </p:spPr>
        <p:txBody>
          <a:bodyPr wrap="square" lIns="0" tIns="0" rIns="0" bIns="0" rtlCol="0" anchor="t"/>
          <a:lstStyle/>
          <a:p>
            <a:pPr marL="0" indent="0">
              <a:buNone/>
            </a:pPr>
            <a:r>
              <a:rPr lang="en-US" sz="1100" dirty="0">
                <a:solidFill>
                  <a:srgbClr val="8C8E93"/>
                </a:solidFill>
                <a:latin typeface="Pretendard" pitchFamily="34" charset="0"/>
                <a:ea typeface="Pretendard" pitchFamily="34" charset="-122"/>
                <a:cs typeface="Pretendard" pitchFamily="34" charset="-120"/>
              </a:rPr>
              <a:t>2024년 52억 → 약 4.9배</a:t>
            </a:r>
            <a:endParaRPr lang="en-US" sz="1100" dirty="0"/>
          </a:p>
        </p:txBody>
      </p:sp>
      <p:sp>
        <p:nvSpPr>
          <p:cNvPr id="26" name="Shape 21"/>
          <p:cNvSpPr/>
          <p:nvPr/>
        </p:nvSpPr>
        <p:spPr>
          <a:xfrm>
            <a:off x="9372600" y="2148840"/>
            <a:ext cx="19659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27" name="Shape 22"/>
          <p:cNvSpPr/>
          <p:nvPr/>
        </p:nvSpPr>
        <p:spPr>
          <a:xfrm>
            <a:off x="9555480" y="2331720"/>
            <a:ext cx="146304" cy="146304"/>
          </a:xfrm>
          <a:prstGeom prst="ellipse">
            <a:avLst/>
          </a:prstGeom>
          <a:solidFill>
            <a:srgbClr val="FFCD4A"/>
          </a:solidFill>
          <a:ln w="12700">
            <a:solidFill>
              <a:srgbClr val="FFCD4A"/>
            </a:solidFill>
            <a:prstDash val="solid"/>
          </a:ln>
        </p:spPr>
      </p:sp>
      <p:sp>
        <p:nvSpPr>
          <p:cNvPr id="28" name="Text 23"/>
          <p:cNvSpPr txBox="1"/>
          <p:nvPr/>
        </p:nvSpPr>
        <p:spPr>
          <a:xfrm>
            <a:off x="9555480" y="2606040"/>
            <a:ext cx="1691640" cy="548640"/>
          </a:xfrm>
          <a:prstGeom prst="rect">
            <a:avLst/>
          </a:prstGeom>
          <a:noFill/>
          <a:ln/>
        </p:spPr>
        <p:txBody>
          <a:bodyPr wrap="square" lIns="0" tIns="0" rIns="0" bIns="0" rtlCol="0" anchor="t"/>
          <a:lstStyle/>
          <a:p>
            <a:pPr marL="0" indent="0">
              <a:buNone/>
            </a:pPr>
            <a:r>
              <a:rPr lang="en-US" sz="2800" b="1" dirty="0">
                <a:solidFill>
                  <a:srgbClr val="1E1F22"/>
                </a:solidFill>
                <a:latin typeface="Pretendard" pitchFamily="34" charset="0"/>
                <a:ea typeface="Pretendard" pitchFamily="34" charset="-122"/>
                <a:cs typeface="Pretendard" pitchFamily="34" charset="-120"/>
              </a:rPr>
              <a:t>MAU 6위</a:t>
            </a:r>
            <a:endParaRPr lang="en-US" sz="2800" dirty="0"/>
          </a:p>
        </p:txBody>
      </p:sp>
      <p:sp>
        <p:nvSpPr>
          <p:cNvPr id="29" name="Text 24"/>
          <p:cNvSpPr txBox="1"/>
          <p:nvPr/>
        </p:nvSpPr>
        <p:spPr>
          <a:xfrm>
            <a:off x="9555480" y="3154680"/>
            <a:ext cx="1691640" cy="274320"/>
          </a:xfrm>
          <a:prstGeom prst="rect">
            <a:avLst/>
          </a:prstGeom>
          <a:noFill/>
          <a:ln/>
        </p:spPr>
        <p:txBody>
          <a:bodyPr wrap="square" lIns="0" tIns="0" rIns="0" bIns="0" rtlCol="0" anchor="t"/>
          <a:lstStyle/>
          <a:p>
            <a:pPr marL="0" indent="0">
              <a:buNone/>
            </a:pPr>
            <a:r>
              <a:rPr lang="en-US" sz="1150" b="1" dirty="0">
                <a:solidFill>
                  <a:srgbClr val="5E6066"/>
                </a:solidFill>
                <a:latin typeface="Pretendard" pitchFamily="34" charset="0"/>
                <a:ea typeface="Pretendard" pitchFamily="34" charset="-122"/>
                <a:cs typeface="Pretendard" pitchFamily="34" charset="-120"/>
              </a:rPr>
              <a:t>국내 모바일 게임</a:t>
            </a:r>
            <a:endParaRPr lang="en-US" sz="1150" dirty="0"/>
          </a:p>
        </p:txBody>
      </p:sp>
      <p:sp>
        <p:nvSpPr>
          <p:cNvPr id="30" name="Text 25"/>
          <p:cNvSpPr txBox="1"/>
          <p:nvPr/>
        </p:nvSpPr>
        <p:spPr>
          <a:xfrm>
            <a:off x="9555480" y="3456432"/>
            <a:ext cx="1691640" cy="274320"/>
          </a:xfrm>
          <a:prstGeom prst="rect">
            <a:avLst/>
          </a:prstGeom>
          <a:noFill/>
          <a:ln/>
        </p:spPr>
        <p:txBody>
          <a:bodyPr wrap="square" lIns="0" tIns="0" rIns="0" bIns="0" rtlCol="0" anchor="t"/>
          <a:lstStyle/>
          <a:p>
            <a:pPr marL="0" indent="0">
              <a:buNone/>
            </a:pPr>
            <a:r>
              <a:rPr lang="en-US" sz="1100" dirty="0">
                <a:solidFill>
                  <a:srgbClr val="8C8E93"/>
                </a:solidFill>
                <a:latin typeface="Pretendard" pitchFamily="34" charset="0"/>
                <a:ea typeface="Pretendard" pitchFamily="34" charset="-122"/>
                <a:cs typeface="Pretendard" pitchFamily="34" charset="-120"/>
              </a:rPr>
              <a:t>2024.08 · 매출 11위</a:t>
            </a:r>
            <a:endParaRPr lang="en-US" sz="1100" dirty="0"/>
          </a:p>
        </p:txBody>
      </p:sp>
      <p:sp>
        <p:nvSpPr>
          <p:cNvPr id="31" name="Shape 26"/>
          <p:cNvSpPr/>
          <p:nvPr/>
        </p:nvSpPr>
        <p:spPr>
          <a:xfrm>
            <a:off x="5074920" y="4114800"/>
            <a:ext cx="6263640" cy="1965960"/>
          </a:xfrm>
          <a:prstGeom prst="roundRect">
            <a:avLst>
              <a:gd name="adj" fmla="val 3721"/>
            </a:avLst>
          </a:prstGeom>
          <a:solidFill>
            <a:srgbClr val="494A4E"/>
          </a:solidFill>
          <a:ln w="12700">
            <a:solidFill>
              <a:srgbClr val="494A4E"/>
            </a:solidFill>
            <a:prstDash val="solid"/>
          </a:ln>
          <a:effectLst>
            <a:outerShdw blurRad="76200" dist="25400" dir="5400000" algn="bl" rotWithShape="0">
              <a:srgbClr val="000000">
                <a:alpha val="12000"/>
              </a:srgbClr>
            </a:outerShdw>
          </a:effectLst>
        </p:spPr>
      </p:sp>
      <p:sp>
        <p:nvSpPr>
          <p:cNvPr id="32" name="Text 27"/>
          <p:cNvSpPr txBox="1"/>
          <p:nvPr/>
        </p:nvSpPr>
        <p:spPr>
          <a:xfrm>
            <a:off x="5349240" y="4279392"/>
            <a:ext cx="3657600" cy="365760"/>
          </a:xfrm>
          <a:prstGeom prst="rect">
            <a:avLst/>
          </a:prstGeom>
          <a:noFill/>
          <a:ln/>
        </p:spPr>
        <p:txBody>
          <a:bodyPr wrap="square" lIns="0" tIns="0" rIns="0" bIns="0" rtlCol="0" anchor="t"/>
          <a:lstStyle/>
          <a:p>
            <a:pPr marL="0" indent="0">
              <a:buNone/>
            </a:pPr>
            <a:r>
              <a:rPr lang="en-US" sz="1700" b="1" dirty="0">
                <a:solidFill>
                  <a:srgbClr val="FFFFFF"/>
                </a:solidFill>
                <a:latin typeface="Pretendard" pitchFamily="34" charset="0"/>
                <a:ea typeface="Pretendard" pitchFamily="34" charset="-122"/>
                <a:cs typeface="Pretendard" pitchFamily="34" charset="-120"/>
              </a:rPr>
              <a:t>리스크 신호</a:t>
            </a:r>
            <a:endParaRPr lang="en-US" sz="1700" dirty="0"/>
          </a:p>
        </p:txBody>
      </p:sp>
      <p:sp>
        <p:nvSpPr>
          <p:cNvPr id="33" name="Text 28"/>
          <p:cNvSpPr txBox="1"/>
          <p:nvPr/>
        </p:nvSpPr>
        <p:spPr>
          <a:xfrm>
            <a:off x="5349240" y="4709160"/>
            <a:ext cx="5806440" cy="1325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E9E9EA"/>
                </a:solidFill>
                <a:latin typeface="Pretendard" pitchFamily="34" charset="0"/>
                <a:ea typeface="Pretendard" pitchFamily="34" charset="-122"/>
                <a:cs typeface="Pretendard" pitchFamily="34" charset="-120"/>
              </a:rPr>
              <a:t>2026.02 확률형 콘텐츠의 기획 의도와 다른 동작을 개발사가 인정 → </a:t>
            </a:r>
            <a:r>
              <a:rPr lang="en-US" sz="1350" dirty="0" err="1">
                <a:solidFill>
                  <a:srgbClr val="E9E9EA"/>
                </a:solidFill>
                <a:latin typeface="Pretendard" pitchFamily="34" charset="0"/>
                <a:ea typeface="Pretendard" pitchFamily="34" charset="-122"/>
                <a:cs typeface="Pretendard" pitchFamily="34" charset="-120"/>
              </a:rPr>
              <a:t>보상</a:t>
            </a:r>
            <a:r>
              <a:rPr lang="en-US" sz="1350" dirty="0">
                <a:solidFill>
                  <a:srgbClr val="E9E9EA"/>
                </a:solidFill>
                <a:latin typeface="Pretendard" pitchFamily="34" charset="0"/>
                <a:ea typeface="Pretendard" pitchFamily="34" charset="-122"/>
                <a:cs typeface="Pretendard" pitchFamily="34" charset="-120"/>
              </a:rPr>
              <a:t> 지급에도 이용자 불신 지속, 이용자협회의 공정위 신고로 확산</a:t>
            </a:r>
            <a:endParaRPr lang="en-US" sz="1350" dirty="0"/>
          </a:p>
          <a:p>
            <a:pPr marL="342900" indent="-342900">
              <a:spcAft>
                <a:spcPts val="600"/>
              </a:spcAft>
              <a:buSzPct val="100000"/>
              <a:buChar char="•"/>
            </a:pPr>
            <a:r>
              <a:rPr lang="en-US" sz="1350" dirty="0" err="1">
                <a:solidFill>
                  <a:srgbClr val="E9E9EA"/>
                </a:solidFill>
                <a:latin typeface="Pretendard" pitchFamily="34" charset="0"/>
                <a:ea typeface="Pretendard" pitchFamily="34" charset="-122"/>
                <a:cs typeface="Pretendard" pitchFamily="34" charset="-120"/>
              </a:rPr>
              <a:t>협동</a:t>
            </a:r>
            <a:r>
              <a:rPr lang="en-US" sz="1350" dirty="0">
                <a:solidFill>
                  <a:srgbClr val="E9E9EA"/>
                </a:solidFill>
                <a:latin typeface="Pretendard" pitchFamily="34" charset="0"/>
                <a:ea typeface="Pretendard" pitchFamily="34" charset="-122"/>
                <a:cs typeface="Pretendard" pitchFamily="34" charset="-120"/>
              </a:rPr>
              <a:t> 중 </a:t>
            </a:r>
            <a:r>
              <a:rPr lang="en-US" sz="1350" dirty="0" err="1">
                <a:solidFill>
                  <a:srgbClr val="E9E9EA"/>
                </a:solidFill>
                <a:latin typeface="Pretendard" pitchFamily="34" charset="0"/>
                <a:ea typeface="Pretendard" pitchFamily="34" charset="-122"/>
                <a:cs typeface="Pretendard" pitchFamily="34" charset="-120"/>
              </a:rPr>
              <a:t>끊김</a:t>
            </a:r>
            <a:r>
              <a:rPr lang="ko-KR" altLang="en-US" sz="1350" dirty="0">
                <a:solidFill>
                  <a:srgbClr val="E9E9EA"/>
                </a:solidFill>
                <a:latin typeface="Pretendard" pitchFamily="34" charset="0"/>
                <a:ea typeface="Pretendard" pitchFamily="34" charset="-122"/>
                <a:cs typeface="Pretendard" pitchFamily="34" charset="-120"/>
              </a:rPr>
              <a:t>으로 무기력한 패배</a:t>
            </a:r>
            <a:r>
              <a:rPr lang="en-US" altLang="ko-KR" sz="1350" dirty="0">
                <a:solidFill>
                  <a:srgbClr val="E9E9EA"/>
                </a:solidFill>
                <a:latin typeface="Pretendard" pitchFamily="34" charset="0"/>
                <a:ea typeface="Pretendard" pitchFamily="34" charset="-122"/>
                <a:cs typeface="Pretendard" pitchFamily="34" charset="-120"/>
              </a:rPr>
              <a:t>,</a:t>
            </a:r>
            <a:r>
              <a:rPr lang="en-US" sz="1350" dirty="0">
                <a:solidFill>
                  <a:srgbClr val="E9E9EA"/>
                </a:solidFill>
                <a:latin typeface="Pretendard" pitchFamily="34" charset="0"/>
                <a:ea typeface="Pretendard" pitchFamily="34" charset="-122"/>
                <a:cs typeface="Pretendard" pitchFamily="34" charset="-120"/>
              </a:rPr>
              <a:t> · 신화석 </a:t>
            </a:r>
            <a:r>
              <a:rPr lang="en-US" sz="1350" dirty="0" err="1">
                <a:solidFill>
                  <a:srgbClr val="E9E9EA"/>
                </a:solidFill>
                <a:latin typeface="Pretendard" pitchFamily="34" charset="0"/>
                <a:ea typeface="Pretendard" pitchFamily="34" charset="-122"/>
                <a:cs typeface="Pretendard" pitchFamily="34" charset="-120"/>
              </a:rPr>
              <a:t>수급</a:t>
            </a:r>
            <a:r>
              <a:rPr lang="en-US" sz="1350" dirty="0">
                <a:solidFill>
                  <a:srgbClr val="E9E9EA"/>
                </a:solidFill>
                <a:latin typeface="Pretendard" pitchFamily="34" charset="0"/>
                <a:ea typeface="Pretendard" pitchFamily="34" charset="-122"/>
                <a:cs typeface="Pretendard" pitchFamily="34" charset="-120"/>
              </a:rPr>
              <a:t> </a:t>
            </a:r>
            <a:r>
              <a:rPr lang="ko-KR" altLang="en-US" sz="1350" dirty="0">
                <a:solidFill>
                  <a:srgbClr val="E9E9EA"/>
                </a:solidFill>
                <a:latin typeface="Pretendard" pitchFamily="34" charset="0"/>
                <a:ea typeface="Pretendard" pitchFamily="34" charset="-122"/>
                <a:cs typeface="Pretendard" pitchFamily="34" charset="-120"/>
              </a:rPr>
              <a:t>부족</a:t>
            </a:r>
            <a:r>
              <a:rPr lang="en-US" sz="1350" dirty="0">
                <a:solidFill>
                  <a:srgbClr val="E9E9EA"/>
                </a:solidFill>
                <a:latin typeface="Pretendard" pitchFamily="34" charset="0"/>
                <a:ea typeface="Pretendard" pitchFamily="34" charset="-122"/>
                <a:cs typeface="Pretendard" pitchFamily="34" charset="-120"/>
              </a:rPr>
              <a:t> · </a:t>
            </a:r>
            <a:r>
              <a:rPr lang="ko-KR" altLang="en-US" sz="1350" dirty="0">
                <a:solidFill>
                  <a:srgbClr val="E9E9EA"/>
                </a:solidFill>
                <a:latin typeface="Pretendard" pitchFamily="34" charset="0"/>
                <a:ea typeface="Pretendard" pitchFamily="34" charset="-122"/>
                <a:cs typeface="Pretendard" pitchFamily="34" charset="-120"/>
              </a:rPr>
              <a:t>높은 난이도로 클리어 불가</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문제 정의</a:t>
            </a:r>
            <a:endParaRPr lang="en-US" sz="3000" dirty="0"/>
          </a:p>
        </p:txBody>
      </p:sp>
      <p:sp>
        <p:nvSpPr>
          <p:cNvPr id="14" name="Text 10"/>
          <p:cNvSpPr txBox="1"/>
          <p:nvPr/>
        </p:nvSpPr>
        <p:spPr>
          <a:xfrm>
            <a:off x="1325880" y="2103120"/>
            <a:ext cx="2194560" cy="274320"/>
          </a:xfrm>
          <a:prstGeom prst="rect">
            <a:avLst/>
          </a:prstGeom>
          <a:noFill/>
          <a:ln/>
        </p:spPr>
        <p:txBody>
          <a:bodyPr wrap="square" lIns="0" tIns="0" rIns="0" bIns="0" rtlCol="0" anchor="t"/>
          <a:lstStyle/>
          <a:p>
            <a:pPr marL="0" indent="0">
              <a:buNone/>
            </a:pPr>
            <a:r>
              <a:rPr lang="en-US" sz="1200" b="1" dirty="0">
                <a:solidFill>
                  <a:srgbClr val="8C8E93"/>
                </a:solidFill>
                <a:latin typeface="Pretendard" pitchFamily="34" charset="0"/>
                <a:ea typeface="Pretendard" pitchFamily="34" charset="-122"/>
                <a:cs typeface="Pretendard" pitchFamily="34" charset="-120"/>
              </a:rPr>
              <a:t>이탈 요인</a:t>
            </a:r>
            <a:endParaRPr lang="en-US" sz="1200" dirty="0"/>
          </a:p>
        </p:txBody>
      </p:sp>
      <p:sp>
        <p:nvSpPr>
          <p:cNvPr id="15" name="Text 11"/>
          <p:cNvSpPr txBox="1"/>
          <p:nvPr/>
        </p:nvSpPr>
        <p:spPr>
          <a:xfrm>
            <a:off x="3520440" y="2103120"/>
            <a:ext cx="3108960" cy="274320"/>
          </a:xfrm>
          <a:prstGeom prst="rect">
            <a:avLst/>
          </a:prstGeom>
          <a:noFill/>
          <a:ln/>
        </p:spPr>
        <p:txBody>
          <a:bodyPr wrap="square" lIns="0" tIns="0" rIns="0" bIns="0" rtlCol="0" anchor="t"/>
          <a:lstStyle/>
          <a:p>
            <a:pPr marL="0" indent="0">
              <a:buNone/>
            </a:pPr>
            <a:r>
              <a:rPr lang="en-US" sz="1200" b="1" dirty="0" err="1">
                <a:solidFill>
                  <a:srgbClr val="8C8E93"/>
                </a:solidFill>
                <a:latin typeface="Pretendard" pitchFamily="34" charset="0"/>
                <a:ea typeface="Pretendard" pitchFamily="34" charset="-122"/>
                <a:cs typeface="Pretendard" pitchFamily="34" charset="-120"/>
              </a:rPr>
              <a:t>근거</a:t>
            </a:r>
            <a:r>
              <a:rPr lang="en-US" sz="1200" b="1" dirty="0">
                <a:solidFill>
                  <a:srgbClr val="8C8E93"/>
                </a:solidFill>
                <a:latin typeface="Pretendard" pitchFamily="34" charset="0"/>
                <a:ea typeface="Pretendard" pitchFamily="34" charset="-122"/>
                <a:cs typeface="Pretendard" pitchFamily="34" charset="-120"/>
              </a:rPr>
              <a:t> </a:t>
            </a:r>
            <a:endParaRPr lang="en-US" sz="1200" dirty="0"/>
          </a:p>
        </p:txBody>
      </p:sp>
      <p:sp>
        <p:nvSpPr>
          <p:cNvPr id="16" name="Text 12"/>
          <p:cNvSpPr txBox="1"/>
          <p:nvPr/>
        </p:nvSpPr>
        <p:spPr>
          <a:xfrm>
            <a:off x="6812280" y="2103120"/>
            <a:ext cx="2194560" cy="274320"/>
          </a:xfrm>
          <a:prstGeom prst="rect">
            <a:avLst/>
          </a:prstGeom>
          <a:noFill/>
          <a:ln/>
        </p:spPr>
        <p:txBody>
          <a:bodyPr wrap="square" lIns="0" tIns="0" rIns="0" bIns="0" rtlCol="0" anchor="t"/>
          <a:lstStyle/>
          <a:p>
            <a:pPr marL="0" indent="0">
              <a:buNone/>
            </a:pPr>
            <a:r>
              <a:rPr lang="en-US" sz="1200" b="1" dirty="0">
                <a:solidFill>
                  <a:srgbClr val="8C8E93"/>
                </a:solidFill>
                <a:latin typeface="Pretendard" pitchFamily="34" charset="0"/>
                <a:ea typeface="Pretendard" pitchFamily="34" charset="-122"/>
                <a:cs typeface="Pretendard" pitchFamily="34" charset="-120"/>
              </a:rPr>
              <a:t>유저 경험 영향</a:t>
            </a:r>
            <a:endParaRPr lang="en-US" sz="1200" dirty="0"/>
          </a:p>
        </p:txBody>
      </p:sp>
      <p:sp>
        <p:nvSpPr>
          <p:cNvPr id="17" name="Text 13"/>
          <p:cNvSpPr txBox="1"/>
          <p:nvPr/>
        </p:nvSpPr>
        <p:spPr>
          <a:xfrm>
            <a:off x="9144000" y="2103120"/>
            <a:ext cx="2194560" cy="274320"/>
          </a:xfrm>
          <a:prstGeom prst="rect">
            <a:avLst/>
          </a:prstGeom>
          <a:noFill/>
          <a:ln/>
        </p:spPr>
        <p:txBody>
          <a:bodyPr wrap="square" lIns="0" tIns="0" rIns="0" bIns="0" rtlCol="0" anchor="t"/>
          <a:lstStyle/>
          <a:p>
            <a:pPr marL="0" indent="0">
              <a:buNone/>
            </a:pPr>
            <a:endParaRPr lang="en-US" sz="1200" dirty="0"/>
          </a:p>
        </p:txBody>
      </p:sp>
      <p:sp>
        <p:nvSpPr>
          <p:cNvPr id="19" name="Shape 15"/>
          <p:cNvSpPr/>
          <p:nvPr/>
        </p:nvSpPr>
        <p:spPr>
          <a:xfrm>
            <a:off x="777240" y="2450592"/>
            <a:ext cx="10607040" cy="804672"/>
          </a:xfrm>
          <a:prstGeom prst="roundRect">
            <a:avLst>
              <a:gd name="adj" fmla="val 6818"/>
            </a:avLst>
          </a:prstGeom>
          <a:solidFill>
            <a:srgbClr val="F6F6F6"/>
          </a:solidFill>
          <a:ln w="12700">
            <a:solidFill>
              <a:srgbClr val="E4E4E4"/>
            </a:solidFill>
            <a:prstDash val="solid"/>
          </a:ln>
        </p:spPr>
      </p:sp>
      <p:sp>
        <p:nvSpPr>
          <p:cNvPr id="20" name="Shape 16"/>
          <p:cNvSpPr/>
          <p:nvPr/>
        </p:nvSpPr>
        <p:spPr>
          <a:xfrm>
            <a:off x="914400" y="2660904"/>
            <a:ext cx="384048" cy="384048"/>
          </a:xfrm>
          <a:prstGeom prst="ellipse">
            <a:avLst/>
          </a:prstGeom>
          <a:solidFill>
            <a:srgbClr val="FC5230"/>
          </a:solidFill>
          <a:ln w="12700">
            <a:solidFill>
              <a:srgbClr val="FC5230"/>
            </a:solidFill>
            <a:prstDash val="solid"/>
          </a:ln>
        </p:spPr>
      </p:sp>
      <p:sp>
        <p:nvSpPr>
          <p:cNvPr id="21" name="Text 17"/>
          <p:cNvSpPr txBox="1"/>
          <p:nvPr/>
        </p:nvSpPr>
        <p:spPr>
          <a:xfrm>
            <a:off x="914400" y="266090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22" name="Text 18"/>
          <p:cNvSpPr txBox="1"/>
          <p:nvPr/>
        </p:nvSpPr>
        <p:spPr>
          <a:xfrm>
            <a:off x="1417320" y="2578608"/>
            <a:ext cx="20574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실수 없는 패배</a:t>
            </a:r>
            <a:endParaRPr lang="en-US" sz="1500" dirty="0"/>
          </a:p>
        </p:txBody>
      </p:sp>
      <p:sp>
        <p:nvSpPr>
          <p:cNvPr id="23" name="Text 19"/>
          <p:cNvSpPr txBox="1"/>
          <p:nvPr/>
        </p:nvSpPr>
        <p:spPr>
          <a:xfrm>
            <a:off x="1417320" y="2907792"/>
            <a:ext cx="2103120" cy="256032"/>
          </a:xfrm>
          <a:prstGeom prst="rect">
            <a:avLst/>
          </a:prstGeom>
          <a:noFill/>
          <a:ln/>
        </p:spPr>
        <p:txBody>
          <a:bodyPr wrap="square" lIns="0" tIns="0" rIns="0" bIns="0" rtlCol="0" anchor="t"/>
          <a:lstStyle/>
          <a:p>
            <a:pPr marL="0" indent="0">
              <a:buNone/>
            </a:pPr>
            <a:r>
              <a:rPr lang="en-US" sz="1050" dirty="0">
                <a:solidFill>
                  <a:srgbClr val="8C8E93"/>
                </a:solidFill>
                <a:latin typeface="Pretendard" pitchFamily="34" charset="0"/>
                <a:ea typeface="Pretendard" pitchFamily="34" charset="-122"/>
                <a:cs typeface="Pretendard" pitchFamily="34" charset="-120"/>
              </a:rPr>
              <a:t>파트너 이탈 · 보스 패턴 · 미션 미달</a:t>
            </a:r>
            <a:endParaRPr lang="en-US" sz="1050" dirty="0"/>
          </a:p>
        </p:txBody>
      </p:sp>
      <p:sp>
        <p:nvSpPr>
          <p:cNvPr id="24" name="Text 20"/>
          <p:cNvSpPr txBox="1"/>
          <p:nvPr/>
        </p:nvSpPr>
        <p:spPr>
          <a:xfrm>
            <a:off x="3520440" y="2505456"/>
            <a:ext cx="3154680" cy="694944"/>
          </a:xfrm>
          <a:prstGeom prst="rect">
            <a:avLst/>
          </a:prstGeom>
          <a:noFill/>
          <a:ln/>
        </p:spPr>
        <p:txBody>
          <a:bodyPr wrap="square" lIns="0" tIns="0" rIns="0" bIns="0" rtlCol="0" anchor="ctr"/>
          <a:lstStyle/>
          <a:p>
            <a:pPr marL="0" indent="0">
              <a:buNone/>
            </a:pPr>
            <a:r>
              <a:rPr lang="en-US" sz="1100" dirty="0">
                <a:solidFill>
                  <a:srgbClr val="5E6066"/>
                </a:solidFill>
                <a:latin typeface="Pretendard" pitchFamily="34" charset="0"/>
                <a:ea typeface="Pretendard" pitchFamily="34" charset="-122"/>
                <a:cs typeface="Pretendard" pitchFamily="34" charset="-120"/>
              </a:rPr>
              <a:t> </a:t>
            </a:r>
            <a:r>
              <a:rPr lang="ko-KR" altLang="en-US" sz="1100" dirty="0">
                <a:solidFill>
                  <a:srgbClr val="5E6066"/>
                </a:solidFill>
                <a:latin typeface="Pretendard" pitchFamily="34" charset="0"/>
                <a:ea typeface="Pretendard" pitchFamily="34" charset="-122"/>
                <a:cs typeface="Pretendard" pitchFamily="34" charset="-120"/>
              </a:rPr>
              <a:t>파트너 이탈로 무기력한 패배</a:t>
            </a:r>
            <a:r>
              <a:rPr lang="en-US" altLang="ko-KR" sz="1100" dirty="0">
                <a:solidFill>
                  <a:srgbClr val="5E6066"/>
                </a:solidFill>
                <a:latin typeface="Pretendard" pitchFamily="34" charset="0"/>
                <a:ea typeface="Pretendard" pitchFamily="34" charset="-122"/>
                <a:cs typeface="Pretendard" pitchFamily="34" charset="-120"/>
              </a:rPr>
              <a:t>,</a:t>
            </a:r>
            <a:r>
              <a:rPr lang="en-US" sz="1100" dirty="0">
                <a:solidFill>
                  <a:srgbClr val="5E6066"/>
                </a:solidFill>
                <a:latin typeface="Pretendard" pitchFamily="34" charset="0"/>
                <a:ea typeface="Pretendard" pitchFamily="34" charset="-122"/>
                <a:cs typeface="Pretendard" pitchFamily="34" charset="-120"/>
              </a:rPr>
              <a:t> 스턴 타이밍 무시·딜러 지목 패턴, 미션 요구치 하나로 보상 상실</a:t>
            </a:r>
            <a:endParaRPr lang="en-US" sz="1100" dirty="0"/>
          </a:p>
        </p:txBody>
      </p:sp>
      <p:sp>
        <p:nvSpPr>
          <p:cNvPr id="25" name="Text 21"/>
          <p:cNvSpPr txBox="1"/>
          <p:nvPr/>
        </p:nvSpPr>
        <p:spPr>
          <a:xfrm>
            <a:off x="6812280" y="2560320"/>
            <a:ext cx="2194560" cy="603504"/>
          </a:xfrm>
          <a:prstGeom prst="rect">
            <a:avLst/>
          </a:prstGeom>
          <a:noFill/>
          <a:ln/>
        </p:spPr>
        <p:txBody>
          <a:bodyPr wrap="square" lIns="0" tIns="0" rIns="0" bIns="0" rtlCol="0" anchor="ctr"/>
          <a:lstStyle/>
          <a:p>
            <a:pPr marL="0" indent="0">
              <a:buNone/>
            </a:pPr>
            <a:r>
              <a:rPr lang="ko-KR" altLang="en-US" sz="1150" dirty="0">
                <a:solidFill>
                  <a:srgbClr val="1E1F22"/>
                </a:solidFill>
                <a:latin typeface="Pretendard" pitchFamily="34" charset="0"/>
                <a:ea typeface="Pretendard" pitchFamily="34" charset="-122"/>
                <a:cs typeface="Pretendard" pitchFamily="34" charset="-120"/>
              </a:rPr>
              <a:t>파트너 이탈이나 보스 패턴에  따라</a:t>
            </a:r>
            <a:r>
              <a:rPr lang="en-US" sz="1150" dirty="0">
                <a:solidFill>
                  <a:srgbClr val="1E1F22"/>
                </a:solidFill>
                <a:latin typeface="Pretendard" pitchFamily="34" charset="0"/>
                <a:ea typeface="Pretendard" pitchFamily="34" charset="-122"/>
                <a:cs typeface="Pretendard" pitchFamily="34" charset="-120"/>
              </a:rPr>
              <a:t> </a:t>
            </a:r>
            <a:r>
              <a:rPr lang="ko-KR" altLang="en-US" sz="1150" dirty="0">
                <a:solidFill>
                  <a:srgbClr val="1E1F22"/>
                </a:solidFill>
                <a:latin typeface="Pretendard" pitchFamily="34" charset="0"/>
                <a:ea typeface="Pretendard" pitchFamily="34" charset="-122"/>
                <a:cs typeface="Pretendard" pitchFamily="34" charset="-120"/>
              </a:rPr>
              <a:t>달라지는</a:t>
            </a:r>
            <a:r>
              <a:rPr lang="en-US" sz="1150" dirty="0">
                <a:solidFill>
                  <a:srgbClr val="1E1F22"/>
                </a:solidFill>
                <a:latin typeface="Pretendard" pitchFamily="34" charset="0"/>
                <a:ea typeface="Pretendard" pitchFamily="34" charset="-122"/>
                <a:cs typeface="Pretendard" pitchFamily="34" charset="-120"/>
              </a:rPr>
              <a:t> </a:t>
            </a:r>
            <a:r>
              <a:rPr lang="ko-KR" altLang="en-US" sz="1150" dirty="0">
                <a:solidFill>
                  <a:srgbClr val="1E1F22"/>
                </a:solidFill>
                <a:latin typeface="Pretendard" pitchFamily="34" charset="0"/>
                <a:ea typeface="Pretendard" pitchFamily="34" charset="-122"/>
                <a:cs typeface="Pretendard" pitchFamily="34" charset="-120"/>
              </a:rPr>
              <a:t>승패</a:t>
            </a:r>
            <a:r>
              <a:rPr lang="en-US" sz="1150" dirty="0">
                <a:solidFill>
                  <a:srgbClr val="1E1F22"/>
                </a:solidFill>
                <a:latin typeface="Pretendard" pitchFamily="34" charset="0"/>
                <a:ea typeface="Pretendard" pitchFamily="34" charset="-122"/>
                <a:cs typeface="Pretendard" pitchFamily="34" charset="-120"/>
              </a:rPr>
              <a:t> 경험 → </a:t>
            </a:r>
            <a:r>
              <a:rPr lang="en-US" sz="1150" dirty="0" err="1">
                <a:solidFill>
                  <a:srgbClr val="1E1F22"/>
                </a:solidFill>
                <a:latin typeface="Pretendard" pitchFamily="34" charset="0"/>
                <a:ea typeface="Pretendard" pitchFamily="34" charset="-122"/>
                <a:cs typeface="Pretendard" pitchFamily="34" charset="-120"/>
              </a:rPr>
              <a:t>실수</a:t>
            </a:r>
            <a:r>
              <a:rPr lang="en-US" sz="1150" dirty="0">
                <a:solidFill>
                  <a:srgbClr val="1E1F22"/>
                </a:solidFill>
                <a:latin typeface="Pretendard" pitchFamily="34" charset="0"/>
                <a:ea typeface="Pretendard" pitchFamily="34" charset="-122"/>
                <a:cs typeface="Pretendard" pitchFamily="34" charset="-120"/>
              </a:rPr>
              <a:t> </a:t>
            </a:r>
            <a:r>
              <a:rPr lang="ko-KR" altLang="en-US" sz="1150" dirty="0">
                <a:solidFill>
                  <a:srgbClr val="1E1F22"/>
                </a:solidFill>
                <a:latin typeface="Pretendard" pitchFamily="34" charset="0"/>
                <a:ea typeface="Pretendard" pitchFamily="34" charset="-122"/>
                <a:cs typeface="Pretendard" pitchFamily="34" charset="-120"/>
              </a:rPr>
              <a:t>나 스펙 부족 </a:t>
            </a:r>
            <a:r>
              <a:rPr lang="en-US" sz="1150" dirty="0" err="1">
                <a:solidFill>
                  <a:srgbClr val="1E1F22"/>
                </a:solidFill>
                <a:latin typeface="Pretendard" pitchFamily="34" charset="0"/>
                <a:ea typeface="Pretendard" pitchFamily="34" charset="-122"/>
                <a:cs typeface="Pretendard" pitchFamily="34" charset="-120"/>
              </a:rPr>
              <a:t>보다</a:t>
            </a:r>
            <a:r>
              <a:rPr lang="en-US" sz="1150" dirty="0">
                <a:solidFill>
                  <a:srgbClr val="1E1F22"/>
                </a:solidFill>
                <a:latin typeface="Pretendard" pitchFamily="34" charset="0"/>
                <a:ea typeface="Pretendard" pitchFamily="34" charset="-122"/>
                <a:cs typeface="Pretendard" pitchFamily="34" charset="-120"/>
              </a:rPr>
              <a:t> 훨씬 오래 남는 불만</a:t>
            </a:r>
            <a:endParaRPr lang="en-US" sz="1150" dirty="0"/>
          </a:p>
        </p:txBody>
      </p:sp>
      <p:sp>
        <p:nvSpPr>
          <p:cNvPr id="29" name="Shape 25"/>
          <p:cNvSpPr/>
          <p:nvPr/>
        </p:nvSpPr>
        <p:spPr>
          <a:xfrm>
            <a:off x="777240" y="3383280"/>
            <a:ext cx="10607040" cy="804672"/>
          </a:xfrm>
          <a:prstGeom prst="roundRect">
            <a:avLst>
              <a:gd name="adj" fmla="val 6818"/>
            </a:avLst>
          </a:prstGeom>
          <a:solidFill>
            <a:srgbClr val="F6F6F6"/>
          </a:solidFill>
          <a:ln w="12700">
            <a:solidFill>
              <a:srgbClr val="E4E4E4"/>
            </a:solidFill>
            <a:prstDash val="solid"/>
          </a:ln>
        </p:spPr>
      </p:sp>
      <p:sp>
        <p:nvSpPr>
          <p:cNvPr id="30" name="Shape 26"/>
          <p:cNvSpPr/>
          <p:nvPr/>
        </p:nvSpPr>
        <p:spPr>
          <a:xfrm>
            <a:off x="914400" y="3593592"/>
            <a:ext cx="384048" cy="384048"/>
          </a:xfrm>
          <a:prstGeom prst="ellipse">
            <a:avLst/>
          </a:prstGeom>
          <a:solidFill>
            <a:srgbClr val="FFCD4A"/>
          </a:solidFill>
          <a:ln w="12700">
            <a:solidFill>
              <a:srgbClr val="FFCD4A"/>
            </a:solidFill>
            <a:prstDash val="solid"/>
          </a:ln>
        </p:spPr>
      </p:sp>
      <p:sp>
        <p:nvSpPr>
          <p:cNvPr id="31" name="Text 27"/>
          <p:cNvSpPr txBox="1"/>
          <p:nvPr/>
        </p:nvSpPr>
        <p:spPr>
          <a:xfrm>
            <a:off x="914400" y="3593592"/>
            <a:ext cx="384048" cy="384048"/>
          </a:xfrm>
          <a:prstGeom prst="rect">
            <a:avLst/>
          </a:prstGeom>
          <a:noFill/>
          <a:ln/>
        </p:spPr>
        <p:txBody>
          <a:bodyPr wrap="square" lIns="0" tIns="0" rIns="0" bIns="0" rtlCol="0" anchor="ctr"/>
          <a:lstStyle/>
          <a:p>
            <a:pPr marL="0" indent="0" algn="ctr">
              <a:buNone/>
            </a:pPr>
            <a:r>
              <a:rPr lang="en-US" sz="1600" b="1" dirty="0">
                <a:solidFill>
                  <a:srgbClr val="1E1F22"/>
                </a:solidFill>
                <a:latin typeface="Pretendard" pitchFamily="34" charset="0"/>
                <a:ea typeface="Pretendard" pitchFamily="34" charset="-122"/>
                <a:cs typeface="Pretendard" pitchFamily="34" charset="-120"/>
              </a:rPr>
              <a:t>2</a:t>
            </a:r>
            <a:endParaRPr lang="en-US" sz="1600" dirty="0"/>
          </a:p>
        </p:txBody>
      </p:sp>
      <p:sp>
        <p:nvSpPr>
          <p:cNvPr id="32" name="Text 28"/>
          <p:cNvSpPr txBox="1"/>
          <p:nvPr/>
        </p:nvSpPr>
        <p:spPr>
          <a:xfrm>
            <a:off x="1417320" y="3511296"/>
            <a:ext cx="20574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매칭 불균형 · 소통 부재</a:t>
            </a:r>
            <a:endParaRPr lang="en-US" sz="1500" dirty="0"/>
          </a:p>
        </p:txBody>
      </p:sp>
      <p:sp>
        <p:nvSpPr>
          <p:cNvPr id="33" name="Text 29"/>
          <p:cNvSpPr txBox="1"/>
          <p:nvPr/>
        </p:nvSpPr>
        <p:spPr>
          <a:xfrm>
            <a:off x="1417320" y="3840480"/>
            <a:ext cx="2103120" cy="256032"/>
          </a:xfrm>
          <a:prstGeom prst="rect">
            <a:avLst/>
          </a:prstGeom>
          <a:noFill/>
          <a:ln/>
        </p:spPr>
        <p:txBody>
          <a:bodyPr wrap="square" lIns="0" tIns="0" rIns="0" bIns="0" rtlCol="0" anchor="t"/>
          <a:lstStyle/>
          <a:p>
            <a:pPr marL="0" indent="0">
              <a:buNone/>
            </a:pPr>
            <a:r>
              <a:rPr lang="en-US" sz="1050" dirty="0">
                <a:solidFill>
                  <a:srgbClr val="8C8E93"/>
                </a:solidFill>
                <a:latin typeface="Pretendard" pitchFamily="34" charset="0"/>
                <a:ea typeface="Pretendard" pitchFamily="34" charset="-122"/>
                <a:cs typeface="Pretendard" pitchFamily="34" charset="-120"/>
              </a:rPr>
              <a:t>역캐리 · 트롤링</a:t>
            </a:r>
            <a:endParaRPr lang="en-US" sz="1050" dirty="0"/>
          </a:p>
        </p:txBody>
      </p:sp>
      <p:sp>
        <p:nvSpPr>
          <p:cNvPr id="34" name="Text 30"/>
          <p:cNvSpPr txBox="1"/>
          <p:nvPr/>
        </p:nvSpPr>
        <p:spPr>
          <a:xfrm>
            <a:off x="3520440" y="3438144"/>
            <a:ext cx="3154680" cy="694944"/>
          </a:xfrm>
          <a:prstGeom prst="rect">
            <a:avLst/>
          </a:prstGeom>
          <a:noFill/>
          <a:ln/>
        </p:spPr>
        <p:txBody>
          <a:bodyPr wrap="square" lIns="0" tIns="0" rIns="0" bIns="0" rtlCol="0" anchor="ctr"/>
          <a:lstStyle/>
          <a:p>
            <a:pPr marL="0" indent="0">
              <a:buNone/>
            </a:pPr>
            <a:r>
              <a:rPr lang="en-US" sz="1100" dirty="0">
                <a:solidFill>
                  <a:srgbClr val="5E6066"/>
                </a:solidFill>
                <a:latin typeface="Pretendard" pitchFamily="34" charset="0"/>
                <a:ea typeface="Pretendard" pitchFamily="34" charset="-122"/>
                <a:cs typeface="Pretendard" pitchFamily="34" charset="-120"/>
              </a:rPr>
              <a:t> </a:t>
            </a:r>
            <a:r>
              <a:rPr lang="ko-KR" altLang="en-US" sz="1100" dirty="0">
                <a:solidFill>
                  <a:srgbClr val="5E6066"/>
                </a:solidFill>
                <a:latin typeface="Pretendard" pitchFamily="34" charset="0"/>
                <a:ea typeface="Pretendard" pitchFamily="34" charset="-122"/>
                <a:cs typeface="Pretendard" pitchFamily="34" charset="-120"/>
              </a:rPr>
              <a:t>의도적인 트롤</a:t>
            </a:r>
            <a:r>
              <a:rPr lang="en-US" altLang="ko-KR" sz="1100" dirty="0">
                <a:solidFill>
                  <a:srgbClr val="5E6066"/>
                </a:solidFill>
                <a:latin typeface="Pretendard" pitchFamily="34" charset="0"/>
                <a:ea typeface="Pretendard" pitchFamily="34" charset="-122"/>
                <a:cs typeface="Pretendard" pitchFamily="34" charset="-120"/>
              </a:rPr>
              <a:t>, </a:t>
            </a:r>
            <a:r>
              <a:rPr lang="en-US" sz="1100" dirty="0" err="1">
                <a:solidFill>
                  <a:srgbClr val="5E6066"/>
                </a:solidFill>
                <a:latin typeface="Pretendard" pitchFamily="34" charset="0"/>
                <a:ea typeface="Pretendard" pitchFamily="34" charset="-122"/>
                <a:cs typeface="Pretendard" pitchFamily="34" charset="-120"/>
              </a:rPr>
              <a:t>채팅·이모티콘을</a:t>
            </a:r>
            <a:r>
              <a:rPr lang="en-US" sz="1100" dirty="0">
                <a:solidFill>
                  <a:srgbClr val="5E6066"/>
                </a:solidFill>
                <a:latin typeface="Pretendard" pitchFamily="34" charset="0"/>
                <a:ea typeface="Pretendard" pitchFamily="34" charset="-122"/>
                <a:cs typeface="Pretendard" pitchFamily="34" charset="-120"/>
              </a:rPr>
              <a:t> 무시하는 파트너, 긴 판당 플레이 시간</a:t>
            </a:r>
            <a:endParaRPr lang="en-US" sz="1100" dirty="0"/>
          </a:p>
        </p:txBody>
      </p:sp>
      <p:sp>
        <p:nvSpPr>
          <p:cNvPr id="35" name="Text 31"/>
          <p:cNvSpPr txBox="1"/>
          <p:nvPr/>
        </p:nvSpPr>
        <p:spPr>
          <a:xfrm>
            <a:off x="6812280" y="3493008"/>
            <a:ext cx="2194560" cy="603504"/>
          </a:xfrm>
          <a:prstGeom prst="rect">
            <a:avLst/>
          </a:prstGeom>
          <a:noFill/>
          <a:ln/>
        </p:spPr>
        <p:txBody>
          <a:bodyPr wrap="square" lIns="0" tIns="0" rIns="0" bIns="0" rtlCol="0" anchor="ctr"/>
          <a:lstStyle/>
          <a:p>
            <a:pPr marL="0" indent="0">
              <a:buNone/>
            </a:pPr>
            <a:r>
              <a:rPr lang="en-US" sz="1150" dirty="0">
                <a:solidFill>
                  <a:srgbClr val="1E1F22"/>
                </a:solidFill>
                <a:latin typeface="Pretendard" pitchFamily="34" charset="0"/>
                <a:ea typeface="Pretendard" pitchFamily="34" charset="-122"/>
                <a:cs typeface="Pretendard" pitchFamily="34" charset="-120"/>
              </a:rPr>
              <a:t>협동이 필수인데 조율 </a:t>
            </a:r>
            <a:r>
              <a:rPr lang="en-US" sz="1150" dirty="0" err="1">
                <a:solidFill>
                  <a:srgbClr val="1E1F22"/>
                </a:solidFill>
                <a:latin typeface="Pretendard" pitchFamily="34" charset="0"/>
                <a:ea typeface="Pretendard" pitchFamily="34" charset="-122"/>
                <a:cs typeface="Pretendard" pitchFamily="34" charset="-120"/>
              </a:rPr>
              <a:t>수단이</a:t>
            </a:r>
            <a:r>
              <a:rPr lang="en-US" sz="1150" dirty="0">
                <a:solidFill>
                  <a:srgbClr val="1E1F22"/>
                </a:solidFill>
                <a:latin typeface="Pretendard" pitchFamily="34" charset="0"/>
                <a:ea typeface="Pretendard" pitchFamily="34" charset="-122"/>
                <a:cs typeface="Pretendard" pitchFamily="34" charset="-120"/>
              </a:rPr>
              <a:t> 없</a:t>
            </a:r>
            <a:r>
              <a:rPr lang="ko-KR" altLang="en-US" sz="1150" dirty="0">
                <a:solidFill>
                  <a:srgbClr val="1E1F22"/>
                </a:solidFill>
                <a:latin typeface="Pretendard" pitchFamily="34" charset="0"/>
                <a:ea typeface="Pretendard" pitchFamily="34" charset="-122"/>
                <a:cs typeface="Pretendard" pitchFamily="34" charset="-120"/>
              </a:rPr>
              <a:t>고 긴 플레이 타임으로</a:t>
            </a:r>
            <a:r>
              <a:rPr lang="en-US" sz="1150" dirty="0">
                <a:solidFill>
                  <a:srgbClr val="1E1F22"/>
                </a:solidFill>
                <a:latin typeface="Pretendard" pitchFamily="34" charset="0"/>
                <a:ea typeface="Pretendard" pitchFamily="34" charset="-122"/>
                <a:cs typeface="Pretendard" pitchFamily="34" charset="-120"/>
              </a:rPr>
              <a:t> 피로 누적</a:t>
            </a:r>
            <a:endParaRPr lang="en-US" sz="1150" dirty="0"/>
          </a:p>
        </p:txBody>
      </p:sp>
      <p:sp>
        <p:nvSpPr>
          <p:cNvPr id="39" name="Shape 35"/>
          <p:cNvSpPr/>
          <p:nvPr/>
        </p:nvSpPr>
        <p:spPr>
          <a:xfrm>
            <a:off x="777240" y="4315968"/>
            <a:ext cx="10607040" cy="804672"/>
          </a:xfrm>
          <a:prstGeom prst="roundRect">
            <a:avLst>
              <a:gd name="adj" fmla="val 6818"/>
            </a:avLst>
          </a:prstGeom>
          <a:solidFill>
            <a:srgbClr val="F6F6F6"/>
          </a:solidFill>
          <a:ln w="12700">
            <a:solidFill>
              <a:srgbClr val="E4E4E4"/>
            </a:solidFill>
            <a:prstDash val="solid"/>
          </a:ln>
        </p:spPr>
      </p:sp>
      <p:sp>
        <p:nvSpPr>
          <p:cNvPr id="40" name="Shape 36"/>
          <p:cNvSpPr/>
          <p:nvPr/>
        </p:nvSpPr>
        <p:spPr>
          <a:xfrm>
            <a:off x="914400" y="4526280"/>
            <a:ext cx="384048" cy="384048"/>
          </a:xfrm>
          <a:prstGeom prst="ellipse">
            <a:avLst/>
          </a:prstGeom>
          <a:solidFill>
            <a:srgbClr val="6FB848"/>
          </a:solidFill>
          <a:ln w="12700">
            <a:solidFill>
              <a:srgbClr val="6FB848"/>
            </a:solidFill>
            <a:prstDash val="solid"/>
          </a:ln>
        </p:spPr>
      </p:sp>
      <p:sp>
        <p:nvSpPr>
          <p:cNvPr id="41" name="Text 37"/>
          <p:cNvSpPr txBox="1"/>
          <p:nvPr/>
        </p:nvSpPr>
        <p:spPr>
          <a:xfrm>
            <a:off x="914400" y="45262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42" name="Text 38"/>
          <p:cNvSpPr txBox="1"/>
          <p:nvPr/>
        </p:nvSpPr>
        <p:spPr>
          <a:xfrm>
            <a:off x="1417320" y="4443984"/>
            <a:ext cx="20574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통곡의 벽</a:t>
            </a:r>
            <a:endParaRPr lang="en-US" sz="1500" dirty="0"/>
          </a:p>
        </p:txBody>
      </p:sp>
      <p:sp>
        <p:nvSpPr>
          <p:cNvPr id="43" name="Text 39"/>
          <p:cNvSpPr txBox="1"/>
          <p:nvPr/>
        </p:nvSpPr>
        <p:spPr>
          <a:xfrm>
            <a:off x="1417320" y="4773168"/>
            <a:ext cx="2103120" cy="256032"/>
          </a:xfrm>
          <a:prstGeom prst="rect">
            <a:avLst/>
          </a:prstGeom>
          <a:noFill/>
          <a:ln/>
        </p:spPr>
        <p:txBody>
          <a:bodyPr wrap="square" lIns="0" tIns="0" rIns="0" bIns="0" rtlCol="0" anchor="t"/>
          <a:lstStyle/>
          <a:p>
            <a:pPr marL="0" indent="0">
              <a:buNone/>
            </a:pPr>
            <a:r>
              <a:rPr lang="en-US" sz="1050" dirty="0">
                <a:solidFill>
                  <a:srgbClr val="8C8E93"/>
                </a:solidFill>
                <a:latin typeface="Pretendard" pitchFamily="34" charset="0"/>
                <a:ea typeface="Pretendard" pitchFamily="34" charset="-122"/>
                <a:cs typeface="Pretendard" pitchFamily="34" charset="-120"/>
              </a:rPr>
              <a:t>스펙 · 초월 유물 격차</a:t>
            </a:r>
            <a:endParaRPr lang="en-US" sz="1050" dirty="0"/>
          </a:p>
        </p:txBody>
      </p:sp>
      <p:sp>
        <p:nvSpPr>
          <p:cNvPr id="44" name="Text 40"/>
          <p:cNvSpPr txBox="1"/>
          <p:nvPr/>
        </p:nvSpPr>
        <p:spPr>
          <a:xfrm>
            <a:off x="3520440" y="4370832"/>
            <a:ext cx="3154680" cy="694944"/>
          </a:xfrm>
          <a:prstGeom prst="rect">
            <a:avLst/>
          </a:prstGeom>
          <a:noFill/>
          <a:ln/>
        </p:spPr>
        <p:txBody>
          <a:bodyPr wrap="square" lIns="0" tIns="0" rIns="0" bIns="0" rtlCol="0" anchor="ctr"/>
          <a:lstStyle/>
          <a:p>
            <a:pPr marL="0" indent="0">
              <a:buNone/>
            </a:pPr>
            <a:r>
              <a:rPr lang="en-US" sz="1100" dirty="0">
                <a:solidFill>
                  <a:srgbClr val="5E6066"/>
                </a:solidFill>
                <a:latin typeface="Pretendard" pitchFamily="34" charset="0"/>
                <a:ea typeface="Pretendard" pitchFamily="34" charset="-122"/>
                <a:cs typeface="Pretendard" pitchFamily="34" charset="-120"/>
              </a:rPr>
              <a:t> </a:t>
            </a:r>
            <a:r>
              <a:rPr lang="en-US" sz="1100" dirty="0" err="1">
                <a:solidFill>
                  <a:srgbClr val="5E6066"/>
                </a:solidFill>
                <a:latin typeface="Pretendard" pitchFamily="34" charset="0"/>
                <a:ea typeface="Pretendard" pitchFamily="34" charset="-122"/>
                <a:cs typeface="Pretendard" pitchFamily="34" charset="-120"/>
              </a:rPr>
              <a:t>어려움</a:t>
            </a:r>
            <a:r>
              <a:rPr lang="en-US" sz="1100" dirty="0">
                <a:solidFill>
                  <a:srgbClr val="5E6066"/>
                </a:solidFill>
                <a:latin typeface="Pretendard" pitchFamily="34" charset="0"/>
                <a:ea typeface="Pretendard" pitchFamily="34" charset="-122"/>
                <a:cs typeface="Pretendard" pitchFamily="34" charset="-120"/>
              </a:rPr>
              <a:t> </a:t>
            </a:r>
            <a:r>
              <a:rPr lang="ko-KR" altLang="en-US" sz="1100" dirty="0">
                <a:solidFill>
                  <a:srgbClr val="5E6066"/>
                </a:solidFill>
                <a:latin typeface="Pretendard" pitchFamily="34" charset="0"/>
                <a:ea typeface="Pretendard" pitchFamily="34" charset="-122"/>
                <a:cs typeface="Pretendard" pitchFamily="34" charset="-120"/>
              </a:rPr>
              <a:t>모드의 높은 난이도</a:t>
            </a:r>
            <a:r>
              <a:rPr lang="en-US" sz="1100" dirty="0">
                <a:solidFill>
                  <a:srgbClr val="5E6066"/>
                </a:solidFill>
                <a:latin typeface="Pretendard" pitchFamily="34" charset="0"/>
                <a:ea typeface="Pretendard" pitchFamily="34" charset="-122"/>
                <a:cs typeface="Pretendard" pitchFamily="34" charset="-120"/>
              </a:rPr>
              <a:t>, 신화석 </a:t>
            </a:r>
            <a:r>
              <a:rPr lang="en-US" sz="1100" dirty="0" err="1">
                <a:solidFill>
                  <a:srgbClr val="5E6066"/>
                </a:solidFill>
                <a:latin typeface="Pretendard" pitchFamily="34" charset="0"/>
                <a:ea typeface="Pretendard" pitchFamily="34" charset="-122"/>
                <a:cs typeface="Pretendard" pitchFamily="34" charset="-120"/>
              </a:rPr>
              <a:t>수급</a:t>
            </a:r>
            <a:r>
              <a:rPr lang="en-US" sz="1100" dirty="0">
                <a:solidFill>
                  <a:srgbClr val="5E6066"/>
                </a:solidFill>
                <a:latin typeface="Pretendard" pitchFamily="34" charset="0"/>
                <a:ea typeface="Pretendard" pitchFamily="34" charset="-122"/>
                <a:cs typeface="Pretendard" pitchFamily="34" charset="-120"/>
              </a:rPr>
              <a:t> </a:t>
            </a:r>
            <a:r>
              <a:rPr lang="ko-KR" altLang="en-US" sz="1100" dirty="0">
                <a:solidFill>
                  <a:srgbClr val="5E6066"/>
                </a:solidFill>
                <a:latin typeface="Pretendard" pitchFamily="34" charset="0"/>
                <a:ea typeface="Pretendard" pitchFamily="34" charset="-122"/>
                <a:cs typeface="Pretendard" pitchFamily="34" charset="-120"/>
              </a:rPr>
              <a:t>부족으로 인한</a:t>
            </a:r>
            <a:r>
              <a:rPr lang="en-US" sz="1100" dirty="0">
                <a:solidFill>
                  <a:srgbClr val="5E6066"/>
                </a:solidFill>
                <a:latin typeface="Pretendard" pitchFamily="34" charset="0"/>
                <a:ea typeface="Pretendard" pitchFamily="34" charset="-122"/>
                <a:cs typeface="Pretendard" pitchFamily="34" charset="-120"/>
              </a:rPr>
              <a:t> </a:t>
            </a:r>
            <a:r>
              <a:rPr lang="en-US" sz="1100" dirty="0" err="1">
                <a:solidFill>
                  <a:srgbClr val="5E6066"/>
                </a:solidFill>
                <a:latin typeface="Pretendard" pitchFamily="34" charset="0"/>
                <a:ea typeface="Pretendard" pitchFamily="34" charset="-122"/>
                <a:cs typeface="Pretendard" pitchFamily="34" charset="-120"/>
              </a:rPr>
              <a:t>지옥</a:t>
            </a:r>
            <a:r>
              <a:rPr lang="en-US" sz="1100" dirty="0">
                <a:solidFill>
                  <a:srgbClr val="5E6066"/>
                </a:solidFill>
                <a:latin typeface="Pretendard" pitchFamily="34" charset="0"/>
                <a:ea typeface="Pretendard" pitchFamily="34" charset="-122"/>
                <a:cs typeface="Pretendard" pitchFamily="34" charset="-120"/>
              </a:rPr>
              <a:t>  </a:t>
            </a:r>
            <a:r>
              <a:rPr lang="en-US" sz="1100" dirty="0" err="1">
                <a:solidFill>
                  <a:srgbClr val="5E6066"/>
                </a:solidFill>
                <a:latin typeface="Pretendard" pitchFamily="34" charset="0"/>
                <a:ea typeface="Pretendard" pitchFamily="34" charset="-122"/>
                <a:cs typeface="Pretendard" pitchFamily="34" charset="-120"/>
              </a:rPr>
              <a:t>반복</a:t>
            </a:r>
            <a:r>
              <a:rPr lang="en-US" sz="1100" dirty="0">
                <a:solidFill>
                  <a:srgbClr val="5E6066"/>
                </a:solidFill>
                <a:latin typeface="Pretendard" pitchFamily="34" charset="0"/>
                <a:ea typeface="Pretendard" pitchFamily="34" charset="-122"/>
                <a:cs typeface="Pretendard" pitchFamily="34" charset="-120"/>
              </a:rPr>
              <a:t> 실패, 유물 초월 수치가 체급 차 </a:t>
            </a:r>
          </a:p>
          <a:p>
            <a:pPr marL="0" indent="0">
              <a:buNone/>
            </a:pPr>
            <a:r>
              <a:rPr lang="en-US" sz="1100" dirty="0" err="1">
                <a:solidFill>
                  <a:srgbClr val="5E6066"/>
                </a:solidFill>
                <a:latin typeface="Pretendard" pitchFamily="34" charset="0"/>
                <a:ea typeface="Pretendard" pitchFamily="34" charset="-122"/>
                <a:cs typeface="Pretendard" pitchFamily="34" charset="-120"/>
              </a:rPr>
              <a:t>결정</a:t>
            </a:r>
            <a:endParaRPr lang="en-US" sz="1100" dirty="0"/>
          </a:p>
        </p:txBody>
      </p:sp>
      <p:sp>
        <p:nvSpPr>
          <p:cNvPr id="45" name="Text 41"/>
          <p:cNvSpPr txBox="1"/>
          <p:nvPr/>
        </p:nvSpPr>
        <p:spPr>
          <a:xfrm>
            <a:off x="6812280" y="4425696"/>
            <a:ext cx="2194560" cy="603504"/>
          </a:xfrm>
          <a:prstGeom prst="rect">
            <a:avLst/>
          </a:prstGeom>
          <a:noFill/>
          <a:ln/>
        </p:spPr>
        <p:txBody>
          <a:bodyPr wrap="square" lIns="0" tIns="0" rIns="0" bIns="0" rtlCol="0" anchor="ctr"/>
          <a:lstStyle/>
          <a:p>
            <a:pPr marL="0" indent="0">
              <a:buNone/>
            </a:pPr>
            <a:r>
              <a:rPr lang="en-US" sz="1150" dirty="0">
                <a:solidFill>
                  <a:srgbClr val="1E1F22"/>
                </a:solidFill>
                <a:latin typeface="Pretendard" pitchFamily="34" charset="0"/>
                <a:ea typeface="Pretendard" pitchFamily="34" charset="-122"/>
                <a:cs typeface="Pretendard" pitchFamily="34" charset="-120"/>
              </a:rPr>
              <a:t>유닛 강화·배치로 넘을 수 없는 누적 격차 → 목표 상실</a:t>
            </a:r>
            <a:endParaRPr lang="en-US" sz="1150" dirty="0"/>
          </a:p>
        </p:txBody>
      </p:sp>
      <p:sp>
        <p:nvSpPr>
          <p:cNvPr id="49" name="Shape 45"/>
          <p:cNvSpPr/>
          <p:nvPr/>
        </p:nvSpPr>
        <p:spPr>
          <a:xfrm>
            <a:off x="777240" y="5248656"/>
            <a:ext cx="10607040" cy="804672"/>
          </a:xfrm>
          <a:prstGeom prst="roundRect">
            <a:avLst>
              <a:gd name="adj" fmla="val 6818"/>
            </a:avLst>
          </a:prstGeom>
          <a:solidFill>
            <a:srgbClr val="F3F3F4"/>
          </a:solidFill>
          <a:ln w="12700">
            <a:solidFill>
              <a:srgbClr val="E4E4E4"/>
            </a:solidFill>
            <a:prstDash val="solid"/>
          </a:ln>
        </p:spPr>
      </p:sp>
      <p:sp>
        <p:nvSpPr>
          <p:cNvPr id="50" name="Shape 46"/>
          <p:cNvSpPr/>
          <p:nvPr/>
        </p:nvSpPr>
        <p:spPr>
          <a:xfrm>
            <a:off x="914400" y="5458968"/>
            <a:ext cx="384048" cy="384048"/>
          </a:xfrm>
          <a:prstGeom prst="ellipse">
            <a:avLst/>
          </a:prstGeom>
          <a:solidFill>
            <a:srgbClr val="494A4E"/>
          </a:solidFill>
          <a:ln w="12700">
            <a:solidFill>
              <a:srgbClr val="494A4E"/>
            </a:solidFill>
            <a:prstDash val="solid"/>
          </a:ln>
        </p:spPr>
      </p:sp>
      <p:sp>
        <p:nvSpPr>
          <p:cNvPr id="51" name="Text 47"/>
          <p:cNvSpPr txBox="1"/>
          <p:nvPr/>
        </p:nvSpPr>
        <p:spPr>
          <a:xfrm>
            <a:off x="914400" y="545896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2" name="Text 48"/>
          <p:cNvSpPr txBox="1"/>
          <p:nvPr/>
        </p:nvSpPr>
        <p:spPr>
          <a:xfrm>
            <a:off x="1417320" y="5376672"/>
            <a:ext cx="20574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확률 신뢰 하락</a:t>
            </a:r>
            <a:endParaRPr lang="en-US" sz="1500" dirty="0"/>
          </a:p>
        </p:txBody>
      </p:sp>
      <p:sp>
        <p:nvSpPr>
          <p:cNvPr id="54" name="Text 50"/>
          <p:cNvSpPr txBox="1"/>
          <p:nvPr/>
        </p:nvSpPr>
        <p:spPr>
          <a:xfrm>
            <a:off x="3520440" y="5303520"/>
            <a:ext cx="3154680" cy="694944"/>
          </a:xfrm>
          <a:prstGeom prst="rect">
            <a:avLst/>
          </a:prstGeom>
          <a:noFill/>
          <a:ln/>
        </p:spPr>
        <p:txBody>
          <a:bodyPr wrap="square" lIns="0" tIns="0" rIns="0" bIns="0" rtlCol="0" anchor="ctr"/>
          <a:lstStyle/>
          <a:p>
            <a:pPr marL="0" indent="0">
              <a:buNone/>
            </a:pPr>
            <a:r>
              <a:rPr lang="en-US" sz="1100" dirty="0">
                <a:solidFill>
                  <a:srgbClr val="5E6066"/>
                </a:solidFill>
                <a:latin typeface="Pretendard" pitchFamily="34" charset="0"/>
                <a:ea typeface="Pretendard" pitchFamily="34" charset="-122"/>
                <a:cs typeface="Pretendard" pitchFamily="34" charset="-120"/>
              </a:rPr>
              <a:t>2026.02 확률형 콘텐츠 오류 인정 · 보상 → 이용자협회 공정위 신고</a:t>
            </a:r>
            <a:endParaRPr lang="en-US" sz="1100" dirty="0"/>
          </a:p>
        </p:txBody>
      </p:sp>
      <p:sp>
        <p:nvSpPr>
          <p:cNvPr id="55" name="Text 51"/>
          <p:cNvSpPr txBox="1"/>
          <p:nvPr/>
        </p:nvSpPr>
        <p:spPr>
          <a:xfrm>
            <a:off x="6812280" y="5358384"/>
            <a:ext cx="2194560" cy="603504"/>
          </a:xfrm>
          <a:prstGeom prst="rect">
            <a:avLst/>
          </a:prstGeom>
          <a:noFill/>
          <a:ln/>
        </p:spPr>
        <p:txBody>
          <a:bodyPr wrap="square" lIns="0" tIns="0" rIns="0" bIns="0" rtlCol="0" anchor="ctr"/>
          <a:lstStyle/>
          <a:p>
            <a:pPr marL="0" indent="0">
              <a:buNone/>
            </a:pPr>
            <a:r>
              <a:rPr lang="ko-KR" altLang="en-US" sz="1150" dirty="0">
                <a:solidFill>
                  <a:srgbClr val="1E1F22"/>
                </a:solidFill>
                <a:latin typeface="Pretendard" pitchFamily="34" charset="0"/>
                <a:ea typeface="Pretendard" pitchFamily="34" charset="-122"/>
                <a:cs typeface="Pretendard" pitchFamily="34" charset="-120"/>
              </a:rPr>
              <a:t>확률형 콘텐츠가 </a:t>
            </a:r>
            <a:r>
              <a:rPr lang="en-US" sz="1150" dirty="0" err="1">
                <a:solidFill>
                  <a:srgbClr val="1E1F22"/>
                </a:solidFill>
                <a:latin typeface="Pretendard" pitchFamily="34" charset="0"/>
                <a:ea typeface="Pretendard" pitchFamily="34" charset="-122"/>
                <a:cs typeface="Pretendard" pitchFamily="34" charset="-120"/>
              </a:rPr>
              <a:t>핵심</a:t>
            </a:r>
            <a:r>
              <a:rPr lang="en-US" sz="1150" dirty="0">
                <a:solidFill>
                  <a:srgbClr val="1E1F22"/>
                </a:solidFill>
                <a:latin typeface="Pretendard" pitchFamily="34" charset="0"/>
                <a:ea typeface="Pretendard" pitchFamily="34" charset="-122"/>
                <a:cs typeface="Pretendard" pitchFamily="34" charset="-120"/>
              </a:rPr>
              <a:t> </a:t>
            </a:r>
            <a:r>
              <a:rPr lang="en-US" sz="1150" dirty="0" err="1">
                <a:solidFill>
                  <a:srgbClr val="1E1F22"/>
                </a:solidFill>
                <a:latin typeface="Pretendard" pitchFamily="34" charset="0"/>
                <a:ea typeface="Pretendard" pitchFamily="34" charset="-122"/>
                <a:cs typeface="Pretendard" pitchFamily="34" charset="-120"/>
              </a:rPr>
              <a:t>재미인</a:t>
            </a:r>
            <a:r>
              <a:rPr lang="en-US" sz="1150" dirty="0">
                <a:solidFill>
                  <a:srgbClr val="1E1F22"/>
                </a:solidFill>
                <a:latin typeface="Pretendard" pitchFamily="34" charset="0"/>
                <a:ea typeface="Pretendard" pitchFamily="34" charset="-122"/>
                <a:cs typeface="Pretendard" pitchFamily="34" charset="-120"/>
              </a:rPr>
              <a:t>  </a:t>
            </a:r>
            <a:r>
              <a:rPr lang="ko-KR" altLang="en-US" sz="1150" dirty="0">
                <a:solidFill>
                  <a:srgbClr val="1E1F22"/>
                </a:solidFill>
                <a:latin typeface="Pretendard" pitchFamily="34" charset="0"/>
                <a:ea typeface="Pretendard" pitchFamily="34" charset="-122"/>
                <a:cs typeface="Pretendard" pitchFamily="34" charset="-120"/>
              </a:rPr>
              <a:t>운</a:t>
            </a:r>
            <a:r>
              <a:rPr lang="en-US" sz="1150" dirty="0">
                <a:solidFill>
                  <a:srgbClr val="1E1F22"/>
                </a:solidFill>
                <a:latin typeface="Pretendard" pitchFamily="34" charset="0"/>
                <a:ea typeface="Pretendard" pitchFamily="34" charset="-122"/>
                <a:cs typeface="Pretendard" pitchFamily="34" charset="-120"/>
              </a:rPr>
              <a:t>의 </a:t>
            </a:r>
            <a:r>
              <a:rPr lang="en-US" sz="1150" dirty="0" err="1">
                <a:solidFill>
                  <a:srgbClr val="1E1F22"/>
                </a:solidFill>
                <a:latin typeface="Pretendard" pitchFamily="34" charset="0"/>
                <a:ea typeface="Pretendard" pitchFamily="34" charset="-122"/>
                <a:cs typeface="Pretendard" pitchFamily="34" charset="-120"/>
              </a:rPr>
              <a:t>전제가</a:t>
            </a:r>
            <a:r>
              <a:rPr lang="en-US" sz="1150" dirty="0">
                <a:solidFill>
                  <a:srgbClr val="1E1F22"/>
                </a:solidFill>
                <a:latin typeface="Pretendard" pitchFamily="34" charset="0"/>
                <a:ea typeface="Pretendard" pitchFamily="34" charset="-122"/>
                <a:cs typeface="Pretendard" pitchFamily="34" charset="-120"/>
              </a:rPr>
              <a:t> </a:t>
            </a:r>
            <a:r>
              <a:rPr lang="en-US" sz="1150" dirty="0" err="1">
                <a:solidFill>
                  <a:srgbClr val="1E1F22"/>
                </a:solidFill>
                <a:latin typeface="Pretendard" pitchFamily="34" charset="0"/>
                <a:ea typeface="Pretendard" pitchFamily="34" charset="-122"/>
                <a:cs typeface="Pretendard" pitchFamily="34" charset="-120"/>
              </a:rPr>
              <a:t>흔들</a:t>
            </a:r>
            <a:r>
              <a:rPr lang="ko-KR" altLang="en-US" sz="1150" dirty="0" err="1">
                <a:solidFill>
                  <a:srgbClr val="1E1F22"/>
                </a:solidFill>
                <a:latin typeface="Pretendard" pitchFamily="34" charset="0"/>
                <a:ea typeface="Pretendard" pitchFamily="34" charset="-122"/>
                <a:cs typeface="Pretendard" pitchFamily="34" charset="-120"/>
              </a:rPr>
              <a:t>리고</a:t>
            </a:r>
            <a:r>
              <a:rPr lang="ko-KR" altLang="en-US" sz="1150" dirty="0">
                <a:solidFill>
                  <a:srgbClr val="1E1F22"/>
                </a:solidFill>
                <a:latin typeface="Pretendard" pitchFamily="34" charset="0"/>
                <a:ea typeface="Pretendard" pitchFamily="34" charset="-122"/>
                <a:cs typeface="Pretendard" pitchFamily="34" charset="-120"/>
              </a:rPr>
              <a:t> 신뢰가 떨어져 모든 확률형 요소의 대한 신뢰도 하락 </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Shape 8"/>
          <p:cNvSpPr/>
          <p:nvPr/>
        </p:nvSpPr>
        <p:spPr>
          <a:xfrm>
            <a:off x="777240" y="1005840"/>
            <a:ext cx="3246120" cy="5074920"/>
          </a:xfrm>
          <a:prstGeom prst="roundRect">
            <a:avLst>
              <a:gd name="adj" fmla="val 2254"/>
            </a:avLst>
          </a:prstGeom>
          <a:solidFill>
            <a:srgbClr val="494A4E"/>
          </a:solidFill>
          <a:ln w="12700">
            <a:solidFill>
              <a:srgbClr val="494A4E"/>
            </a:solidFill>
            <a:prstDash val="solid"/>
          </a:ln>
          <a:effectLst>
            <a:outerShdw blurRad="76200" dist="25400" dir="5400000" algn="bl" rotWithShape="0">
              <a:srgbClr val="000000">
                <a:alpha val="12000"/>
              </a:srgbClr>
            </a:outerShdw>
          </a:effectLst>
        </p:spPr>
      </p:sp>
      <p:sp>
        <p:nvSpPr>
          <p:cNvPr id="13" name="Text 9"/>
          <p:cNvSpPr txBox="1"/>
          <p:nvPr/>
        </p:nvSpPr>
        <p:spPr>
          <a:xfrm>
            <a:off x="1051560" y="1234440"/>
            <a:ext cx="2743200" cy="320040"/>
          </a:xfrm>
          <a:prstGeom prst="rect">
            <a:avLst/>
          </a:prstGeom>
          <a:noFill/>
          <a:ln/>
        </p:spPr>
        <p:txBody>
          <a:bodyPr wrap="square" lIns="0" tIns="0" rIns="0" bIns="0" rtlCol="0" anchor="t"/>
          <a:lstStyle/>
          <a:p>
            <a:pPr marL="0" indent="0">
              <a:buNone/>
            </a:pPr>
            <a:r>
              <a:rPr lang="en-US" sz="1400" b="1" dirty="0">
                <a:solidFill>
                  <a:srgbClr val="FFCD4A"/>
                </a:solidFill>
                <a:latin typeface="Pretendard" pitchFamily="34" charset="0"/>
                <a:ea typeface="Pretendard" pitchFamily="34" charset="-122"/>
                <a:cs typeface="Pretendard" pitchFamily="34" charset="-120"/>
              </a:rPr>
              <a:t>제안 A</a:t>
            </a:r>
            <a:endParaRPr lang="en-US" sz="1400" dirty="0"/>
          </a:p>
        </p:txBody>
      </p:sp>
      <p:sp>
        <p:nvSpPr>
          <p:cNvPr id="14" name="Text 10"/>
          <p:cNvSpPr txBox="1"/>
          <p:nvPr/>
        </p:nvSpPr>
        <p:spPr>
          <a:xfrm>
            <a:off x="1051560" y="1554480"/>
            <a:ext cx="2834640" cy="502920"/>
          </a:xfrm>
          <a:prstGeom prst="rect">
            <a:avLst/>
          </a:prstGeom>
          <a:noFill/>
          <a:ln/>
        </p:spPr>
        <p:txBody>
          <a:bodyPr wrap="square" lIns="0" tIns="0" rIns="0" bIns="0" rtlCol="0" anchor="t"/>
          <a:lstStyle/>
          <a:p>
            <a:pPr marL="0" indent="0">
              <a:buNone/>
            </a:pPr>
            <a:r>
              <a:rPr lang="en-US" sz="2600" b="1" dirty="0">
                <a:solidFill>
                  <a:srgbClr val="FFFFFF"/>
                </a:solidFill>
                <a:latin typeface="Pretendard" pitchFamily="34" charset="0"/>
                <a:ea typeface="Pretendard" pitchFamily="34" charset="-122"/>
                <a:cs typeface="Pretendard" pitchFamily="34" charset="-120"/>
              </a:rPr>
              <a:t>솔로 세이프가드</a:t>
            </a:r>
            <a:endParaRPr lang="en-US" sz="2600" dirty="0"/>
          </a:p>
        </p:txBody>
      </p:sp>
      <p:sp>
        <p:nvSpPr>
          <p:cNvPr id="16" name="Text 12"/>
          <p:cNvSpPr txBox="1"/>
          <p:nvPr/>
        </p:nvSpPr>
        <p:spPr>
          <a:xfrm>
            <a:off x="1051560" y="2111516"/>
            <a:ext cx="2743200" cy="2011680"/>
          </a:xfrm>
          <a:prstGeom prst="rect">
            <a:avLst/>
          </a:prstGeom>
          <a:noFill/>
          <a:ln/>
        </p:spPr>
        <p:txBody>
          <a:bodyPr wrap="square" lIns="0" tIns="0" rIns="0" bIns="0" rtlCol="0" anchor="t"/>
          <a:lstStyle/>
          <a:p>
            <a:pPr marL="0" indent="0">
              <a:spcAft>
                <a:spcPts val="300"/>
              </a:spcAft>
              <a:buNone/>
            </a:pPr>
            <a:r>
              <a:rPr lang="en-US" sz="1250" b="1" dirty="0">
                <a:solidFill>
                  <a:srgbClr val="FFFFFF"/>
                </a:solidFill>
                <a:latin typeface="Pretendard" pitchFamily="34" charset="0"/>
                <a:ea typeface="Pretendard" pitchFamily="34" charset="-122"/>
                <a:cs typeface="Pretendard" pitchFamily="34" charset="-120"/>
              </a:rPr>
              <a:t>대응 요인</a:t>
            </a:r>
            <a:endParaRPr lang="en-US" sz="1250" dirty="0"/>
          </a:p>
          <a:p>
            <a:pPr marL="0" indent="0">
              <a:spcAft>
                <a:spcPts val="300"/>
              </a:spcAft>
              <a:buNone/>
            </a:pPr>
            <a:r>
              <a:rPr lang="en-US" sz="1250" dirty="0" err="1">
                <a:solidFill>
                  <a:srgbClr val="D7D8DA"/>
                </a:solidFill>
                <a:latin typeface="Pretendard" pitchFamily="34" charset="0"/>
                <a:ea typeface="Pretendard" pitchFamily="34" charset="-122"/>
                <a:cs typeface="Pretendard" pitchFamily="34" charset="-120"/>
              </a:rPr>
              <a:t>불가항력적인</a:t>
            </a:r>
            <a:r>
              <a:rPr lang="en-US" sz="1250" dirty="0">
                <a:solidFill>
                  <a:srgbClr val="D7D8DA"/>
                </a:solidFill>
                <a:latin typeface="Pretendard" pitchFamily="34" charset="0"/>
                <a:ea typeface="Pretendard" pitchFamily="34" charset="-122"/>
                <a:cs typeface="Pretendard" pitchFamily="34" charset="-120"/>
              </a:rPr>
              <a:t> 패배 경험</a:t>
            </a:r>
            <a:endParaRPr lang="en-US" sz="1250" dirty="0"/>
          </a:p>
          <a:p>
            <a:pPr marL="0" indent="0">
              <a:spcAft>
                <a:spcPts val="300"/>
              </a:spcAft>
              <a:buNone/>
            </a:pPr>
            <a:r>
              <a:rPr lang="en-US" sz="600" dirty="0">
                <a:solidFill>
                  <a:srgbClr val="1E1F22"/>
                </a:solidFill>
                <a:latin typeface="Pretendard" pitchFamily="34" charset="0"/>
                <a:ea typeface="Pretendard" pitchFamily="34" charset="-122"/>
                <a:cs typeface="Pretendard" pitchFamily="34" charset="-120"/>
              </a:rPr>
              <a:t> </a:t>
            </a:r>
            <a:endParaRPr lang="en-US" sz="1250" dirty="0"/>
          </a:p>
          <a:p>
            <a:pPr marL="0" indent="0">
              <a:spcAft>
                <a:spcPts val="300"/>
              </a:spcAft>
              <a:buNone/>
            </a:pPr>
            <a:r>
              <a:rPr lang="en-US" sz="1250" b="1" dirty="0">
                <a:solidFill>
                  <a:srgbClr val="FFFFFF"/>
                </a:solidFill>
                <a:latin typeface="Pretendard" pitchFamily="34" charset="0"/>
                <a:ea typeface="Pretendard" pitchFamily="34" charset="-122"/>
                <a:cs typeface="Pretendard" pitchFamily="34" charset="-120"/>
              </a:rPr>
              <a:t>재미 </a:t>
            </a:r>
            <a:r>
              <a:rPr lang="en-US" sz="1250" b="1" dirty="0" err="1">
                <a:solidFill>
                  <a:srgbClr val="FFFFFF"/>
                </a:solidFill>
                <a:latin typeface="Pretendard" pitchFamily="34" charset="0"/>
                <a:ea typeface="Pretendard" pitchFamily="34" charset="-122"/>
                <a:cs typeface="Pretendard" pitchFamily="34" charset="-120"/>
              </a:rPr>
              <a:t>분석</a:t>
            </a:r>
            <a:r>
              <a:rPr lang="en-US" sz="1250" b="1" dirty="0">
                <a:solidFill>
                  <a:srgbClr val="FFFFFF"/>
                </a:solidFill>
                <a:latin typeface="Pretendard" pitchFamily="34" charset="0"/>
                <a:ea typeface="Pretendard" pitchFamily="34" charset="-122"/>
                <a:cs typeface="Pretendard" pitchFamily="34" charset="-120"/>
              </a:rPr>
              <a:t> </a:t>
            </a:r>
            <a:r>
              <a:rPr lang="en-US" sz="1250" b="1" dirty="0" err="1">
                <a:solidFill>
                  <a:srgbClr val="FFFFFF"/>
                </a:solidFill>
                <a:latin typeface="Pretendard" pitchFamily="34" charset="0"/>
                <a:ea typeface="Pretendard" pitchFamily="34" charset="-122"/>
                <a:cs typeface="Pretendard" pitchFamily="34" charset="-120"/>
              </a:rPr>
              <a:t>제안</a:t>
            </a:r>
            <a:endParaRPr lang="en-US" sz="1250" dirty="0"/>
          </a:p>
          <a:p>
            <a:pPr marL="0" indent="0">
              <a:spcAft>
                <a:spcPts val="300"/>
              </a:spcAft>
              <a:buNone/>
            </a:pPr>
            <a:r>
              <a:rPr lang="en-US" sz="1250" dirty="0">
                <a:solidFill>
                  <a:srgbClr val="D7D8DA"/>
                </a:solidFill>
                <a:latin typeface="Pretendard" pitchFamily="34" charset="0"/>
                <a:ea typeface="Pretendard" pitchFamily="34" charset="-122"/>
                <a:cs typeface="Pretendard" pitchFamily="34" charset="-120"/>
              </a:rPr>
              <a:t>1단계(1인 기준 하향) </a:t>
            </a:r>
          </a:p>
          <a:p>
            <a:pPr marL="0" indent="0">
              <a:spcAft>
                <a:spcPts val="300"/>
              </a:spcAft>
              <a:buNone/>
            </a:pPr>
            <a:r>
              <a:rPr lang="en-US" sz="1250" dirty="0">
                <a:solidFill>
                  <a:srgbClr val="D7D8DA"/>
                </a:solidFill>
                <a:latin typeface="Pretendard" pitchFamily="34" charset="0"/>
                <a:ea typeface="Pretendard" pitchFamily="34" charset="-122"/>
                <a:cs typeface="Pretendard" pitchFamily="34" charset="-120"/>
              </a:rPr>
              <a:t>2단계(생존자 버프)를 감지 → 유예 → 보정 → 보상의 한 흐름으로 통합</a:t>
            </a:r>
            <a:endParaRPr lang="en-US" sz="1250" dirty="0"/>
          </a:p>
        </p:txBody>
      </p:sp>
      <p:pic>
        <p:nvPicPr>
          <p:cNvPr id="17" name="Image 1" descr="preencoded.png"/>
          <p:cNvPicPr>
            <a:picLocks noChangeAspect="1"/>
          </p:cNvPicPr>
          <p:nvPr/>
        </p:nvPicPr>
        <p:blipFill>
          <a:blip r:embed="rId4"/>
          <a:stretch>
            <a:fillRect/>
          </a:stretch>
        </p:blipFill>
        <p:spPr>
          <a:xfrm>
            <a:off x="3840480" y="3246120"/>
            <a:ext cx="384048" cy="384048"/>
          </a:xfrm>
          <a:prstGeom prst="rect">
            <a:avLst/>
          </a:prstGeom>
        </p:spPr>
      </p:pic>
      <p:sp>
        <p:nvSpPr>
          <p:cNvPr id="18" name="Text 13"/>
          <p:cNvSpPr txBox="1"/>
          <p:nvPr/>
        </p:nvSpPr>
        <p:spPr>
          <a:xfrm>
            <a:off x="4434840" y="1051560"/>
            <a:ext cx="3657600" cy="411480"/>
          </a:xfrm>
          <a:prstGeom prst="rect">
            <a:avLst/>
          </a:prstGeom>
          <a:noFill/>
          <a:ln/>
        </p:spPr>
        <p:txBody>
          <a:bodyPr wrap="square" lIns="0" tIns="0" rIns="0" bIns="0" rtlCol="0" anchor="t"/>
          <a:lstStyle/>
          <a:p>
            <a:pPr marL="0" indent="0">
              <a:buNone/>
            </a:pPr>
            <a:r>
              <a:rPr lang="en-US" sz="2000" b="1" dirty="0">
                <a:solidFill>
                  <a:srgbClr val="1E1F22"/>
                </a:solidFill>
                <a:latin typeface="Pretendard" pitchFamily="34" charset="0"/>
                <a:ea typeface="Pretendard" pitchFamily="34" charset="-122"/>
                <a:cs typeface="Pretendard" pitchFamily="34" charset="-120"/>
              </a:rPr>
              <a:t>시스템 흐름</a:t>
            </a:r>
            <a:endParaRPr lang="en-US" sz="2000" dirty="0"/>
          </a:p>
        </p:txBody>
      </p:sp>
      <p:sp>
        <p:nvSpPr>
          <p:cNvPr id="19" name="Shape 14"/>
          <p:cNvSpPr/>
          <p:nvPr/>
        </p:nvSpPr>
        <p:spPr>
          <a:xfrm>
            <a:off x="4434840" y="1600200"/>
            <a:ext cx="1691640" cy="685800"/>
          </a:xfrm>
          <a:prstGeom prst="chevron">
            <a:avLst/>
          </a:prstGeom>
          <a:solidFill>
            <a:srgbClr val="EEEEEE"/>
          </a:solidFill>
          <a:ln w="12700">
            <a:solidFill>
              <a:srgbClr val="EEEEEE"/>
            </a:solidFill>
            <a:prstDash val="solid"/>
          </a:ln>
        </p:spPr>
      </p:sp>
      <p:sp>
        <p:nvSpPr>
          <p:cNvPr id="20" name="Shape 15"/>
          <p:cNvSpPr/>
          <p:nvPr/>
        </p:nvSpPr>
        <p:spPr>
          <a:xfrm>
            <a:off x="4892040" y="1737360"/>
            <a:ext cx="411480" cy="411480"/>
          </a:xfrm>
          <a:prstGeom prst="ellipse">
            <a:avLst/>
          </a:prstGeom>
          <a:solidFill>
            <a:srgbClr val="FC5230"/>
          </a:solidFill>
          <a:ln w="12700">
            <a:solidFill>
              <a:srgbClr val="FC5230"/>
            </a:solidFill>
            <a:prstDash val="solid"/>
          </a:ln>
        </p:spPr>
      </p:sp>
      <p:sp>
        <p:nvSpPr>
          <p:cNvPr id="21" name="Text 16"/>
          <p:cNvSpPr txBox="1"/>
          <p:nvPr/>
        </p:nvSpPr>
        <p:spPr>
          <a:xfrm>
            <a:off x="4892040" y="17373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22" name="Text 17"/>
          <p:cNvSpPr txBox="1"/>
          <p:nvPr/>
        </p:nvSpPr>
        <p:spPr>
          <a:xfrm>
            <a:off x="4480560" y="2423160"/>
            <a:ext cx="1645920" cy="365760"/>
          </a:xfrm>
          <a:prstGeom prst="rect">
            <a:avLst/>
          </a:prstGeom>
          <a:noFill/>
          <a:ln/>
        </p:spPr>
        <p:txBody>
          <a:bodyPr wrap="square" lIns="0" tIns="0" rIns="0" bIns="0" rtlCol="0" anchor="t"/>
          <a:lstStyle/>
          <a:p>
            <a:pPr marL="0" indent="0">
              <a:buNone/>
            </a:pPr>
            <a:r>
              <a:rPr lang="en-US" sz="1700" b="1" dirty="0">
                <a:solidFill>
                  <a:srgbClr val="1E1F22"/>
                </a:solidFill>
                <a:latin typeface="Pretendard" pitchFamily="34" charset="0"/>
                <a:ea typeface="Pretendard" pitchFamily="34" charset="-122"/>
                <a:cs typeface="Pretendard" pitchFamily="34" charset="-120"/>
              </a:rPr>
              <a:t>감지</a:t>
            </a:r>
            <a:endParaRPr lang="en-US" sz="1700" dirty="0"/>
          </a:p>
        </p:txBody>
      </p:sp>
      <p:sp>
        <p:nvSpPr>
          <p:cNvPr id="23" name="Text 18"/>
          <p:cNvSpPr txBox="1"/>
          <p:nvPr/>
        </p:nvSpPr>
        <p:spPr>
          <a:xfrm>
            <a:off x="4480560" y="2788920"/>
            <a:ext cx="1645920" cy="914400"/>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연결 끊김 또는</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무입력 60초 이상</a:t>
            </a:r>
            <a:endParaRPr lang="en-US" sz="1150" dirty="0"/>
          </a:p>
        </p:txBody>
      </p:sp>
      <p:sp>
        <p:nvSpPr>
          <p:cNvPr id="24" name="Shape 19"/>
          <p:cNvSpPr/>
          <p:nvPr/>
        </p:nvSpPr>
        <p:spPr>
          <a:xfrm>
            <a:off x="6190488" y="1600200"/>
            <a:ext cx="1691640" cy="685800"/>
          </a:xfrm>
          <a:prstGeom prst="chevron">
            <a:avLst/>
          </a:prstGeom>
          <a:solidFill>
            <a:srgbClr val="EEEEEE"/>
          </a:solidFill>
          <a:ln w="12700">
            <a:solidFill>
              <a:srgbClr val="EEEEEE"/>
            </a:solidFill>
            <a:prstDash val="solid"/>
          </a:ln>
        </p:spPr>
      </p:sp>
      <p:sp>
        <p:nvSpPr>
          <p:cNvPr id="25" name="Shape 20"/>
          <p:cNvSpPr/>
          <p:nvPr/>
        </p:nvSpPr>
        <p:spPr>
          <a:xfrm>
            <a:off x="6647688" y="1737360"/>
            <a:ext cx="411480" cy="411480"/>
          </a:xfrm>
          <a:prstGeom prst="ellipse">
            <a:avLst/>
          </a:prstGeom>
          <a:solidFill>
            <a:srgbClr val="FFCD4A"/>
          </a:solidFill>
          <a:ln w="12700">
            <a:solidFill>
              <a:srgbClr val="FFCD4A"/>
            </a:solidFill>
            <a:prstDash val="solid"/>
          </a:ln>
        </p:spPr>
      </p:sp>
      <p:sp>
        <p:nvSpPr>
          <p:cNvPr id="26" name="Text 21"/>
          <p:cNvSpPr txBox="1"/>
          <p:nvPr/>
        </p:nvSpPr>
        <p:spPr>
          <a:xfrm>
            <a:off x="6647688" y="1737360"/>
            <a:ext cx="411480" cy="411480"/>
          </a:xfrm>
          <a:prstGeom prst="rect">
            <a:avLst/>
          </a:prstGeom>
          <a:noFill/>
          <a:ln/>
        </p:spPr>
        <p:txBody>
          <a:bodyPr wrap="square" lIns="0" tIns="0" rIns="0" bIns="0" rtlCol="0" anchor="ctr"/>
          <a:lstStyle/>
          <a:p>
            <a:pPr marL="0" indent="0" algn="ctr">
              <a:buNone/>
            </a:pPr>
            <a:r>
              <a:rPr lang="en-US" sz="1600" b="1" dirty="0">
                <a:solidFill>
                  <a:srgbClr val="1E1F22"/>
                </a:solidFill>
                <a:latin typeface="Pretendard" pitchFamily="34" charset="0"/>
                <a:ea typeface="Pretendard" pitchFamily="34" charset="-122"/>
                <a:cs typeface="Pretendard" pitchFamily="34" charset="-120"/>
              </a:rPr>
              <a:t>2</a:t>
            </a:r>
            <a:endParaRPr lang="en-US" sz="1600" dirty="0"/>
          </a:p>
        </p:txBody>
      </p:sp>
      <p:sp>
        <p:nvSpPr>
          <p:cNvPr id="27" name="Text 22"/>
          <p:cNvSpPr txBox="1"/>
          <p:nvPr/>
        </p:nvSpPr>
        <p:spPr>
          <a:xfrm>
            <a:off x="6236208" y="2423160"/>
            <a:ext cx="1645920" cy="365760"/>
          </a:xfrm>
          <a:prstGeom prst="rect">
            <a:avLst/>
          </a:prstGeom>
          <a:noFill/>
          <a:ln/>
        </p:spPr>
        <p:txBody>
          <a:bodyPr wrap="square" lIns="0" tIns="0" rIns="0" bIns="0" rtlCol="0" anchor="t"/>
          <a:lstStyle/>
          <a:p>
            <a:pPr marL="0" indent="0">
              <a:buNone/>
            </a:pPr>
            <a:r>
              <a:rPr lang="en-US" sz="1700" b="1" dirty="0">
                <a:solidFill>
                  <a:srgbClr val="1E1F22"/>
                </a:solidFill>
                <a:latin typeface="Pretendard" pitchFamily="34" charset="0"/>
                <a:ea typeface="Pretendard" pitchFamily="34" charset="-122"/>
                <a:cs typeface="Pretendard" pitchFamily="34" charset="-120"/>
              </a:rPr>
              <a:t>유예</a:t>
            </a:r>
            <a:endParaRPr lang="en-US" sz="1700" dirty="0"/>
          </a:p>
        </p:txBody>
      </p:sp>
      <p:sp>
        <p:nvSpPr>
          <p:cNvPr id="28" name="Text 23"/>
          <p:cNvSpPr txBox="1"/>
          <p:nvPr/>
        </p:nvSpPr>
        <p:spPr>
          <a:xfrm>
            <a:off x="6236208" y="2788920"/>
            <a:ext cx="1645920" cy="914400"/>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30초 재접속 대기</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파트너 필드는 AI가</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자동 소환만 대리</a:t>
            </a:r>
            <a:endParaRPr lang="en-US" sz="1150" dirty="0"/>
          </a:p>
        </p:txBody>
      </p:sp>
      <p:sp>
        <p:nvSpPr>
          <p:cNvPr id="29" name="Shape 24"/>
          <p:cNvSpPr/>
          <p:nvPr/>
        </p:nvSpPr>
        <p:spPr>
          <a:xfrm>
            <a:off x="7946136" y="1600200"/>
            <a:ext cx="1691640" cy="685800"/>
          </a:xfrm>
          <a:prstGeom prst="chevron">
            <a:avLst/>
          </a:prstGeom>
          <a:solidFill>
            <a:srgbClr val="EEEEEE"/>
          </a:solidFill>
          <a:ln w="12700">
            <a:solidFill>
              <a:srgbClr val="EEEEEE"/>
            </a:solidFill>
            <a:prstDash val="solid"/>
          </a:ln>
        </p:spPr>
      </p:sp>
      <p:sp>
        <p:nvSpPr>
          <p:cNvPr id="30" name="Shape 25"/>
          <p:cNvSpPr/>
          <p:nvPr/>
        </p:nvSpPr>
        <p:spPr>
          <a:xfrm>
            <a:off x="8403336" y="1737360"/>
            <a:ext cx="411480" cy="411480"/>
          </a:xfrm>
          <a:prstGeom prst="ellipse">
            <a:avLst/>
          </a:prstGeom>
          <a:solidFill>
            <a:srgbClr val="6FB848"/>
          </a:solidFill>
          <a:ln w="12700">
            <a:solidFill>
              <a:srgbClr val="6FB848"/>
            </a:solidFill>
            <a:prstDash val="solid"/>
          </a:ln>
        </p:spPr>
      </p:sp>
      <p:sp>
        <p:nvSpPr>
          <p:cNvPr id="31" name="Text 26"/>
          <p:cNvSpPr txBox="1"/>
          <p:nvPr/>
        </p:nvSpPr>
        <p:spPr>
          <a:xfrm>
            <a:off x="8403336" y="17373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32" name="Text 27"/>
          <p:cNvSpPr txBox="1"/>
          <p:nvPr/>
        </p:nvSpPr>
        <p:spPr>
          <a:xfrm>
            <a:off x="7991856" y="2423160"/>
            <a:ext cx="1645920" cy="365760"/>
          </a:xfrm>
          <a:prstGeom prst="rect">
            <a:avLst/>
          </a:prstGeom>
          <a:noFill/>
          <a:ln/>
        </p:spPr>
        <p:txBody>
          <a:bodyPr wrap="square" lIns="0" tIns="0" rIns="0" bIns="0" rtlCol="0" anchor="t"/>
          <a:lstStyle/>
          <a:p>
            <a:pPr marL="0" indent="0">
              <a:buNone/>
            </a:pPr>
            <a:r>
              <a:rPr lang="en-US" sz="1700" b="1" dirty="0">
                <a:solidFill>
                  <a:srgbClr val="1E1F22"/>
                </a:solidFill>
                <a:latin typeface="Pretendard" pitchFamily="34" charset="0"/>
                <a:ea typeface="Pretendard" pitchFamily="34" charset="-122"/>
                <a:cs typeface="Pretendard" pitchFamily="34" charset="-120"/>
              </a:rPr>
              <a:t>보정</a:t>
            </a:r>
            <a:endParaRPr lang="en-US" sz="1700" dirty="0"/>
          </a:p>
        </p:txBody>
      </p:sp>
      <p:sp>
        <p:nvSpPr>
          <p:cNvPr id="33" name="Text 28"/>
          <p:cNvSpPr txBox="1"/>
          <p:nvPr/>
        </p:nvSpPr>
        <p:spPr>
          <a:xfrm>
            <a:off x="7991856" y="2788920"/>
            <a:ext cx="1645920" cy="914400"/>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다음 웨이브부터</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몬스터 체력·수 1인 기준</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생존자 공속·소환비 버프</a:t>
            </a:r>
            <a:endParaRPr lang="en-US" sz="1150" dirty="0"/>
          </a:p>
        </p:txBody>
      </p:sp>
      <p:sp>
        <p:nvSpPr>
          <p:cNvPr id="34" name="Shape 29"/>
          <p:cNvSpPr/>
          <p:nvPr/>
        </p:nvSpPr>
        <p:spPr>
          <a:xfrm>
            <a:off x="9701784" y="1600200"/>
            <a:ext cx="1691640" cy="685800"/>
          </a:xfrm>
          <a:prstGeom prst="chevron">
            <a:avLst/>
          </a:prstGeom>
          <a:solidFill>
            <a:srgbClr val="EEEEEE"/>
          </a:solidFill>
          <a:ln w="12700">
            <a:solidFill>
              <a:srgbClr val="EEEEEE"/>
            </a:solidFill>
            <a:prstDash val="solid"/>
          </a:ln>
        </p:spPr>
      </p:sp>
      <p:sp>
        <p:nvSpPr>
          <p:cNvPr id="35" name="Shape 30"/>
          <p:cNvSpPr/>
          <p:nvPr/>
        </p:nvSpPr>
        <p:spPr>
          <a:xfrm>
            <a:off x="10158984" y="1737360"/>
            <a:ext cx="411480" cy="411480"/>
          </a:xfrm>
          <a:prstGeom prst="ellipse">
            <a:avLst/>
          </a:prstGeom>
          <a:solidFill>
            <a:srgbClr val="494A4E"/>
          </a:solidFill>
          <a:ln w="12700">
            <a:solidFill>
              <a:srgbClr val="494A4E"/>
            </a:solidFill>
            <a:prstDash val="solid"/>
          </a:ln>
        </p:spPr>
      </p:sp>
      <p:sp>
        <p:nvSpPr>
          <p:cNvPr id="36" name="Text 31"/>
          <p:cNvSpPr txBox="1"/>
          <p:nvPr/>
        </p:nvSpPr>
        <p:spPr>
          <a:xfrm>
            <a:off x="10158984" y="17373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37" name="Text 32"/>
          <p:cNvSpPr txBox="1"/>
          <p:nvPr/>
        </p:nvSpPr>
        <p:spPr>
          <a:xfrm>
            <a:off x="9747504" y="2423160"/>
            <a:ext cx="1645920" cy="365760"/>
          </a:xfrm>
          <a:prstGeom prst="rect">
            <a:avLst/>
          </a:prstGeom>
          <a:noFill/>
          <a:ln/>
        </p:spPr>
        <p:txBody>
          <a:bodyPr wrap="square" lIns="0" tIns="0" rIns="0" bIns="0" rtlCol="0" anchor="t"/>
          <a:lstStyle/>
          <a:p>
            <a:pPr marL="0" indent="0">
              <a:buNone/>
            </a:pPr>
            <a:r>
              <a:rPr lang="en-US" sz="1700" b="1" dirty="0">
                <a:solidFill>
                  <a:srgbClr val="1E1F22"/>
                </a:solidFill>
                <a:latin typeface="Pretendard" pitchFamily="34" charset="0"/>
                <a:ea typeface="Pretendard" pitchFamily="34" charset="-122"/>
                <a:cs typeface="Pretendard" pitchFamily="34" charset="-120"/>
              </a:rPr>
              <a:t>보상</a:t>
            </a:r>
            <a:endParaRPr lang="en-US" sz="1700" dirty="0"/>
          </a:p>
        </p:txBody>
      </p:sp>
      <p:sp>
        <p:nvSpPr>
          <p:cNvPr id="38" name="Text 33"/>
          <p:cNvSpPr txBox="1"/>
          <p:nvPr/>
        </p:nvSpPr>
        <p:spPr>
          <a:xfrm>
            <a:off x="9747504" y="2788920"/>
            <a:ext cx="1645920" cy="914400"/>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클리어 시 보상 유지</a:t>
            </a:r>
            <a:endParaRPr lang="en-US" sz="1150" dirty="0"/>
          </a:p>
          <a:p>
            <a:pPr marL="0" indent="0">
              <a:buNone/>
            </a:pPr>
            <a:r>
              <a:rPr lang="en-US" sz="1150" dirty="0">
                <a:solidFill>
                  <a:srgbClr val="5E6066"/>
                </a:solidFill>
                <a:latin typeface="Pretendard" pitchFamily="34" charset="0"/>
                <a:ea typeface="Pretendard" pitchFamily="34" charset="-122"/>
                <a:cs typeface="Pretendard" pitchFamily="34" charset="-120"/>
              </a:rPr>
              <a:t>패배 시 에너지 환급</a:t>
            </a:r>
            <a:endParaRPr lang="en-US" sz="1150" dirty="0"/>
          </a:p>
          <a:p>
            <a:pPr marL="0" indent="0">
              <a:buNone/>
            </a:pPr>
            <a:r>
              <a:rPr lang="en-US" sz="1150" dirty="0" err="1">
                <a:solidFill>
                  <a:srgbClr val="5E6066"/>
                </a:solidFill>
                <a:latin typeface="Pretendard" pitchFamily="34" charset="0"/>
                <a:ea typeface="Pretendard" pitchFamily="34" charset="-122"/>
                <a:cs typeface="Pretendard" pitchFamily="34" charset="-120"/>
              </a:rPr>
              <a:t>탈주자</a:t>
            </a:r>
            <a:r>
              <a:rPr lang="en-US" sz="1150" dirty="0">
                <a:solidFill>
                  <a:srgbClr val="5E6066"/>
                </a:solidFill>
                <a:latin typeface="Pretendard" pitchFamily="34" charset="0"/>
                <a:ea typeface="Pretendard" pitchFamily="34" charset="-122"/>
                <a:cs typeface="Pretendard" pitchFamily="34" charset="-120"/>
              </a:rPr>
              <a:t>  페널티</a:t>
            </a:r>
            <a:endParaRPr lang="en-US" sz="1150" dirty="0"/>
          </a:p>
        </p:txBody>
      </p:sp>
      <p:sp>
        <p:nvSpPr>
          <p:cNvPr id="39" name="Shape 34"/>
          <p:cNvSpPr/>
          <p:nvPr/>
        </p:nvSpPr>
        <p:spPr>
          <a:xfrm>
            <a:off x="4434840" y="4069080"/>
            <a:ext cx="21945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40" name="Text 35"/>
          <p:cNvSpPr txBox="1"/>
          <p:nvPr/>
        </p:nvSpPr>
        <p:spPr>
          <a:xfrm>
            <a:off x="4617720" y="4251960"/>
            <a:ext cx="18288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초기 가설 수치</a:t>
            </a:r>
            <a:endParaRPr lang="en-US" sz="1500" dirty="0"/>
          </a:p>
        </p:txBody>
      </p:sp>
      <p:sp>
        <p:nvSpPr>
          <p:cNvPr id="41" name="Text 36"/>
          <p:cNvSpPr txBox="1"/>
          <p:nvPr/>
        </p:nvSpPr>
        <p:spPr>
          <a:xfrm>
            <a:off x="4617720" y="4617720"/>
            <a:ext cx="1874520" cy="1188720"/>
          </a:xfrm>
          <a:prstGeom prst="rect">
            <a:avLst/>
          </a:prstGeom>
          <a:noFill/>
          <a:ln/>
        </p:spPr>
        <p:txBody>
          <a:bodyPr wrap="square" lIns="0" tIns="0" rIns="0" bIns="0" rtlCol="0" anchor="t"/>
          <a:lstStyle/>
          <a:p>
            <a:pPr marL="0" indent="0">
              <a:buNone/>
            </a:pPr>
            <a:r>
              <a:rPr lang="en-US" sz="1200" dirty="0">
                <a:solidFill>
                  <a:srgbClr val="5E6066"/>
                </a:solidFill>
                <a:latin typeface="Pretendard" pitchFamily="34" charset="0"/>
                <a:ea typeface="Pretendard" pitchFamily="34" charset="-122"/>
                <a:cs typeface="Pretendard" pitchFamily="34" charset="-120"/>
              </a:rPr>
              <a:t>1인 보정 시 몬스터 체력 55~60%, 생존자 공속 +30%, 소환 비용 −20%.</a:t>
            </a:r>
            <a:endParaRPr lang="en-US" sz="1200" dirty="0"/>
          </a:p>
          <a:p>
            <a:pPr marL="0" indent="0">
              <a:buNone/>
            </a:pPr>
            <a:r>
              <a:rPr lang="en-US" sz="1200" dirty="0">
                <a:solidFill>
                  <a:srgbClr val="5E6066"/>
                </a:solidFill>
                <a:latin typeface="Pretendard" pitchFamily="34" charset="0"/>
                <a:ea typeface="Pretendard" pitchFamily="34" charset="-122"/>
                <a:cs typeface="Pretendard" pitchFamily="34" charset="-120"/>
              </a:rPr>
              <a:t>테스트 </a:t>
            </a:r>
            <a:r>
              <a:rPr lang="en-US" sz="1200" dirty="0" err="1">
                <a:solidFill>
                  <a:srgbClr val="5E6066"/>
                </a:solidFill>
                <a:latin typeface="Pretendard" pitchFamily="34" charset="0"/>
                <a:ea typeface="Pretendard" pitchFamily="34" charset="-122"/>
                <a:cs typeface="Pretendard" pitchFamily="34" charset="-120"/>
              </a:rPr>
              <a:t>서버</a:t>
            </a:r>
            <a:r>
              <a:rPr lang="en-US" sz="1200" dirty="0">
                <a:solidFill>
                  <a:srgbClr val="5E6066"/>
                </a:solidFill>
                <a:latin typeface="Pretendard" pitchFamily="34" charset="0"/>
                <a:ea typeface="Pretendard" pitchFamily="34" charset="-122"/>
                <a:cs typeface="Pretendard" pitchFamily="34" charset="-120"/>
              </a:rPr>
              <a:t> </a:t>
            </a:r>
            <a:r>
              <a:rPr lang="en-US" sz="1200" dirty="0" err="1">
                <a:solidFill>
                  <a:srgbClr val="5E6066"/>
                </a:solidFill>
                <a:latin typeface="Pretendard" pitchFamily="34" charset="0"/>
                <a:ea typeface="Pretendard" pitchFamily="34" charset="-122"/>
                <a:cs typeface="Pretendard" pitchFamily="34" charset="-120"/>
              </a:rPr>
              <a:t>클리어율</a:t>
            </a:r>
            <a:r>
              <a:rPr lang="ko-KR" altLang="en-US" sz="1200" dirty="0">
                <a:solidFill>
                  <a:srgbClr val="5E6066"/>
                </a:solidFill>
                <a:latin typeface="Pretendard" pitchFamily="34" charset="0"/>
                <a:ea typeface="Pretendard" pitchFamily="34" charset="-122"/>
                <a:cs typeface="Pretendard" pitchFamily="34" charset="-120"/>
              </a:rPr>
              <a:t>에 따라 기획 의도에 맞게 수치 조정</a:t>
            </a:r>
            <a:endParaRPr lang="en-US" sz="1200" dirty="0"/>
          </a:p>
        </p:txBody>
      </p:sp>
      <p:sp>
        <p:nvSpPr>
          <p:cNvPr id="42" name="Shape 37"/>
          <p:cNvSpPr/>
          <p:nvPr/>
        </p:nvSpPr>
        <p:spPr>
          <a:xfrm>
            <a:off x="6766560" y="4069080"/>
            <a:ext cx="21945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43" name="Text 38"/>
          <p:cNvSpPr txBox="1"/>
          <p:nvPr/>
        </p:nvSpPr>
        <p:spPr>
          <a:xfrm>
            <a:off x="6949440" y="4251960"/>
            <a:ext cx="18288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악용 방지</a:t>
            </a:r>
            <a:endParaRPr lang="en-US" sz="1500" dirty="0"/>
          </a:p>
        </p:txBody>
      </p:sp>
      <p:sp>
        <p:nvSpPr>
          <p:cNvPr id="44" name="Text 39"/>
          <p:cNvSpPr txBox="1"/>
          <p:nvPr/>
        </p:nvSpPr>
        <p:spPr>
          <a:xfrm>
            <a:off x="6949440" y="4617720"/>
            <a:ext cx="1874520" cy="1188720"/>
          </a:xfrm>
          <a:prstGeom prst="rect">
            <a:avLst/>
          </a:prstGeom>
          <a:noFill/>
          <a:ln/>
        </p:spPr>
        <p:txBody>
          <a:bodyPr wrap="square" lIns="0" tIns="0" rIns="0" bIns="0" rtlCol="0" anchor="t"/>
          <a:lstStyle/>
          <a:p>
            <a:pPr marL="0" indent="0">
              <a:buNone/>
            </a:pPr>
            <a:r>
              <a:rPr lang="en-US" sz="1200" dirty="0">
                <a:solidFill>
                  <a:srgbClr val="5E6066"/>
                </a:solidFill>
                <a:latin typeface="Pretendard" pitchFamily="34" charset="0"/>
                <a:ea typeface="Pretendard" pitchFamily="34" charset="-122"/>
                <a:cs typeface="Pretendard" pitchFamily="34" charset="-120"/>
              </a:rPr>
              <a:t>보정은 "남은 1인"에게만 </a:t>
            </a:r>
          </a:p>
          <a:p>
            <a:pPr marL="0" indent="0">
              <a:buNone/>
            </a:pPr>
            <a:r>
              <a:rPr lang="en-US" sz="1200" dirty="0" err="1">
                <a:solidFill>
                  <a:srgbClr val="5E6066"/>
                </a:solidFill>
                <a:latin typeface="Pretendard" pitchFamily="34" charset="0"/>
                <a:ea typeface="Pretendard" pitchFamily="34" charset="-122"/>
                <a:cs typeface="Pretendard" pitchFamily="34" charset="-120"/>
              </a:rPr>
              <a:t>적용</a:t>
            </a:r>
            <a:r>
              <a:rPr lang="en-US" sz="1200" dirty="0">
                <a:solidFill>
                  <a:srgbClr val="5E6066"/>
                </a:solidFill>
                <a:latin typeface="Pretendard" pitchFamily="34" charset="0"/>
                <a:ea typeface="Pretendard" pitchFamily="34" charset="-122"/>
                <a:cs typeface="Pretendard" pitchFamily="34" charset="-120"/>
              </a:rPr>
              <a:t>.</a:t>
            </a:r>
            <a:endParaRPr lang="en-US" sz="1200" dirty="0"/>
          </a:p>
          <a:p>
            <a:pPr marL="0" indent="0">
              <a:buNone/>
            </a:pPr>
            <a:r>
              <a:rPr lang="en-US" sz="1200" dirty="0">
                <a:solidFill>
                  <a:srgbClr val="5E6066"/>
                </a:solidFill>
                <a:latin typeface="Pretendard" pitchFamily="34" charset="0"/>
                <a:ea typeface="Pretendard" pitchFamily="34" charset="-122"/>
                <a:cs typeface="Pretendard" pitchFamily="34" charset="-120"/>
              </a:rPr>
              <a:t>같은 상대와 반복 탈주 패턴 시 보정·보상 제외</a:t>
            </a:r>
            <a:endParaRPr lang="en-US" sz="1200" dirty="0"/>
          </a:p>
        </p:txBody>
      </p:sp>
      <p:sp>
        <p:nvSpPr>
          <p:cNvPr id="45" name="Shape 40"/>
          <p:cNvSpPr/>
          <p:nvPr/>
        </p:nvSpPr>
        <p:spPr>
          <a:xfrm>
            <a:off x="9098280" y="4069080"/>
            <a:ext cx="2194560" cy="1783080"/>
          </a:xfrm>
          <a:prstGeom prst="roundRect">
            <a:avLst>
              <a:gd name="adj" fmla="val 4103"/>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46" name="Text 41"/>
          <p:cNvSpPr txBox="1"/>
          <p:nvPr/>
        </p:nvSpPr>
        <p:spPr>
          <a:xfrm>
            <a:off x="9281160" y="4251960"/>
            <a:ext cx="182880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기대 효과</a:t>
            </a:r>
            <a:endParaRPr lang="en-US" sz="1500" dirty="0"/>
          </a:p>
        </p:txBody>
      </p:sp>
      <p:sp>
        <p:nvSpPr>
          <p:cNvPr id="47" name="Text 42"/>
          <p:cNvSpPr txBox="1"/>
          <p:nvPr/>
        </p:nvSpPr>
        <p:spPr>
          <a:xfrm>
            <a:off x="9281160" y="4617720"/>
            <a:ext cx="1874520" cy="1188720"/>
          </a:xfrm>
          <a:prstGeom prst="rect">
            <a:avLst/>
          </a:prstGeom>
          <a:noFill/>
          <a:ln/>
        </p:spPr>
        <p:txBody>
          <a:bodyPr wrap="square" lIns="0" tIns="0" rIns="0" bIns="0" rtlCol="0" anchor="t"/>
          <a:lstStyle/>
          <a:p>
            <a:pPr marL="0" indent="0">
              <a:buNone/>
            </a:pPr>
            <a:r>
              <a:rPr lang="en-US" sz="1200" dirty="0">
                <a:solidFill>
                  <a:srgbClr val="5E6066"/>
                </a:solidFill>
                <a:latin typeface="Pretendard" pitchFamily="34" charset="0"/>
                <a:ea typeface="Pretendard" pitchFamily="34" charset="-122"/>
                <a:cs typeface="Pretendard" pitchFamily="34" charset="-120"/>
              </a:rPr>
              <a:t>"내 실력으로 만회 가능"한 구조로 전환 → 이탈 판의 즉시 이탈을 재도전 동기로</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txBody>
          <a:bodyPr/>
          <a:lstStyle/>
          <a:p>
            <a:endParaRPr lang="ko-KR" altLang="en-US" dirty="0"/>
          </a:p>
        </p:txBody>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제안 B  |  </a:t>
            </a:r>
            <a:r>
              <a:rPr lang="en-US" sz="3000" b="1" dirty="0" err="1">
                <a:solidFill>
                  <a:srgbClr val="1E1F22"/>
                </a:solidFill>
                <a:latin typeface="Pretendard" pitchFamily="34" charset="0"/>
                <a:ea typeface="Pretendard" pitchFamily="34" charset="-122"/>
                <a:cs typeface="Pretendard" pitchFamily="34" charset="-120"/>
              </a:rPr>
              <a:t>매칭</a:t>
            </a:r>
            <a:r>
              <a:rPr lang="en-US" sz="3000" b="1" dirty="0">
                <a:solidFill>
                  <a:srgbClr val="1E1F22"/>
                </a:solidFill>
                <a:latin typeface="Pretendard" pitchFamily="34" charset="0"/>
                <a:ea typeface="Pretendard" pitchFamily="34" charset="-122"/>
                <a:cs typeface="Pretendard" pitchFamily="34" charset="-120"/>
              </a:rPr>
              <a:t> </a:t>
            </a:r>
            <a:r>
              <a:rPr lang="en-US" sz="3000" b="1" dirty="0" err="1">
                <a:solidFill>
                  <a:srgbClr val="1E1F22"/>
                </a:solidFill>
                <a:latin typeface="Pretendard" pitchFamily="34" charset="0"/>
                <a:ea typeface="Pretendard" pitchFamily="34" charset="-122"/>
                <a:cs typeface="Pretendard" pitchFamily="34" charset="-120"/>
              </a:rPr>
              <a:t>개선</a:t>
            </a:r>
            <a:endParaRPr lang="en-US" sz="3000" dirty="0"/>
          </a:p>
        </p:txBody>
      </p:sp>
      <p:sp>
        <p:nvSpPr>
          <p:cNvPr id="14" name="Shape 10"/>
          <p:cNvSpPr/>
          <p:nvPr/>
        </p:nvSpPr>
        <p:spPr>
          <a:xfrm>
            <a:off x="2566279" y="2148840"/>
            <a:ext cx="3383280" cy="2834640"/>
          </a:xfrm>
          <a:prstGeom prst="roundRect">
            <a:avLst>
              <a:gd name="adj" fmla="val 2581"/>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15" name="Shape 11"/>
          <p:cNvSpPr/>
          <p:nvPr/>
        </p:nvSpPr>
        <p:spPr>
          <a:xfrm>
            <a:off x="2794879" y="2331720"/>
            <a:ext cx="640080" cy="640080"/>
          </a:xfrm>
          <a:prstGeom prst="ellipse">
            <a:avLst/>
          </a:prstGeom>
          <a:solidFill>
            <a:srgbClr val="FFFFFF"/>
          </a:solidFill>
          <a:ln w="25400">
            <a:solidFill>
              <a:srgbClr val="FC5230"/>
            </a:solidFill>
            <a:prstDash val="solid"/>
          </a:ln>
        </p:spPr>
      </p:sp>
      <p:pic>
        <p:nvPicPr>
          <p:cNvPr id="16" name="Image 1" descr="preencoded.png"/>
          <p:cNvPicPr>
            <a:picLocks noChangeAspect="1"/>
          </p:cNvPicPr>
          <p:nvPr/>
        </p:nvPicPr>
        <p:blipFill>
          <a:blip r:embed="rId4"/>
          <a:stretch>
            <a:fillRect/>
          </a:stretch>
        </p:blipFill>
        <p:spPr>
          <a:xfrm>
            <a:off x="2922895" y="2487168"/>
            <a:ext cx="384048" cy="384048"/>
          </a:xfrm>
          <a:prstGeom prst="rect">
            <a:avLst/>
          </a:prstGeom>
        </p:spPr>
      </p:pic>
      <p:sp>
        <p:nvSpPr>
          <p:cNvPr id="17" name="Text 12"/>
          <p:cNvSpPr txBox="1"/>
          <p:nvPr/>
        </p:nvSpPr>
        <p:spPr>
          <a:xfrm>
            <a:off x="3572119" y="2468880"/>
            <a:ext cx="2286000" cy="411480"/>
          </a:xfrm>
          <a:prstGeom prst="rect">
            <a:avLst/>
          </a:prstGeom>
          <a:noFill/>
          <a:ln/>
        </p:spPr>
        <p:txBody>
          <a:bodyPr wrap="square" lIns="0" tIns="0" rIns="0" bIns="0" rtlCol="0" anchor="t"/>
          <a:lstStyle/>
          <a:p>
            <a:pPr marL="0" indent="0">
              <a:buNone/>
            </a:pPr>
            <a:r>
              <a:rPr lang="en-US" sz="1900" b="1" dirty="0">
                <a:solidFill>
                  <a:srgbClr val="1E1F22"/>
                </a:solidFill>
                <a:latin typeface="Pretendard" pitchFamily="34" charset="0"/>
                <a:ea typeface="Pretendard" pitchFamily="34" charset="-122"/>
                <a:cs typeface="Pretendard" pitchFamily="34" charset="-120"/>
              </a:rPr>
              <a:t>스펙 구간 매칭</a:t>
            </a:r>
            <a:endParaRPr lang="en-US" sz="1900" dirty="0"/>
          </a:p>
        </p:txBody>
      </p:sp>
      <p:sp>
        <p:nvSpPr>
          <p:cNvPr id="18" name="Text 13"/>
          <p:cNvSpPr txBox="1"/>
          <p:nvPr/>
        </p:nvSpPr>
        <p:spPr>
          <a:xfrm>
            <a:off x="2794879" y="3154680"/>
            <a:ext cx="2971800" cy="17830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난이도별 권장 전투력(신화 레벨·유물 합산) 구간 안에서 우선 매칭</a:t>
            </a:r>
            <a:endParaRPr lang="en-US" sz="1350" dirty="0"/>
          </a:p>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대기 20초 초과 시 구간을 단계적으로 확장해 대기시간 방어</a:t>
            </a:r>
            <a:endParaRPr lang="en-US" sz="1350" dirty="0"/>
          </a:p>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권장 전투력 미달 시 입장 전 안내 팝업</a:t>
            </a:r>
            <a:endParaRPr lang="en-US" sz="1350" dirty="0"/>
          </a:p>
        </p:txBody>
      </p:sp>
      <p:sp>
        <p:nvSpPr>
          <p:cNvPr id="19" name="Shape 14"/>
          <p:cNvSpPr/>
          <p:nvPr/>
        </p:nvSpPr>
        <p:spPr>
          <a:xfrm>
            <a:off x="6159871" y="2148840"/>
            <a:ext cx="3383280" cy="2834640"/>
          </a:xfrm>
          <a:prstGeom prst="roundRect">
            <a:avLst>
              <a:gd name="adj" fmla="val 2581"/>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20" name="Shape 15"/>
          <p:cNvSpPr/>
          <p:nvPr/>
        </p:nvSpPr>
        <p:spPr>
          <a:xfrm>
            <a:off x="6388471" y="2331720"/>
            <a:ext cx="640080" cy="640080"/>
          </a:xfrm>
          <a:prstGeom prst="ellipse">
            <a:avLst/>
          </a:prstGeom>
          <a:solidFill>
            <a:srgbClr val="FFFFFF"/>
          </a:solidFill>
          <a:ln w="25400">
            <a:solidFill>
              <a:srgbClr val="FFCD4A"/>
            </a:solidFill>
            <a:prstDash val="solid"/>
          </a:ln>
        </p:spPr>
      </p:sp>
      <p:pic>
        <p:nvPicPr>
          <p:cNvPr id="21" name="Image 2" descr="preencoded.png"/>
          <p:cNvPicPr>
            <a:picLocks noChangeAspect="1"/>
          </p:cNvPicPr>
          <p:nvPr/>
        </p:nvPicPr>
        <p:blipFill>
          <a:blip r:embed="rId5"/>
          <a:stretch>
            <a:fillRect/>
          </a:stretch>
        </p:blipFill>
        <p:spPr>
          <a:xfrm>
            <a:off x="6516487" y="2487168"/>
            <a:ext cx="384048" cy="265176"/>
          </a:xfrm>
          <a:prstGeom prst="rect">
            <a:avLst/>
          </a:prstGeom>
        </p:spPr>
      </p:pic>
      <p:sp>
        <p:nvSpPr>
          <p:cNvPr id="22" name="Text 16"/>
          <p:cNvSpPr txBox="1"/>
          <p:nvPr/>
        </p:nvSpPr>
        <p:spPr>
          <a:xfrm>
            <a:off x="7165711" y="2468880"/>
            <a:ext cx="2286000" cy="411480"/>
          </a:xfrm>
          <a:prstGeom prst="rect">
            <a:avLst/>
          </a:prstGeom>
          <a:noFill/>
          <a:ln/>
        </p:spPr>
        <p:txBody>
          <a:bodyPr wrap="square" lIns="0" tIns="0" rIns="0" bIns="0" rtlCol="0" anchor="t"/>
          <a:lstStyle/>
          <a:p>
            <a:pPr marL="0" indent="0">
              <a:buNone/>
            </a:pPr>
            <a:r>
              <a:rPr lang="en-US" sz="1900" b="1" dirty="0">
                <a:solidFill>
                  <a:srgbClr val="1E1F22"/>
                </a:solidFill>
                <a:latin typeface="Pretendard" pitchFamily="34" charset="0"/>
                <a:ea typeface="Pretendard" pitchFamily="34" charset="-122"/>
                <a:cs typeface="Pretendard" pitchFamily="34" charset="-120"/>
              </a:rPr>
              <a:t>매너 점수</a:t>
            </a:r>
            <a:endParaRPr lang="en-US" sz="1900" dirty="0"/>
          </a:p>
        </p:txBody>
      </p:sp>
      <p:sp>
        <p:nvSpPr>
          <p:cNvPr id="23" name="Text 17"/>
          <p:cNvSpPr txBox="1"/>
          <p:nvPr/>
        </p:nvSpPr>
        <p:spPr>
          <a:xfrm>
            <a:off x="6388471" y="3154680"/>
            <a:ext cx="2971800" cy="178308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완주율·탈주율·신고 누적으로 매너 등급 산정</a:t>
            </a:r>
            <a:endParaRPr lang="en-US" sz="1350" dirty="0"/>
          </a:p>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고매너 유저끼리 우선 매칭, 반복 탈주자는 별도 매칭 풀</a:t>
            </a:r>
            <a:endParaRPr lang="en-US" sz="1350" dirty="0"/>
          </a:p>
          <a:p>
            <a:pPr marL="342900" indent="-342900">
              <a:spcAft>
                <a:spcPts val="900"/>
              </a:spcAft>
              <a:buSzPct val="100000"/>
              <a:buChar char="•"/>
            </a:pPr>
            <a:r>
              <a:rPr lang="en-US" sz="1350" dirty="0">
                <a:solidFill>
                  <a:srgbClr val="5E6066"/>
                </a:solidFill>
                <a:latin typeface="Pretendard" pitchFamily="34" charset="0"/>
                <a:ea typeface="Pretendard" pitchFamily="34" charset="-122"/>
                <a:cs typeface="Pretendard" pitchFamily="34" charset="-120"/>
              </a:rPr>
              <a:t>연속 완주 시 소량 보상으로 긍정 행동 강화</a:t>
            </a:r>
            <a:endParaRPr lang="en-US" sz="1350" dirty="0"/>
          </a:p>
        </p:txBody>
      </p:sp>
      <p:sp>
        <p:nvSpPr>
          <p:cNvPr id="29" name="Shape 22"/>
          <p:cNvSpPr/>
          <p:nvPr/>
        </p:nvSpPr>
        <p:spPr>
          <a:xfrm>
            <a:off x="777240" y="5212080"/>
            <a:ext cx="10607040" cy="731520"/>
          </a:xfrm>
          <a:prstGeom prst="roundRect">
            <a:avLst>
              <a:gd name="adj" fmla="val 10000"/>
            </a:avLst>
          </a:prstGeom>
          <a:solidFill>
            <a:srgbClr val="494A4E"/>
          </a:solidFill>
          <a:ln w="12700">
            <a:solidFill>
              <a:srgbClr val="494A4E"/>
            </a:solidFill>
            <a:prstDash val="solid"/>
          </a:ln>
        </p:spPr>
      </p:sp>
      <p:sp>
        <p:nvSpPr>
          <p:cNvPr id="30" name="Text 23"/>
          <p:cNvSpPr txBox="1"/>
          <p:nvPr/>
        </p:nvSpPr>
        <p:spPr>
          <a:xfrm>
            <a:off x="1051560" y="5212080"/>
            <a:ext cx="10149840" cy="731520"/>
          </a:xfrm>
          <a:prstGeom prst="rect">
            <a:avLst/>
          </a:prstGeom>
          <a:noFill/>
          <a:ln/>
        </p:spPr>
        <p:txBody>
          <a:bodyPr wrap="square" lIns="0" tIns="0" rIns="0" bIns="0" rtlCol="0" anchor="ctr"/>
          <a:lstStyle/>
          <a:p>
            <a:pPr marL="0" indent="0">
              <a:buNone/>
            </a:pPr>
            <a:r>
              <a:rPr lang="en-US" sz="1300" b="1" dirty="0">
                <a:solidFill>
                  <a:srgbClr val="FFCD4A"/>
                </a:solidFill>
                <a:latin typeface="Pretendard" pitchFamily="34" charset="0"/>
                <a:ea typeface="Pretendard" pitchFamily="34" charset="-122"/>
                <a:cs typeface="Pretendard" pitchFamily="34" charset="-120"/>
              </a:rPr>
              <a:t>  </a:t>
            </a:r>
            <a:r>
              <a:rPr lang="ko-KR" altLang="en-US" sz="1300" b="1" dirty="0">
                <a:solidFill>
                  <a:srgbClr val="FFFFFF"/>
                </a:solidFill>
                <a:latin typeface="Pretendard" pitchFamily="34" charset="0"/>
                <a:ea typeface="Pretendard" pitchFamily="34" charset="-122"/>
                <a:cs typeface="Pretendard" pitchFamily="34" charset="-120"/>
              </a:rPr>
              <a:t>전투력 과 매너 점수를 통해 매칭 시스템을 바꿔 한쪽의 영향으로 기울어 지는 밸런스를 막고 기존의 매칭의 따른 불쾌감을 줄이는 게 포인트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제안 C  |  성장 브릿지</a:t>
            </a:r>
            <a:endParaRPr lang="en-US" sz="3000" dirty="0"/>
          </a:p>
        </p:txBody>
      </p:sp>
      <p:sp>
        <p:nvSpPr>
          <p:cNvPr id="14" name="Shape 10"/>
          <p:cNvSpPr/>
          <p:nvPr/>
        </p:nvSpPr>
        <p:spPr>
          <a:xfrm>
            <a:off x="777240" y="3246120"/>
            <a:ext cx="1645920" cy="548640"/>
          </a:xfrm>
          <a:prstGeom prst="roundRect">
            <a:avLst>
              <a:gd name="adj" fmla="val 13333"/>
            </a:avLst>
          </a:prstGeom>
          <a:solidFill>
            <a:srgbClr val="EEEEEE"/>
          </a:solidFill>
          <a:ln w="12700">
            <a:solidFill>
              <a:srgbClr val="DADADA"/>
            </a:solidFill>
            <a:prstDash val="solid"/>
          </a:ln>
        </p:spPr>
      </p:sp>
      <p:sp>
        <p:nvSpPr>
          <p:cNvPr id="15" name="Text 11"/>
          <p:cNvSpPr txBox="1"/>
          <p:nvPr/>
        </p:nvSpPr>
        <p:spPr>
          <a:xfrm>
            <a:off x="777240" y="3246120"/>
            <a:ext cx="1645920" cy="548640"/>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보통</a:t>
            </a:r>
            <a:endParaRPr lang="en-US" sz="1500" dirty="0"/>
          </a:p>
        </p:txBody>
      </p:sp>
      <p:sp>
        <p:nvSpPr>
          <p:cNvPr id="16" name="Shape 12"/>
          <p:cNvSpPr/>
          <p:nvPr/>
        </p:nvSpPr>
        <p:spPr>
          <a:xfrm>
            <a:off x="2560320" y="3044952"/>
            <a:ext cx="1645920" cy="548640"/>
          </a:xfrm>
          <a:prstGeom prst="roundRect">
            <a:avLst>
              <a:gd name="adj" fmla="val 13333"/>
            </a:avLst>
          </a:prstGeom>
          <a:solidFill>
            <a:srgbClr val="EEEEEE"/>
          </a:solidFill>
          <a:ln w="12700">
            <a:solidFill>
              <a:srgbClr val="DADADA"/>
            </a:solidFill>
            <a:prstDash val="solid"/>
          </a:ln>
        </p:spPr>
      </p:sp>
      <p:sp>
        <p:nvSpPr>
          <p:cNvPr id="17" name="Text 13"/>
          <p:cNvSpPr txBox="1"/>
          <p:nvPr/>
        </p:nvSpPr>
        <p:spPr>
          <a:xfrm>
            <a:off x="2560320" y="3044952"/>
            <a:ext cx="1645920" cy="548640"/>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어려움</a:t>
            </a:r>
            <a:endParaRPr lang="en-US" sz="1500" dirty="0"/>
          </a:p>
        </p:txBody>
      </p:sp>
      <p:sp>
        <p:nvSpPr>
          <p:cNvPr id="18" name="Shape 14"/>
          <p:cNvSpPr/>
          <p:nvPr/>
        </p:nvSpPr>
        <p:spPr>
          <a:xfrm>
            <a:off x="4343400" y="2843784"/>
            <a:ext cx="1645920" cy="548640"/>
          </a:xfrm>
          <a:prstGeom prst="roundRect">
            <a:avLst>
              <a:gd name="adj" fmla="val 13333"/>
            </a:avLst>
          </a:prstGeom>
          <a:solidFill>
            <a:srgbClr val="FC5230"/>
          </a:solidFill>
          <a:ln w="12700">
            <a:solidFill>
              <a:srgbClr val="FC5230"/>
            </a:solidFill>
            <a:prstDash val="solid"/>
          </a:ln>
        </p:spPr>
      </p:sp>
      <p:sp>
        <p:nvSpPr>
          <p:cNvPr id="19" name="Text 15"/>
          <p:cNvSpPr txBox="1"/>
          <p:nvPr/>
        </p:nvSpPr>
        <p:spPr>
          <a:xfrm>
            <a:off x="4343400" y="2843784"/>
            <a:ext cx="164592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Pretendard" pitchFamily="34" charset="0"/>
                <a:ea typeface="Pretendard" pitchFamily="34" charset="-122"/>
                <a:cs typeface="Pretendard" pitchFamily="34" charset="-120"/>
              </a:rPr>
              <a:t>어려움+ (신설)</a:t>
            </a:r>
            <a:endParaRPr lang="en-US" sz="1300" dirty="0"/>
          </a:p>
        </p:txBody>
      </p:sp>
      <p:sp>
        <p:nvSpPr>
          <p:cNvPr id="20" name="Shape 16"/>
          <p:cNvSpPr/>
          <p:nvPr/>
        </p:nvSpPr>
        <p:spPr>
          <a:xfrm>
            <a:off x="6126480" y="2642616"/>
            <a:ext cx="1645920" cy="548640"/>
          </a:xfrm>
          <a:prstGeom prst="roundRect">
            <a:avLst>
              <a:gd name="adj" fmla="val 13333"/>
            </a:avLst>
          </a:prstGeom>
          <a:solidFill>
            <a:srgbClr val="EEEEEE"/>
          </a:solidFill>
          <a:ln w="12700">
            <a:solidFill>
              <a:srgbClr val="BDBEC1"/>
            </a:solidFill>
            <a:prstDash val="solid"/>
          </a:ln>
        </p:spPr>
      </p:sp>
      <p:sp>
        <p:nvSpPr>
          <p:cNvPr id="21" name="Text 17"/>
          <p:cNvSpPr txBox="1"/>
          <p:nvPr/>
        </p:nvSpPr>
        <p:spPr>
          <a:xfrm>
            <a:off x="6126480" y="2642616"/>
            <a:ext cx="1645920" cy="548640"/>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지옥</a:t>
            </a:r>
            <a:endParaRPr lang="en-US" sz="1500" dirty="0"/>
          </a:p>
        </p:txBody>
      </p:sp>
      <p:sp>
        <p:nvSpPr>
          <p:cNvPr id="22" name="Shape 18"/>
          <p:cNvSpPr/>
          <p:nvPr/>
        </p:nvSpPr>
        <p:spPr>
          <a:xfrm>
            <a:off x="7909560" y="2441448"/>
            <a:ext cx="1645920" cy="548640"/>
          </a:xfrm>
          <a:prstGeom prst="roundRect">
            <a:avLst>
              <a:gd name="adj" fmla="val 13333"/>
            </a:avLst>
          </a:prstGeom>
          <a:solidFill>
            <a:srgbClr val="EEEEEE"/>
          </a:solidFill>
          <a:ln w="12700">
            <a:solidFill>
              <a:srgbClr val="BDBEC1"/>
            </a:solidFill>
            <a:prstDash val="solid"/>
          </a:ln>
        </p:spPr>
      </p:sp>
      <p:sp>
        <p:nvSpPr>
          <p:cNvPr id="23" name="Text 19"/>
          <p:cNvSpPr txBox="1"/>
          <p:nvPr/>
        </p:nvSpPr>
        <p:spPr>
          <a:xfrm>
            <a:off x="7909560" y="2441448"/>
            <a:ext cx="1645920" cy="548640"/>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신</a:t>
            </a:r>
            <a:endParaRPr lang="en-US" sz="1500" dirty="0"/>
          </a:p>
        </p:txBody>
      </p:sp>
      <p:sp>
        <p:nvSpPr>
          <p:cNvPr id="24" name="Shape 20"/>
          <p:cNvSpPr/>
          <p:nvPr/>
        </p:nvSpPr>
        <p:spPr>
          <a:xfrm>
            <a:off x="9692640" y="2240280"/>
            <a:ext cx="1645920" cy="548640"/>
          </a:xfrm>
          <a:prstGeom prst="roundRect">
            <a:avLst>
              <a:gd name="adj" fmla="val 13333"/>
            </a:avLst>
          </a:prstGeom>
          <a:solidFill>
            <a:srgbClr val="EEEEEE"/>
          </a:solidFill>
          <a:ln w="12700">
            <a:solidFill>
              <a:srgbClr val="BDBEC1"/>
            </a:solidFill>
            <a:prstDash val="solid"/>
          </a:ln>
        </p:spPr>
      </p:sp>
      <p:sp>
        <p:nvSpPr>
          <p:cNvPr id="25" name="Text 21"/>
          <p:cNvSpPr txBox="1"/>
          <p:nvPr/>
        </p:nvSpPr>
        <p:spPr>
          <a:xfrm>
            <a:off x="9692640" y="2240280"/>
            <a:ext cx="1645920" cy="548640"/>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태초</a:t>
            </a:r>
            <a:endParaRPr lang="en-US" sz="1500" dirty="0"/>
          </a:p>
        </p:txBody>
      </p:sp>
      <p:sp>
        <p:nvSpPr>
          <p:cNvPr id="26" name="Text 22"/>
          <p:cNvSpPr txBox="1"/>
          <p:nvPr/>
        </p:nvSpPr>
        <p:spPr>
          <a:xfrm>
            <a:off x="2560320" y="3611880"/>
            <a:ext cx="2194560" cy="274320"/>
          </a:xfrm>
          <a:prstGeom prst="rect">
            <a:avLst/>
          </a:prstGeom>
          <a:noFill/>
          <a:ln/>
        </p:spPr>
        <p:txBody>
          <a:bodyPr wrap="square" lIns="0" tIns="0" rIns="0" bIns="0" rtlCol="0" anchor="t"/>
          <a:lstStyle/>
          <a:p>
            <a:pPr marL="0" indent="0">
              <a:buNone/>
            </a:pPr>
            <a:r>
              <a:rPr lang="en-US" sz="1150" b="1" dirty="0">
                <a:solidFill>
                  <a:srgbClr val="FC5230"/>
                </a:solidFill>
                <a:latin typeface="Pretendard" pitchFamily="34" charset="0"/>
                <a:ea typeface="Pretendard" pitchFamily="34" charset="-122"/>
                <a:cs typeface="Pretendard" pitchFamily="34" charset="-120"/>
              </a:rPr>
              <a:t>▲ 현재 이탈이 몰리는 구간</a:t>
            </a:r>
            <a:endParaRPr lang="en-US" sz="1150" dirty="0"/>
          </a:p>
        </p:txBody>
      </p:sp>
      <p:sp>
        <p:nvSpPr>
          <p:cNvPr id="27" name="Text 23"/>
          <p:cNvSpPr txBox="1"/>
          <p:nvPr/>
        </p:nvSpPr>
        <p:spPr>
          <a:xfrm>
            <a:off x="6126480" y="3401568"/>
            <a:ext cx="2377440" cy="274320"/>
          </a:xfrm>
          <a:prstGeom prst="rect">
            <a:avLst/>
          </a:prstGeom>
          <a:noFill/>
          <a:ln/>
        </p:spPr>
        <p:txBody>
          <a:bodyPr wrap="square" lIns="0" tIns="0" rIns="0" bIns="0" rtlCol="0" anchor="t"/>
          <a:lstStyle/>
          <a:p>
            <a:pPr marL="0" indent="0">
              <a:buNone/>
            </a:pPr>
            <a:r>
              <a:rPr lang="en-US" sz="1150" b="1" dirty="0">
                <a:solidFill>
                  <a:srgbClr val="FC5230"/>
                </a:solidFill>
                <a:latin typeface="Pretendard" pitchFamily="34" charset="0"/>
                <a:ea typeface="Pretendard" pitchFamily="34" charset="-122"/>
                <a:cs typeface="Pretendard" pitchFamily="34" charset="-120"/>
              </a:rPr>
              <a:t>▲ 지옥 70웨이브: 반복 실패 벽</a:t>
            </a:r>
            <a:endParaRPr lang="en-US" sz="1150" dirty="0"/>
          </a:p>
        </p:txBody>
      </p:sp>
      <p:sp>
        <p:nvSpPr>
          <p:cNvPr id="29" name="Shape 25"/>
          <p:cNvSpPr/>
          <p:nvPr/>
        </p:nvSpPr>
        <p:spPr>
          <a:xfrm>
            <a:off x="777240" y="4206240"/>
            <a:ext cx="2514600" cy="1691640"/>
          </a:xfrm>
          <a:prstGeom prst="roundRect">
            <a:avLst>
              <a:gd name="adj" fmla="val 4324"/>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30" name="Shape 26"/>
          <p:cNvSpPr/>
          <p:nvPr/>
        </p:nvSpPr>
        <p:spPr>
          <a:xfrm>
            <a:off x="960120" y="4389120"/>
            <a:ext cx="347472" cy="347472"/>
          </a:xfrm>
          <a:prstGeom prst="ellipse">
            <a:avLst/>
          </a:prstGeom>
          <a:solidFill>
            <a:srgbClr val="FC5230"/>
          </a:solidFill>
          <a:ln w="12700">
            <a:solidFill>
              <a:srgbClr val="FC5230"/>
            </a:solidFill>
            <a:prstDash val="solid"/>
          </a:ln>
        </p:spPr>
      </p:sp>
      <p:sp>
        <p:nvSpPr>
          <p:cNvPr id="31" name="Text 27"/>
          <p:cNvSpPr txBox="1"/>
          <p:nvPr/>
        </p:nvSpPr>
        <p:spPr>
          <a:xfrm>
            <a:off x="960120" y="43891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a:t>
            </a:r>
            <a:endParaRPr lang="en-US" sz="1400" dirty="0"/>
          </a:p>
        </p:txBody>
      </p:sp>
      <p:sp>
        <p:nvSpPr>
          <p:cNvPr id="32" name="Text 28"/>
          <p:cNvSpPr txBox="1"/>
          <p:nvPr/>
        </p:nvSpPr>
        <p:spPr>
          <a:xfrm>
            <a:off x="1417320" y="4389120"/>
            <a:ext cx="1783080" cy="347472"/>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수급처 확대</a:t>
            </a:r>
            <a:endParaRPr lang="en-US" sz="1500" dirty="0"/>
          </a:p>
        </p:txBody>
      </p:sp>
      <p:sp>
        <p:nvSpPr>
          <p:cNvPr id="33" name="Text 29"/>
          <p:cNvSpPr txBox="1"/>
          <p:nvPr/>
        </p:nvSpPr>
        <p:spPr>
          <a:xfrm>
            <a:off x="960120" y="4892040"/>
            <a:ext cx="2148840" cy="914400"/>
          </a:xfrm>
          <a:prstGeom prst="rect">
            <a:avLst/>
          </a:prstGeom>
          <a:noFill/>
          <a:ln/>
        </p:spPr>
        <p:txBody>
          <a:bodyPr wrap="square" lIns="0" tIns="0" rIns="0" bIns="0" rtlCol="0" anchor="t"/>
          <a:lstStyle/>
          <a:p>
            <a:pPr marL="0" indent="0">
              <a:buNone/>
            </a:pPr>
            <a:r>
              <a:rPr lang="en-US" sz="1300" dirty="0">
                <a:solidFill>
                  <a:srgbClr val="5E6066"/>
                </a:solidFill>
                <a:latin typeface="Pretendard" pitchFamily="34" charset="0"/>
                <a:ea typeface="Pretendard" pitchFamily="34" charset="-122"/>
                <a:cs typeface="Pretendard" pitchFamily="34" charset="-120"/>
              </a:rPr>
              <a:t>주간 협동 미션, 패배해도 도달 웨이브만큼 신화석·초월 재료 진행도 누적</a:t>
            </a:r>
            <a:endParaRPr lang="en-US" sz="1300" dirty="0"/>
          </a:p>
        </p:txBody>
      </p:sp>
      <p:sp>
        <p:nvSpPr>
          <p:cNvPr id="34" name="Shape 30"/>
          <p:cNvSpPr/>
          <p:nvPr/>
        </p:nvSpPr>
        <p:spPr>
          <a:xfrm>
            <a:off x="3474720" y="4206240"/>
            <a:ext cx="2514600" cy="1691640"/>
          </a:xfrm>
          <a:prstGeom prst="roundRect">
            <a:avLst>
              <a:gd name="adj" fmla="val 4324"/>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35" name="Shape 31"/>
          <p:cNvSpPr/>
          <p:nvPr/>
        </p:nvSpPr>
        <p:spPr>
          <a:xfrm>
            <a:off x="3657600" y="4389120"/>
            <a:ext cx="347472" cy="347472"/>
          </a:xfrm>
          <a:prstGeom prst="ellipse">
            <a:avLst/>
          </a:prstGeom>
          <a:solidFill>
            <a:srgbClr val="FFCD4A"/>
          </a:solidFill>
          <a:ln w="12700">
            <a:solidFill>
              <a:srgbClr val="FFCD4A"/>
            </a:solidFill>
            <a:prstDash val="solid"/>
          </a:ln>
        </p:spPr>
      </p:sp>
      <p:sp>
        <p:nvSpPr>
          <p:cNvPr id="36" name="Text 32"/>
          <p:cNvSpPr txBox="1"/>
          <p:nvPr/>
        </p:nvSpPr>
        <p:spPr>
          <a:xfrm>
            <a:off x="3657600" y="4389120"/>
            <a:ext cx="347472" cy="347472"/>
          </a:xfrm>
          <a:prstGeom prst="rect">
            <a:avLst/>
          </a:prstGeom>
          <a:noFill/>
          <a:ln/>
        </p:spPr>
        <p:txBody>
          <a:bodyPr wrap="square" lIns="0" tIns="0" rIns="0" bIns="0" rtlCol="0" anchor="ctr"/>
          <a:lstStyle/>
          <a:p>
            <a:pPr marL="0" indent="0" algn="ctr">
              <a:buNone/>
            </a:pPr>
            <a:r>
              <a:rPr lang="en-US" sz="1400" b="1" dirty="0">
                <a:solidFill>
                  <a:srgbClr val="1E1F22"/>
                </a:solidFill>
                <a:latin typeface="Pretendard" pitchFamily="34" charset="0"/>
                <a:ea typeface="Pretendard" pitchFamily="34" charset="-122"/>
                <a:cs typeface="Pretendard" pitchFamily="34" charset="-120"/>
              </a:rPr>
              <a:t>2</a:t>
            </a:r>
            <a:endParaRPr lang="en-US" sz="1400" dirty="0"/>
          </a:p>
        </p:txBody>
      </p:sp>
      <p:sp>
        <p:nvSpPr>
          <p:cNvPr id="37" name="Text 33"/>
          <p:cNvSpPr txBox="1"/>
          <p:nvPr/>
        </p:nvSpPr>
        <p:spPr>
          <a:xfrm>
            <a:off x="4114800" y="4389120"/>
            <a:ext cx="1783080" cy="347472"/>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체험 대여</a:t>
            </a:r>
            <a:endParaRPr lang="en-US" sz="1500" dirty="0"/>
          </a:p>
        </p:txBody>
      </p:sp>
      <p:sp>
        <p:nvSpPr>
          <p:cNvPr id="38" name="Text 34"/>
          <p:cNvSpPr txBox="1"/>
          <p:nvPr/>
        </p:nvSpPr>
        <p:spPr>
          <a:xfrm>
            <a:off x="3657600" y="4892040"/>
            <a:ext cx="2148840" cy="914400"/>
          </a:xfrm>
          <a:prstGeom prst="rect">
            <a:avLst/>
          </a:prstGeom>
          <a:noFill/>
          <a:ln/>
        </p:spPr>
        <p:txBody>
          <a:bodyPr wrap="square" lIns="0" tIns="0" rIns="0" bIns="0" rtlCol="0" anchor="t"/>
          <a:lstStyle/>
          <a:p>
            <a:pPr marL="0" indent="0">
              <a:buNone/>
            </a:pPr>
            <a:r>
              <a:rPr lang="en-US" sz="1300" dirty="0">
                <a:solidFill>
                  <a:srgbClr val="5E6066"/>
                </a:solidFill>
                <a:latin typeface="Pretendard" pitchFamily="34" charset="0"/>
                <a:ea typeface="Pretendard" pitchFamily="34" charset="-122"/>
                <a:cs typeface="Pretendard" pitchFamily="34" charset="-120"/>
              </a:rPr>
              <a:t>신화 유닛·유물을 3판 한정 대여 → "써 보고 목표로 삼는" 동선</a:t>
            </a:r>
            <a:endParaRPr lang="en-US" sz="1300" dirty="0"/>
          </a:p>
        </p:txBody>
      </p:sp>
      <p:sp>
        <p:nvSpPr>
          <p:cNvPr id="39" name="Shape 35"/>
          <p:cNvSpPr/>
          <p:nvPr/>
        </p:nvSpPr>
        <p:spPr>
          <a:xfrm>
            <a:off x="6172200" y="4206240"/>
            <a:ext cx="2514600" cy="1691640"/>
          </a:xfrm>
          <a:prstGeom prst="roundRect">
            <a:avLst>
              <a:gd name="adj" fmla="val 4324"/>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40" name="Shape 36"/>
          <p:cNvSpPr/>
          <p:nvPr/>
        </p:nvSpPr>
        <p:spPr>
          <a:xfrm>
            <a:off x="6355080" y="4389120"/>
            <a:ext cx="347472" cy="347472"/>
          </a:xfrm>
          <a:prstGeom prst="ellipse">
            <a:avLst/>
          </a:prstGeom>
          <a:solidFill>
            <a:srgbClr val="6FB848"/>
          </a:solidFill>
          <a:ln w="12700">
            <a:solidFill>
              <a:srgbClr val="6FB848"/>
            </a:solidFill>
            <a:prstDash val="solid"/>
          </a:ln>
        </p:spPr>
      </p:sp>
      <p:sp>
        <p:nvSpPr>
          <p:cNvPr id="41" name="Text 37"/>
          <p:cNvSpPr txBox="1"/>
          <p:nvPr/>
        </p:nvSpPr>
        <p:spPr>
          <a:xfrm>
            <a:off x="6355080" y="43891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a:t>
            </a:r>
            <a:endParaRPr lang="en-US" sz="1400" dirty="0"/>
          </a:p>
        </p:txBody>
      </p:sp>
      <p:sp>
        <p:nvSpPr>
          <p:cNvPr id="42" name="Text 38"/>
          <p:cNvSpPr txBox="1"/>
          <p:nvPr/>
        </p:nvSpPr>
        <p:spPr>
          <a:xfrm>
            <a:off x="6812280" y="4389120"/>
            <a:ext cx="1783080" cy="347472"/>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초월 격차 보정</a:t>
            </a:r>
            <a:endParaRPr lang="en-US" sz="1500" dirty="0"/>
          </a:p>
        </p:txBody>
      </p:sp>
      <p:sp>
        <p:nvSpPr>
          <p:cNvPr id="43" name="Text 39"/>
          <p:cNvSpPr txBox="1"/>
          <p:nvPr/>
        </p:nvSpPr>
        <p:spPr>
          <a:xfrm>
            <a:off x="6355080" y="4892040"/>
            <a:ext cx="2148840" cy="914400"/>
          </a:xfrm>
          <a:prstGeom prst="rect">
            <a:avLst/>
          </a:prstGeom>
          <a:noFill/>
          <a:ln/>
        </p:spPr>
        <p:txBody>
          <a:bodyPr wrap="square" lIns="0" tIns="0" rIns="0" bIns="0" rtlCol="0" anchor="t"/>
          <a:lstStyle/>
          <a:p>
            <a:pPr marL="0" indent="0">
              <a:buNone/>
            </a:pPr>
            <a:r>
              <a:rPr lang="en-US" sz="1300" dirty="0">
                <a:solidFill>
                  <a:srgbClr val="5E6066"/>
                </a:solidFill>
                <a:latin typeface="Pretendard" pitchFamily="34" charset="0"/>
                <a:ea typeface="Pretendard" pitchFamily="34" charset="-122"/>
                <a:cs typeface="Pretendard" pitchFamily="34" charset="-120"/>
              </a:rPr>
              <a:t>어려움·지옥 협동에서 유물 초월 효과의 난이도별 상한·하한을 두어 누적 체급 차 완화</a:t>
            </a:r>
            <a:endParaRPr lang="en-US" sz="1300" dirty="0"/>
          </a:p>
        </p:txBody>
      </p:sp>
      <p:sp>
        <p:nvSpPr>
          <p:cNvPr id="44" name="Shape 40"/>
          <p:cNvSpPr/>
          <p:nvPr/>
        </p:nvSpPr>
        <p:spPr>
          <a:xfrm>
            <a:off x="8869680" y="4206240"/>
            <a:ext cx="2514600" cy="1691640"/>
          </a:xfrm>
          <a:prstGeom prst="roundRect">
            <a:avLst>
              <a:gd name="adj" fmla="val 4324"/>
            </a:avLst>
          </a:prstGeom>
          <a:solidFill>
            <a:srgbClr val="F6F6F6"/>
          </a:solidFill>
          <a:ln w="12700">
            <a:solidFill>
              <a:srgbClr val="E4E4E4"/>
            </a:solidFill>
            <a:prstDash val="solid"/>
          </a:ln>
          <a:effectLst>
            <a:outerShdw blurRad="76200" dist="25400" dir="5400000" algn="bl" rotWithShape="0">
              <a:srgbClr val="000000">
                <a:alpha val="12000"/>
              </a:srgbClr>
            </a:outerShdw>
          </a:effectLst>
        </p:spPr>
      </p:sp>
      <p:sp>
        <p:nvSpPr>
          <p:cNvPr id="45" name="Shape 41"/>
          <p:cNvSpPr/>
          <p:nvPr/>
        </p:nvSpPr>
        <p:spPr>
          <a:xfrm>
            <a:off x="9052560" y="4389120"/>
            <a:ext cx="347472" cy="347472"/>
          </a:xfrm>
          <a:prstGeom prst="ellipse">
            <a:avLst/>
          </a:prstGeom>
          <a:solidFill>
            <a:srgbClr val="494A4E"/>
          </a:solidFill>
          <a:ln w="12700">
            <a:solidFill>
              <a:srgbClr val="494A4E"/>
            </a:solidFill>
            <a:prstDash val="solid"/>
          </a:ln>
        </p:spPr>
      </p:sp>
      <p:sp>
        <p:nvSpPr>
          <p:cNvPr id="46" name="Text 42"/>
          <p:cNvSpPr txBox="1"/>
          <p:nvPr/>
        </p:nvSpPr>
        <p:spPr>
          <a:xfrm>
            <a:off x="9052560" y="43891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a:t>
            </a:r>
            <a:endParaRPr lang="en-US" sz="1400" dirty="0"/>
          </a:p>
        </p:txBody>
      </p:sp>
      <p:sp>
        <p:nvSpPr>
          <p:cNvPr id="47" name="Text 43"/>
          <p:cNvSpPr txBox="1"/>
          <p:nvPr/>
        </p:nvSpPr>
        <p:spPr>
          <a:xfrm>
            <a:off x="9509760" y="4389120"/>
            <a:ext cx="1783080" cy="347472"/>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추천 조합 · 복귀 지원</a:t>
            </a:r>
            <a:endParaRPr lang="en-US" sz="1500" dirty="0"/>
          </a:p>
        </p:txBody>
      </p:sp>
      <p:sp>
        <p:nvSpPr>
          <p:cNvPr id="48" name="Text 44"/>
          <p:cNvSpPr txBox="1"/>
          <p:nvPr/>
        </p:nvSpPr>
        <p:spPr>
          <a:xfrm>
            <a:off x="9052560" y="4892040"/>
            <a:ext cx="2148840" cy="914400"/>
          </a:xfrm>
          <a:prstGeom prst="rect">
            <a:avLst/>
          </a:prstGeom>
          <a:noFill/>
          <a:ln/>
        </p:spPr>
        <p:txBody>
          <a:bodyPr wrap="square" lIns="0" tIns="0" rIns="0" bIns="0" rtlCol="0" anchor="t"/>
          <a:lstStyle/>
          <a:p>
            <a:pPr marL="0" indent="0">
              <a:buNone/>
            </a:pPr>
            <a:r>
              <a:rPr lang="en-US" sz="1300" dirty="0">
                <a:solidFill>
                  <a:srgbClr val="5E6066"/>
                </a:solidFill>
                <a:latin typeface="Pretendard" pitchFamily="34" charset="0"/>
                <a:ea typeface="Pretendard" pitchFamily="34" charset="-122"/>
                <a:cs typeface="Pretendard" pitchFamily="34" charset="-120"/>
              </a:rPr>
              <a:t>보유 유닛 기반 조합·역할 추천, 14일 이상 미접속 복귀 시 대여권 지급</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sp>
        <p:nvSpPr>
          <p:cNvPr id="8" name="Shape 6"/>
          <p:cNvSpPr/>
          <p:nvPr/>
        </p:nvSpPr>
        <p:spPr>
          <a:xfrm>
            <a:off x="4480560" y="393192"/>
            <a:ext cx="3227832" cy="228600"/>
          </a:xfrm>
          <a:prstGeom prst="roundRect">
            <a:avLst>
              <a:gd name="adj" fmla="val 48000"/>
            </a:avLst>
          </a:prstGeom>
          <a:solidFill>
            <a:srgbClr val="494A4E"/>
          </a:solidFill>
          <a:ln w="12700">
            <a:solidFill>
              <a:srgbClr val="494A4E"/>
            </a:solidFill>
            <a:prstDash val="solid"/>
          </a:ln>
        </p:spPr>
      </p:sp>
      <p:sp>
        <p:nvSpPr>
          <p:cNvPr id="9" name="Text 7"/>
          <p:cNvSpPr txBox="1"/>
          <p:nvPr/>
        </p:nvSpPr>
        <p:spPr>
          <a:xfrm>
            <a:off x="4480560" y="393192"/>
            <a:ext cx="3227832" cy="228600"/>
          </a:xfrm>
          <a:prstGeom prst="rect">
            <a:avLst/>
          </a:prstGeom>
          <a:noFill/>
          <a:ln/>
        </p:spPr>
        <p:txBody>
          <a:bodyPr wrap="square" lIns="0" tIns="0" rIns="0" bIns="0" rtlCol="0" anchor="ctr"/>
          <a:lstStyle/>
          <a:p>
            <a:pPr marL="0" indent="0" algn="ctr">
              <a:buNone/>
            </a:pPr>
            <a:r>
              <a:rPr lang="en-US" sz="1000" dirty="0">
                <a:solidFill>
                  <a:srgbClr val="C9CACD"/>
                </a:solidFill>
                <a:latin typeface="Pretendard" pitchFamily="34" charset="0"/>
                <a:ea typeface="Pretendard" pitchFamily="34" charset="-122"/>
                <a:cs typeface="Pretendard" pitchFamily="34" charset="-120"/>
              </a:rPr>
              <a:t>proposal_D_probability</a:t>
            </a:r>
            <a:endParaRPr lang="en-US" sz="1000" dirty="0"/>
          </a:p>
        </p:txBody>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제안 D  |  확률 투명성</a:t>
            </a:r>
            <a:endParaRPr lang="en-US" sz="3000" dirty="0"/>
          </a:p>
        </p:txBody>
      </p:sp>
      <p:sp>
        <p:nvSpPr>
          <p:cNvPr id="14" name="Shape 10"/>
          <p:cNvSpPr/>
          <p:nvPr/>
        </p:nvSpPr>
        <p:spPr>
          <a:xfrm>
            <a:off x="777240" y="2148840"/>
            <a:ext cx="4206240" cy="3931920"/>
          </a:xfrm>
          <a:prstGeom prst="roundRect">
            <a:avLst>
              <a:gd name="adj" fmla="val 2326"/>
            </a:avLst>
          </a:prstGeom>
          <a:solidFill>
            <a:srgbClr val="494A4E"/>
          </a:solidFill>
          <a:ln w="12700">
            <a:solidFill>
              <a:srgbClr val="494A4E"/>
            </a:solidFill>
            <a:prstDash val="solid"/>
          </a:ln>
          <a:effectLst>
            <a:outerShdw blurRad="76200" dist="25400" dir="5400000" algn="bl" rotWithShape="0">
              <a:srgbClr val="000000">
                <a:alpha val="12000"/>
              </a:srgbClr>
            </a:outerShdw>
          </a:effectLst>
        </p:spPr>
      </p:sp>
      <p:sp>
        <p:nvSpPr>
          <p:cNvPr id="15" name="Text 11"/>
          <p:cNvSpPr txBox="1"/>
          <p:nvPr/>
        </p:nvSpPr>
        <p:spPr>
          <a:xfrm>
            <a:off x="1051560" y="2331720"/>
            <a:ext cx="3657600" cy="365760"/>
          </a:xfrm>
          <a:prstGeom prst="rect">
            <a:avLst/>
          </a:prstGeom>
          <a:noFill/>
          <a:ln/>
        </p:spPr>
        <p:txBody>
          <a:bodyPr wrap="square" lIns="0" tIns="0" rIns="0" bIns="0" rtlCol="0" anchor="t"/>
          <a:lstStyle/>
          <a:p>
            <a:pPr marL="0" indent="0">
              <a:buNone/>
            </a:pPr>
            <a:r>
              <a:rPr lang="en-US" sz="1600" b="1" dirty="0">
                <a:solidFill>
                  <a:srgbClr val="FFFFFF"/>
                </a:solidFill>
                <a:latin typeface="Pretendard" pitchFamily="34" charset="0"/>
                <a:ea typeface="Pretendard" pitchFamily="34" charset="-122"/>
                <a:cs typeface="Pretendard" pitchFamily="34" charset="-120"/>
              </a:rPr>
              <a:t>내 소환 기록 (UI 예시)</a:t>
            </a:r>
            <a:endParaRPr lang="en-US" sz="1600" dirty="0"/>
          </a:p>
        </p:txBody>
      </p:sp>
      <p:sp>
        <p:nvSpPr>
          <p:cNvPr id="16" name="Text 12"/>
          <p:cNvSpPr txBox="1"/>
          <p:nvPr/>
        </p:nvSpPr>
        <p:spPr>
          <a:xfrm>
            <a:off x="1051560" y="2697480"/>
            <a:ext cx="3657600" cy="274320"/>
          </a:xfrm>
          <a:prstGeom prst="rect">
            <a:avLst/>
          </a:prstGeom>
          <a:noFill/>
          <a:ln/>
        </p:spPr>
        <p:txBody>
          <a:bodyPr wrap="square" lIns="0" tIns="0" rIns="0" bIns="0" rtlCol="0" anchor="t"/>
          <a:lstStyle/>
          <a:p>
            <a:pPr marL="0" indent="0">
              <a:buNone/>
            </a:pPr>
            <a:r>
              <a:rPr lang="en-US" sz="1100" dirty="0">
                <a:solidFill>
                  <a:srgbClr val="BFC0C3"/>
                </a:solidFill>
                <a:latin typeface="Pretendard" pitchFamily="34" charset="0"/>
                <a:ea typeface="Pretendard" pitchFamily="34" charset="-122"/>
                <a:cs typeface="Pretendard" pitchFamily="34" charset="-120"/>
              </a:rPr>
              <a:t>최근 소환 N회 · 등급별 분포</a:t>
            </a:r>
            <a:endParaRPr lang="en-US" sz="1100" dirty="0"/>
          </a:p>
        </p:txBody>
      </p:sp>
      <p:sp>
        <p:nvSpPr>
          <p:cNvPr id="17" name="Text 13"/>
          <p:cNvSpPr txBox="1"/>
          <p:nvPr/>
        </p:nvSpPr>
        <p:spPr>
          <a:xfrm>
            <a:off x="1051560" y="3154680"/>
            <a:ext cx="548640" cy="411480"/>
          </a:xfrm>
          <a:prstGeom prst="rect">
            <a:avLst/>
          </a:prstGeom>
          <a:noFill/>
          <a:ln/>
        </p:spPr>
        <p:txBody>
          <a:bodyPr wrap="square" lIns="0" tIns="0" rIns="0" bIns="0" rtlCol="0" anchor="ctr"/>
          <a:lstStyle/>
          <a:p>
            <a:pPr marL="0" indent="0">
              <a:buNone/>
            </a:pPr>
            <a:r>
              <a:rPr lang="en-US" sz="1200" dirty="0">
                <a:solidFill>
                  <a:srgbClr val="FFFFFF"/>
                </a:solidFill>
                <a:latin typeface="Pretendard" pitchFamily="34" charset="0"/>
                <a:ea typeface="Pretendard" pitchFamily="34" charset="-122"/>
                <a:cs typeface="Pretendard" pitchFamily="34" charset="-120"/>
              </a:rPr>
              <a:t>일반</a:t>
            </a:r>
            <a:endParaRPr lang="en-US" sz="1200" dirty="0"/>
          </a:p>
        </p:txBody>
      </p:sp>
      <p:sp>
        <p:nvSpPr>
          <p:cNvPr id="18" name="Shape 14"/>
          <p:cNvSpPr/>
          <p:nvPr/>
        </p:nvSpPr>
        <p:spPr>
          <a:xfrm>
            <a:off x="1691640" y="3191256"/>
            <a:ext cx="2743200" cy="155448"/>
          </a:xfrm>
          <a:prstGeom prst="rect">
            <a:avLst/>
          </a:prstGeom>
          <a:solidFill>
            <a:srgbClr val="BFC0C3"/>
          </a:solidFill>
          <a:ln w="12700">
            <a:solidFill>
              <a:srgbClr val="BFC0C3"/>
            </a:solidFill>
            <a:prstDash val="solid"/>
          </a:ln>
        </p:spPr>
      </p:sp>
      <p:sp>
        <p:nvSpPr>
          <p:cNvPr id="19" name="Shape 15"/>
          <p:cNvSpPr/>
          <p:nvPr/>
        </p:nvSpPr>
        <p:spPr>
          <a:xfrm>
            <a:off x="1691640" y="3374136"/>
            <a:ext cx="2788920" cy="155448"/>
          </a:xfrm>
          <a:prstGeom prst="rect">
            <a:avLst/>
          </a:prstGeom>
          <a:solidFill>
            <a:srgbClr val="FFCD4A"/>
          </a:solidFill>
          <a:ln w="12700">
            <a:solidFill>
              <a:srgbClr val="FFCD4A"/>
            </a:solidFill>
            <a:prstDash val="solid"/>
          </a:ln>
        </p:spPr>
      </p:sp>
      <p:sp>
        <p:nvSpPr>
          <p:cNvPr id="20" name="Text 16"/>
          <p:cNvSpPr txBox="1"/>
          <p:nvPr/>
        </p:nvSpPr>
        <p:spPr>
          <a:xfrm>
            <a:off x="1051560" y="3721608"/>
            <a:ext cx="548640" cy="411480"/>
          </a:xfrm>
          <a:prstGeom prst="rect">
            <a:avLst/>
          </a:prstGeom>
          <a:noFill/>
          <a:ln/>
        </p:spPr>
        <p:txBody>
          <a:bodyPr wrap="square" lIns="0" tIns="0" rIns="0" bIns="0" rtlCol="0" anchor="ctr"/>
          <a:lstStyle/>
          <a:p>
            <a:pPr marL="0" indent="0">
              <a:buNone/>
            </a:pPr>
            <a:r>
              <a:rPr lang="en-US" sz="1200" dirty="0">
                <a:solidFill>
                  <a:srgbClr val="FFFFFF"/>
                </a:solidFill>
                <a:latin typeface="Pretendard" pitchFamily="34" charset="0"/>
                <a:ea typeface="Pretendard" pitchFamily="34" charset="-122"/>
                <a:cs typeface="Pretendard" pitchFamily="34" charset="-120"/>
              </a:rPr>
              <a:t>희귀</a:t>
            </a:r>
            <a:endParaRPr lang="en-US" sz="1200" dirty="0"/>
          </a:p>
        </p:txBody>
      </p:sp>
      <p:sp>
        <p:nvSpPr>
          <p:cNvPr id="21" name="Shape 17"/>
          <p:cNvSpPr/>
          <p:nvPr/>
        </p:nvSpPr>
        <p:spPr>
          <a:xfrm>
            <a:off x="1691640" y="3758184"/>
            <a:ext cx="1737360" cy="155448"/>
          </a:xfrm>
          <a:prstGeom prst="rect">
            <a:avLst/>
          </a:prstGeom>
          <a:solidFill>
            <a:srgbClr val="BFC0C3"/>
          </a:solidFill>
          <a:ln w="12700">
            <a:solidFill>
              <a:srgbClr val="BFC0C3"/>
            </a:solidFill>
            <a:prstDash val="solid"/>
          </a:ln>
        </p:spPr>
      </p:sp>
      <p:sp>
        <p:nvSpPr>
          <p:cNvPr id="22" name="Shape 18"/>
          <p:cNvSpPr/>
          <p:nvPr/>
        </p:nvSpPr>
        <p:spPr>
          <a:xfrm>
            <a:off x="1691640" y="3941064"/>
            <a:ext cx="1645920" cy="155448"/>
          </a:xfrm>
          <a:prstGeom prst="rect">
            <a:avLst/>
          </a:prstGeom>
          <a:solidFill>
            <a:srgbClr val="FFCD4A"/>
          </a:solidFill>
          <a:ln w="12700">
            <a:solidFill>
              <a:srgbClr val="FFCD4A"/>
            </a:solidFill>
            <a:prstDash val="solid"/>
          </a:ln>
        </p:spPr>
      </p:sp>
      <p:sp>
        <p:nvSpPr>
          <p:cNvPr id="23" name="Text 19"/>
          <p:cNvSpPr txBox="1"/>
          <p:nvPr/>
        </p:nvSpPr>
        <p:spPr>
          <a:xfrm>
            <a:off x="1051560" y="4288536"/>
            <a:ext cx="548640" cy="411480"/>
          </a:xfrm>
          <a:prstGeom prst="rect">
            <a:avLst/>
          </a:prstGeom>
          <a:noFill/>
          <a:ln/>
        </p:spPr>
        <p:txBody>
          <a:bodyPr wrap="square" lIns="0" tIns="0" rIns="0" bIns="0" rtlCol="0" anchor="ctr"/>
          <a:lstStyle/>
          <a:p>
            <a:pPr marL="0" indent="0">
              <a:buNone/>
            </a:pPr>
            <a:r>
              <a:rPr lang="en-US" sz="1200" dirty="0">
                <a:solidFill>
                  <a:srgbClr val="FFFFFF"/>
                </a:solidFill>
                <a:latin typeface="Pretendard" pitchFamily="34" charset="0"/>
                <a:ea typeface="Pretendard" pitchFamily="34" charset="-122"/>
                <a:cs typeface="Pretendard" pitchFamily="34" charset="-120"/>
              </a:rPr>
              <a:t>영웅</a:t>
            </a:r>
            <a:endParaRPr lang="en-US" sz="1200" dirty="0"/>
          </a:p>
        </p:txBody>
      </p:sp>
      <p:sp>
        <p:nvSpPr>
          <p:cNvPr id="24" name="Shape 20"/>
          <p:cNvSpPr/>
          <p:nvPr/>
        </p:nvSpPr>
        <p:spPr>
          <a:xfrm>
            <a:off x="1691640" y="4325112"/>
            <a:ext cx="868680" cy="155448"/>
          </a:xfrm>
          <a:prstGeom prst="rect">
            <a:avLst/>
          </a:prstGeom>
          <a:solidFill>
            <a:srgbClr val="BFC0C3"/>
          </a:solidFill>
          <a:ln w="12700">
            <a:solidFill>
              <a:srgbClr val="BFC0C3"/>
            </a:solidFill>
            <a:prstDash val="solid"/>
          </a:ln>
        </p:spPr>
      </p:sp>
      <p:sp>
        <p:nvSpPr>
          <p:cNvPr id="25" name="Shape 21"/>
          <p:cNvSpPr/>
          <p:nvPr/>
        </p:nvSpPr>
        <p:spPr>
          <a:xfrm>
            <a:off x="1691640" y="4507992"/>
            <a:ext cx="960120" cy="155448"/>
          </a:xfrm>
          <a:prstGeom prst="rect">
            <a:avLst/>
          </a:prstGeom>
          <a:solidFill>
            <a:srgbClr val="FFCD4A"/>
          </a:solidFill>
          <a:ln w="12700">
            <a:solidFill>
              <a:srgbClr val="FFCD4A"/>
            </a:solidFill>
            <a:prstDash val="solid"/>
          </a:ln>
        </p:spPr>
      </p:sp>
      <p:sp>
        <p:nvSpPr>
          <p:cNvPr id="26" name="Text 22"/>
          <p:cNvSpPr txBox="1"/>
          <p:nvPr/>
        </p:nvSpPr>
        <p:spPr>
          <a:xfrm>
            <a:off x="1051560" y="4855464"/>
            <a:ext cx="548640" cy="411480"/>
          </a:xfrm>
          <a:prstGeom prst="rect">
            <a:avLst/>
          </a:prstGeom>
          <a:noFill/>
          <a:ln/>
        </p:spPr>
        <p:txBody>
          <a:bodyPr wrap="square" lIns="0" tIns="0" rIns="0" bIns="0" rtlCol="0" anchor="ctr"/>
          <a:lstStyle/>
          <a:p>
            <a:pPr marL="0" indent="0">
              <a:buNone/>
            </a:pPr>
            <a:r>
              <a:rPr lang="en-US" sz="1200" dirty="0">
                <a:solidFill>
                  <a:srgbClr val="FFFFFF"/>
                </a:solidFill>
                <a:latin typeface="Pretendard" pitchFamily="34" charset="0"/>
                <a:ea typeface="Pretendard" pitchFamily="34" charset="-122"/>
                <a:cs typeface="Pretendard" pitchFamily="34" charset="-120"/>
              </a:rPr>
              <a:t>전설</a:t>
            </a:r>
            <a:endParaRPr lang="en-US" sz="1200" dirty="0"/>
          </a:p>
        </p:txBody>
      </p:sp>
      <p:sp>
        <p:nvSpPr>
          <p:cNvPr id="27" name="Shape 23"/>
          <p:cNvSpPr/>
          <p:nvPr/>
        </p:nvSpPr>
        <p:spPr>
          <a:xfrm>
            <a:off x="1691640" y="4892040"/>
            <a:ext cx="320040" cy="155448"/>
          </a:xfrm>
          <a:prstGeom prst="rect">
            <a:avLst/>
          </a:prstGeom>
          <a:solidFill>
            <a:srgbClr val="BFC0C3"/>
          </a:solidFill>
          <a:ln w="12700">
            <a:solidFill>
              <a:srgbClr val="BFC0C3"/>
            </a:solidFill>
            <a:prstDash val="solid"/>
          </a:ln>
        </p:spPr>
      </p:sp>
      <p:sp>
        <p:nvSpPr>
          <p:cNvPr id="28" name="Shape 24"/>
          <p:cNvSpPr/>
          <p:nvPr/>
        </p:nvSpPr>
        <p:spPr>
          <a:xfrm>
            <a:off x="1691640" y="5074920"/>
            <a:ext cx="274320" cy="155448"/>
          </a:xfrm>
          <a:prstGeom prst="rect">
            <a:avLst/>
          </a:prstGeom>
          <a:solidFill>
            <a:srgbClr val="FFCD4A"/>
          </a:solidFill>
          <a:ln w="12700">
            <a:solidFill>
              <a:srgbClr val="FFCD4A"/>
            </a:solidFill>
            <a:prstDash val="solid"/>
          </a:ln>
        </p:spPr>
      </p:sp>
      <p:sp>
        <p:nvSpPr>
          <p:cNvPr id="29" name="Shape 25"/>
          <p:cNvSpPr/>
          <p:nvPr/>
        </p:nvSpPr>
        <p:spPr>
          <a:xfrm>
            <a:off x="1051560" y="5532120"/>
            <a:ext cx="164592" cy="128016"/>
          </a:xfrm>
          <a:prstGeom prst="rect">
            <a:avLst/>
          </a:prstGeom>
          <a:solidFill>
            <a:srgbClr val="BFC0C3"/>
          </a:solidFill>
          <a:ln w="12700">
            <a:solidFill>
              <a:srgbClr val="BFC0C3"/>
            </a:solidFill>
            <a:prstDash val="solid"/>
          </a:ln>
        </p:spPr>
      </p:sp>
      <p:sp>
        <p:nvSpPr>
          <p:cNvPr id="30" name="Text 26"/>
          <p:cNvSpPr txBox="1"/>
          <p:nvPr/>
        </p:nvSpPr>
        <p:spPr>
          <a:xfrm>
            <a:off x="1280160" y="5468112"/>
            <a:ext cx="1097280" cy="256032"/>
          </a:xfrm>
          <a:prstGeom prst="rect">
            <a:avLst/>
          </a:prstGeom>
          <a:noFill/>
          <a:ln/>
        </p:spPr>
        <p:txBody>
          <a:bodyPr wrap="square" lIns="0" tIns="0" rIns="0" bIns="0" rtlCol="0" anchor="ctr"/>
          <a:lstStyle/>
          <a:p>
            <a:pPr marL="0" indent="0">
              <a:buNone/>
            </a:pPr>
            <a:r>
              <a:rPr lang="en-US" sz="1100" dirty="0">
                <a:solidFill>
                  <a:srgbClr val="FFFFFF"/>
                </a:solidFill>
                <a:latin typeface="Pretendard" pitchFamily="34" charset="0"/>
                <a:ea typeface="Pretendard" pitchFamily="34" charset="-122"/>
                <a:cs typeface="Pretendard" pitchFamily="34" charset="-120"/>
              </a:rPr>
              <a:t>공시 확률</a:t>
            </a:r>
            <a:endParaRPr lang="en-US" sz="1100" dirty="0"/>
          </a:p>
        </p:txBody>
      </p:sp>
      <p:sp>
        <p:nvSpPr>
          <p:cNvPr id="31" name="Shape 27"/>
          <p:cNvSpPr/>
          <p:nvPr/>
        </p:nvSpPr>
        <p:spPr>
          <a:xfrm>
            <a:off x="2331720" y="5532120"/>
            <a:ext cx="164592" cy="128016"/>
          </a:xfrm>
          <a:prstGeom prst="rect">
            <a:avLst/>
          </a:prstGeom>
          <a:solidFill>
            <a:srgbClr val="FFCD4A"/>
          </a:solidFill>
          <a:ln w="12700">
            <a:solidFill>
              <a:srgbClr val="FFCD4A"/>
            </a:solidFill>
            <a:prstDash val="solid"/>
          </a:ln>
        </p:spPr>
      </p:sp>
      <p:sp>
        <p:nvSpPr>
          <p:cNvPr id="32" name="Text 28"/>
          <p:cNvSpPr txBox="1"/>
          <p:nvPr/>
        </p:nvSpPr>
        <p:spPr>
          <a:xfrm>
            <a:off x="2560320" y="5468112"/>
            <a:ext cx="1097280" cy="256032"/>
          </a:xfrm>
          <a:prstGeom prst="rect">
            <a:avLst/>
          </a:prstGeom>
          <a:noFill/>
          <a:ln/>
        </p:spPr>
        <p:txBody>
          <a:bodyPr wrap="square" lIns="0" tIns="0" rIns="0" bIns="0" rtlCol="0" anchor="ctr"/>
          <a:lstStyle/>
          <a:p>
            <a:pPr marL="0" indent="0">
              <a:buNone/>
            </a:pPr>
            <a:r>
              <a:rPr lang="en-US" sz="1100" dirty="0">
                <a:solidFill>
                  <a:srgbClr val="FFFFFF"/>
                </a:solidFill>
                <a:latin typeface="Pretendard" pitchFamily="34" charset="0"/>
                <a:ea typeface="Pretendard" pitchFamily="34" charset="-122"/>
                <a:cs typeface="Pretendard" pitchFamily="34" charset="-120"/>
              </a:rPr>
              <a:t>내 실측</a:t>
            </a:r>
            <a:endParaRPr lang="en-US" sz="1100" dirty="0"/>
          </a:p>
        </p:txBody>
      </p:sp>
      <p:sp>
        <p:nvSpPr>
          <p:cNvPr id="33" name="Text 29"/>
          <p:cNvSpPr txBox="1"/>
          <p:nvPr/>
        </p:nvSpPr>
        <p:spPr>
          <a:xfrm>
            <a:off x="1051560" y="5760720"/>
            <a:ext cx="3657600" cy="228600"/>
          </a:xfrm>
          <a:prstGeom prst="rect">
            <a:avLst/>
          </a:prstGeom>
          <a:noFill/>
          <a:ln/>
        </p:spPr>
        <p:txBody>
          <a:bodyPr wrap="square" lIns="0" tIns="0" rIns="0" bIns="0" rtlCol="0" anchor="t"/>
          <a:lstStyle/>
          <a:p>
            <a:pPr marL="0" indent="0">
              <a:buNone/>
            </a:pPr>
            <a:r>
              <a:rPr lang="en-US" sz="950" dirty="0">
                <a:solidFill>
                  <a:srgbClr val="A9AAAD"/>
                </a:solidFill>
                <a:latin typeface="Pretendard" pitchFamily="34" charset="0"/>
                <a:ea typeface="Pretendard" pitchFamily="34" charset="-122"/>
                <a:cs typeface="Pretendard" pitchFamily="34" charset="-120"/>
              </a:rPr>
              <a:t>※ 막대 길이는 예시</a:t>
            </a:r>
            <a:endParaRPr lang="en-US" sz="950" dirty="0"/>
          </a:p>
        </p:txBody>
      </p:sp>
      <p:sp>
        <p:nvSpPr>
          <p:cNvPr id="34" name="Shape 30"/>
          <p:cNvSpPr/>
          <p:nvPr/>
        </p:nvSpPr>
        <p:spPr>
          <a:xfrm>
            <a:off x="5212080" y="2148840"/>
            <a:ext cx="6172200" cy="886968"/>
          </a:xfrm>
          <a:prstGeom prst="roundRect">
            <a:avLst>
              <a:gd name="adj" fmla="val 6186"/>
            </a:avLst>
          </a:prstGeom>
          <a:solidFill>
            <a:srgbClr val="F6F6F6"/>
          </a:solidFill>
          <a:ln w="12700">
            <a:solidFill>
              <a:srgbClr val="E4E4E4"/>
            </a:solidFill>
            <a:prstDash val="solid"/>
          </a:ln>
        </p:spPr>
      </p:sp>
      <p:sp>
        <p:nvSpPr>
          <p:cNvPr id="35" name="Shape 31"/>
          <p:cNvSpPr/>
          <p:nvPr/>
        </p:nvSpPr>
        <p:spPr>
          <a:xfrm>
            <a:off x="5394960" y="2395728"/>
            <a:ext cx="384048" cy="384048"/>
          </a:xfrm>
          <a:prstGeom prst="ellipse">
            <a:avLst/>
          </a:prstGeom>
          <a:solidFill>
            <a:srgbClr val="FC5230"/>
          </a:solidFill>
          <a:ln w="12700">
            <a:solidFill>
              <a:srgbClr val="FC5230"/>
            </a:solidFill>
            <a:prstDash val="solid"/>
          </a:ln>
        </p:spPr>
      </p:sp>
      <p:sp>
        <p:nvSpPr>
          <p:cNvPr id="36" name="Text 32"/>
          <p:cNvSpPr txBox="1"/>
          <p:nvPr/>
        </p:nvSpPr>
        <p:spPr>
          <a:xfrm>
            <a:off x="5394960" y="2395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37" name="Text 33"/>
          <p:cNvSpPr txBox="1"/>
          <p:nvPr/>
        </p:nvSpPr>
        <p:spPr>
          <a:xfrm>
            <a:off x="5943600" y="2240280"/>
            <a:ext cx="530352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인게임 소환 기록</a:t>
            </a:r>
            <a:endParaRPr lang="en-US" sz="1500" dirty="0"/>
          </a:p>
        </p:txBody>
      </p:sp>
      <p:sp>
        <p:nvSpPr>
          <p:cNvPr id="38" name="Text 34"/>
          <p:cNvSpPr txBox="1"/>
          <p:nvPr/>
        </p:nvSpPr>
        <p:spPr>
          <a:xfrm>
            <a:off x="5943600" y="2560320"/>
            <a:ext cx="5303520" cy="438912"/>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최근 소환의 등급 분포를 공시 확률과 나란히 표시. 유저가 "체감"이 아닌 "기록"으로 확인</a:t>
            </a:r>
            <a:endParaRPr lang="en-US" sz="1150" dirty="0"/>
          </a:p>
        </p:txBody>
      </p:sp>
      <p:sp>
        <p:nvSpPr>
          <p:cNvPr id="39" name="Shape 35"/>
          <p:cNvSpPr/>
          <p:nvPr/>
        </p:nvSpPr>
        <p:spPr>
          <a:xfrm>
            <a:off x="5212080" y="3154680"/>
            <a:ext cx="6172200" cy="886968"/>
          </a:xfrm>
          <a:prstGeom prst="roundRect">
            <a:avLst>
              <a:gd name="adj" fmla="val 6186"/>
            </a:avLst>
          </a:prstGeom>
          <a:solidFill>
            <a:srgbClr val="F6F6F6"/>
          </a:solidFill>
          <a:ln w="12700">
            <a:solidFill>
              <a:srgbClr val="E4E4E4"/>
            </a:solidFill>
            <a:prstDash val="solid"/>
          </a:ln>
        </p:spPr>
      </p:sp>
      <p:sp>
        <p:nvSpPr>
          <p:cNvPr id="40" name="Shape 36"/>
          <p:cNvSpPr/>
          <p:nvPr/>
        </p:nvSpPr>
        <p:spPr>
          <a:xfrm>
            <a:off x="5394960" y="3401568"/>
            <a:ext cx="384048" cy="384048"/>
          </a:xfrm>
          <a:prstGeom prst="ellipse">
            <a:avLst/>
          </a:prstGeom>
          <a:solidFill>
            <a:srgbClr val="FFCD4A"/>
          </a:solidFill>
          <a:ln w="12700">
            <a:solidFill>
              <a:srgbClr val="FFCD4A"/>
            </a:solidFill>
            <a:prstDash val="solid"/>
          </a:ln>
        </p:spPr>
      </p:sp>
      <p:sp>
        <p:nvSpPr>
          <p:cNvPr id="41" name="Text 37"/>
          <p:cNvSpPr txBox="1"/>
          <p:nvPr/>
        </p:nvSpPr>
        <p:spPr>
          <a:xfrm>
            <a:off x="5394960" y="3401568"/>
            <a:ext cx="384048" cy="384048"/>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2</a:t>
            </a:r>
            <a:endParaRPr lang="en-US" sz="1500" dirty="0"/>
          </a:p>
        </p:txBody>
      </p:sp>
      <p:sp>
        <p:nvSpPr>
          <p:cNvPr id="42" name="Text 38"/>
          <p:cNvSpPr txBox="1"/>
          <p:nvPr/>
        </p:nvSpPr>
        <p:spPr>
          <a:xfrm>
            <a:off x="5943600" y="3246120"/>
            <a:ext cx="530352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확률 자동 검증 파이프라인</a:t>
            </a:r>
            <a:endParaRPr lang="en-US" sz="1500" dirty="0"/>
          </a:p>
        </p:txBody>
      </p:sp>
      <p:sp>
        <p:nvSpPr>
          <p:cNvPr id="43" name="Text 39"/>
          <p:cNvSpPr txBox="1"/>
          <p:nvPr/>
        </p:nvSpPr>
        <p:spPr>
          <a:xfrm>
            <a:off x="5943600" y="3566160"/>
            <a:ext cx="5303520" cy="438912"/>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빌드마다 서버 확률 테이블로 </a:t>
            </a:r>
            <a:r>
              <a:rPr lang="en-US" sz="1150" dirty="0" err="1">
                <a:solidFill>
                  <a:srgbClr val="5E6066"/>
                </a:solidFill>
                <a:latin typeface="Pretendard" pitchFamily="34" charset="0"/>
                <a:ea typeface="Pretendard" pitchFamily="34" charset="-122"/>
                <a:cs typeface="Pretendard" pitchFamily="34" charset="-120"/>
              </a:rPr>
              <a:t>대량</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시뮬레이션</a:t>
            </a:r>
            <a:r>
              <a:rPr lang="en-US" sz="1150" dirty="0">
                <a:solidFill>
                  <a:srgbClr val="5E6066"/>
                </a:solidFill>
                <a:latin typeface="Pretendard" pitchFamily="34" charset="0"/>
                <a:ea typeface="Pretendard" pitchFamily="34" charset="-122"/>
                <a:cs typeface="Pretendard" pitchFamily="34" charset="-120"/>
              </a:rPr>
              <a:t> →   허용 편차 초과 시 배포 차단</a:t>
            </a:r>
            <a:endParaRPr lang="en-US" sz="1150" dirty="0"/>
          </a:p>
        </p:txBody>
      </p:sp>
      <p:sp>
        <p:nvSpPr>
          <p:cNvPr id="44" name="Shape 40"/>
          <p:cNvSpPr/>
          <p:nvPr/>
        </p:nvSpPr>
        <p:spPr>
          <a:xfrm>
            <a:off x="5212080" y="4160520"/>
            <a:ext cx="6172200" cy="886968"/>
          </a:xfrm>
          <a:prstGeom prst="roundRect">
            <a:avLst>
              <a:gd name="adj" fmla="val 6186"/>
            </a:avLst>
          </a:prstGeom>
          <a:solidFill>
            <a:srgbClr val="F6F6F6"/>
          </a:solidFill>
          <a:ln w="12700">
            <a:solidFill>
              <a:srgbClr val="E4E4E4"/>
            </a:solidFill>
            <a:prstDash val="solid"/>
          </a:ln>
        </p:spPr>
      </p:sp>
      <p:sp>
        <p:nvSpPr>
          <p:cNvPr id="45" name="Shape 41"/>
          <p:cNvSpPr/>
          <p:nvPr/>
        </p:nvSpPr>
        <p:spPr>
          <a:xfrm>
            <a:off x="5394960" y="4407408"/>
            <a:ext cx="384048" cy="384048"/>
          </a:xfrm>
          <a:prstGeom prst="ellipse">
            <a:avLst/>
          </a:prstGeom>
          <a:solidFill>
            <a:srgbClr val="6FB848"/>
          </a:solidFill>
          <a:ln w="12700">
            <a:solidFill>
              <a:srgbClr val="6FB848"/>
            </a:solidFill>
            <a:prstDash val="solid"/>
          </a:ln>
        </p:spPr>
      </p:sp>
      <p:sp>
        <p:nvSpPr>
          <p:cNvPr id="46" name="Text 42"/>
          <p:cNvSpPr txBox="1"/>
          <p:nvPr/>
        </p:nvSpPr>
        <p:spPr>
          <a:xfrm>
            <a:off x="5394960" y="440740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47" name="Text 43"/>
          <p:cNvSpPr txBox="1"/>
          <p:nvPr/>
        </p:nvSpPr>
        <p:spPr>
          <a:xfrm>
            <a:off x="5943600" y="4251960"/>
            <a:ext cx="530352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공시-서버 테이블 일치 점검</a:t>
            </a:r>
            <a:endParaRPr lang="en-US" sz="1500" dirty="0"/>
          </a:p>
        </p:txBody>
      </p:sp>
      <p:sp>
        <p:nvSpPr>
          <p:cNvPr id="48" name="Text 44"/>
          <p:cNvSpPr txBox="1"/>
          <p:nvPr/>
        </p:nvSpPr>
        <p:spPr>
          <a:xfrm>
            <a:off x="5943600" y="4572000"/>
            <a:ext cx="5303520" cy="438912"/>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공시 페이지 수치와 실제 서버 데이터 테이블을 자동 대조해 불일치 시 알림</a:t>
            </a:r>
            <a:endParaRPr lang="en-US" sz="1150" dirty="0"/>
          </a:p>
        </p:txBody>
      </p:sp>
      <p:sp>
        <p:nvSpPr>
          <p:cNvPr id="49" name="Shape 45"/>
          <p:cNvSpPr/>
          <p:nvPr/>
        </p:nvSpPr>
        <p:spPr>
          <a:xfrm>
            <a:off x="5212080" y="5166360"/>
            <a:ext cx="6172200" cy="886968"/>
          </a:xfrm>
          <a:prstGeom prst="roundRect">
            <a:avLst>
              <a:gd name="adj" fmla="val 6186"/>
            </a:avLst>
          </a:prstGeom>
          <a:solidFill>
            <a:srgbClr val="F6F6F6"/>
          </a:solidFill>
          <a:ln w="12700">
            <a:solidFill>
              <a:srgbClr val="E4E4E4"/>
            </a:solidFill>
            <a:prstDash val="solid"/>
          </a:ln>
        </p:spPr>
      </p:sp>
      <p:sp>
        <p:nvSpPr>
          <p:cNvPr id="50" name="Shape 46"/>
          <p:cNvSpPr/>
          <p:nvPr/>
        </p:nvSpPr>
        <p:spPr>
          <a:xfrm>
            <a:off x="5394960" y="5413248"/>
            <a:ext cx="384048" cy="384048"/>
          </a:xfrm>
          <a:prstGeom prst="ellipse">
            <a:avLst/>
          </a:prstGeom>
          <a:solidFill>
            <a:srgbClr val="494A4E"/>
          </a:solidFill>
          <a:ln w="12700">
            <a:solidFill>
              <a:srgbClr val="494A4E"/>
            </a:solidFill>
            <a:prstDash val="solid"/>
          </a:ln>
        </p:spPr>
      </p:sp>
      <p:sp>
        <p:nvSpPr>
          <p:cNvPr id="51" name="Text 47"/>
          <p:cNvSpPr txBox="1"/>
          <p:nvPr/>
        </p:nvSpPr>
        <p:spPr>
          <a:xfrm>
            <a:off x="5394960" y="5413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52" name="Text 48"/>
          <p:cNvSpPr txBox="1"/>
          <p:nvPr/>
        </p:nvSpPr>
        <p:spPr>
          <a:xfrm>
            <a:off x="5943600" y="5257800"/>
            <a:ext cx="5303520" cy="320040"/>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분기 확률 리포트</a:t>
            </a:r>
            <a:endParaRPr lang="en-US" sz="1500" dirty="0"/>
          </a:p>
        </p:txBody>
      </p:sp>
      <p:sp>
        <p:nvSpPr>
          <p:cNvPr id="53" name="Text 49"/>
          <p:cNvSpPr txBox="1"/>
          <p:nvPr/>
        </p:nvSpPr>
        <p:spPr>
          <a:xfrm>
            <a:off x="5943600" y="5577840"/>
            <a:ext cx="5303520" cy="438912"/>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실측 분포를 정기 공개하고 이미 공개한 시뮬레이션 페이지와 연결해 신뢰를 누적</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sp>
      <p:sp>
        <p:nvSpPr>
          <p:cNvPr id="8" name="Shape 6"/>
          <p:cNvSpPr/>
          <p:nvPr/>
        </p:nvSpPr>
        <p:spPr>
          <a:xfrm>
            <a:off x="4480560" y="393192"/>
            <a:ext cx="3227832" cy="228600"/>
          </a:xfrm>
          <a:prstGeom prst="roundRect">
            <a:avLst>
              <a:gd name="adj" fmla="val 48000"/>
            </a:avLst>
          </a:prstGeom>
          <a:solidFill>
            <a:srgbClr val="494A4E"/>
          </a:solidFill>
          <a:ln w="12700">
            <a:solidFill>
              <a:srgbClr val="494A4E"/>
            </a:solidFill>
            <a:prstDash val="solid"/>
          </a:ln>
        </p:spPr>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제안 E  |  보스 패턴 · 보상 공정성</a:t>
            </a:r>
            <a:endParaRPr lang="en-US" sz="3000" dirty="0"/>
          </a:p>
        </p:txBody>
      </p:sp>
      <p:sp>
        <p:nvSpPr>
          <p:cNvPr id="14" name="Shape 10"/>
          <p:cNvSpPr/>
          <p:nvPr/>
        </p:nvSpPr>
        <p:spPr>
          <a:xfrm>
            <a:off x="777240" y="2148840"/>
            <a:ext cx="3931920" cy="3931920"/>
          </a:xfrm>
          <a:prstGeom prst="roundRect">
            <a:avLst>
              <a:gd name="adj" fmla="val 2326"/>
            </a:avLst>
          </a:prstGeom>
          <a:solidFill>
            <a:srgbClr val="494A4E"/>
          </a:solidFill>
          <a:ln w="12700">
            <a:solidFill>
              <a:srgbClr val="494A4E"/>
            </a:solidFill>
            <a:prstDash val="solid"/>
          </a:ln>
          <a:effectLst>
            <a:outerShdw blurRad="76200" dist="25400" dir="5400000" algn="bl" rotWithShape="0">
              <a:srgbClr val="000000">
                <a:alpha val="12000"/>
              </a:srgbClr>
            </a:outerShdw>
          </a:effectLst>
        </p:spPr>
      </p:sp>
      <p:sp>
        <p:nvSpPr>
          <p:cNvPr id="16" name="Text 12"/>
          <p:cNvSpPr txBox="1"/>
          <p:nvPr/>
        </p:nvSpPr>
        <p:spPr>
          <a:xfrm>
            <a:off x="1051560" y="2651760"/>
            <a:ext cx="3474720" cy="502920"/>
          </a:xfrm>
          <a:prstGeom prst="rect">
            <a:avLst/>
          </a:prstGeom>
          <a:noFill/>
          <a:ln/>
        </p:spPr>
        <p:txBody>
          <a:bodyPr wrap="square" lIns="0" tIns="0" rIns="0" bIns="0" rtlCol="0" anchor="t"/>
          <a:lstStyle/>
          <a:p>
            <a:pPr marL="0" indent="0">
              <a:buNone/>
            </a:pPr>
            <a:r>
              <a:rPr lang="en-US" sz="2400" b="1" dirty="0">
                <a:solidFill>
                  <a:srgbClr val="FFFFFF"/>
                </a:solidFill>
                <a:latin typeface="Pretendard" pitchFamily="34" charset="0"/>
                <a:ea typeface="Pretendard" pitchFamily="34" charset="-122"/>
                <a:cs typeface="Pretendard" pitchFamily="34" charset="-120"/>
              </a:rPr>
              <a:t>실수 없는 패배</a:t>
            </a:r>
            <a:endParaRPr lang="en-US" sz="2400" dirty="0"/>
          </a:p>
        </p:txBody>
      </p:sp>
      <p:sp>
        <p:nvSpPr>
          <p:cNvPr id="17" name="Shape 13"/>
          <p:cNvSpPr/>
          <p:nvPr/>
        </p:nvSpPr>
        <p:spPr>
          <a:xfrm>
            <a:off x="1051560" y="3364992"/>
            <a:ext cx="128016" cy="128016"/>
          </a:xfrm>
          <a:prstGeom prst="ellipse">
            <a:avLst/>
          </a:prstGeom>
          <a:solidFill>
            <a:srgbClr val="FC5230"/>
          </a:solidFill>
          <a:ln w="12700">
            <a:solidFill>
              <a:srgbClr val="FC5230"/>
            </a:solidFill>
            <a:prstDash val="solid"/>
          </a:ln>
        </p:spPr>
      </p:sp>
      <p:sp>
        <p:nvSpPr>
          <p:cNvPr id="18" name="Text 14"/>
          <p:cNvSpPr txBox="1"/>
          <p:nvPr/>
        </p:nvSpPr>
        <p:spPr>
          <a:xfrm>
            <a:off x="1280160" y="3291840"/>
            <a:ext cx="3246120" cy="274320"/>
          </a:xfrm>
          <a:prstGeom prst="rect">
            <a:avLst/>
          </a:prstGeom>
          <a:noFill/>
          <a:ln/>
        </p:spPr>
        <p:txBody>
          <a:bodyPr wrap="square" lIns="0" tIns="0" rIns="0" bIns="0" rtlCol="0" anchor="t"/>
          <a:lstStyle/>
          <a:p>
            <a:pPr marL="0" indent="0">
              <a:buNone/>
            </a:pPr>
            <a:r>
              <a:rPr lang="en-US" sz="1300" b="1" dirty="0">
                <a:solidFill>
                  <a:srgbClr val="FFFFFF"/>
                </a:solidFill>
                <a:latin typeface="Pretendard" pitchFamily="34" charset="0"/>
                <a:ea typeface="Pretendard" pitchFamily="34" charset="-122"/>
                <a:cs typeface="Pretendard" pitchFamily="34" charset="-120"/>
              </a:rPr>
              <a:t>보스 패턴 운</a:t>
            </a:r>
            <a:endParaRPr lang="en-US" sz="1300" dirty="0"/>
          </a:p>
        </p:txBody>
      </p:sp>
      <p:sp>
        <p:nvSpPr>
          <p:cNvPr id="19" name="Text 15"/>
          <p:cNvSpPr txBox="1"/>
          <p:nvPr/>
        </p:nvSpPr>
        <p:spPr>
          <a:xfrm>
            <a:off x="1280160" y="3566160"/>
            <a:ext cx="3246120" cy="457200"/>
          </a:xfrm>
          <a:prstGeom prst="rect">
            <a:avLst/>
          </a:prstGeom>
          <a:noFill/>
          <a:ln/>
        </p:spPr>
        <p:txBody>
          <a:bodyPr wrap="square" lIns="0" tIns="0" rIns="0" bIns="0" rtlCol="0" anchor="t"/>
          <a:lstStyle/>
          <a:p>
            <a:pPr marL="0" indent="0">
              <a:buNone/>
            </a:pPr>
            <a:r>
              <a:rPr lang="en-US" sz="1100" dirty="0">
                <a:solidFill>
                  <a:srgbClr val="D7D8DA"/>
                </a:solidFill>
                <a:latin typeface="Pretendard" pitchFamily="34" charset="0"/>
                <a:ea typeface="Pretendard" pitchFamily="34" charset="-122"/>
                <a:cs typeface="Pretendard" pitchFamily="34" charset="-120"/>
              </a:rPr>
              <a:t>스턴이 들어가야 할 타이밍에 무시되거나, 메인 딜러를 지목해 날리고 위치를 바꿈</a:t>
            </a:r>
            <a:endParaRPr lang="en-US" sz="1100" dirty="0"/>
          </a:p>
        </p:txBody>
      </p:sp>
      <p:sp>
        <p:nvSpPr>
          <p:cNvPr id="20" name="Shape 16"/>
          <p:cNvSpPr/>
          <p:nvPr/>
        </p:nvSpPr>
        <p:spPr>
          <a:xfrm>
            <a:off x="1051560" y="4142232"/>
            <a:ext cx="128016" cy="128016"/>
          </a:xfrm>
          <a:prstGeom prst="ellipse">
            <a:avLst/>
          </a:prstGeom>
          <a:solidFill>
            <a:srgbClr val="FFCD4A"/>
          </a:solidFill>
          <a:ln w="12700">
            <a:solidFill>
              <a:srgbClr val="FFCD4A"/>
            </a:solidFill>
            <a:prstDash val="solid"/>
          </a:ln>
        </p:spPr>
      </p:sp>
      <p:sp>
        <p:nvSpPr>
          <p:cNvPr id="21" name="Text 17"/>
          <p:cNvSpPr txBox="1"/>
          <p:nvPr/>
        </p:nvSpPr>
        <p:spPr>
          <a:xfrm>
            <a:off x="1280160" y="4069080"/>
            <a:ext cx="3246120" cy="274320"/>
          </a:xfrm>
          <a:prstGeom prst="rect">
            <a:avLst/>
          </a:prstGeom>
          <a:noFill/>
          <a:ln/>
        </p:spPr>
        <p:txBody>
          <a:bodyPr wrap="square" lIns="0" tIns="0" rIns="0" bIns="0" rtlCol="0" anchor="t"/>
          <a:lstStyle/>
          <a:p>
            <a:pPr marL="0" indent="0">
              <a:buNone/>
            </a:pPr>
            <a:r>
              <a:rPr lang="en-US" sz="1300" b="1" dirty="0">
                <a:solidFill>
                  <a:srgbClr val="FFFFFF"/>
                </a:solidFill>
                <a:latin typeface="Pretendard" pitchFamily="34" charset="0"/>
                <a:ea typeface="Pretendard" pitchFamily="34" charset="-122"/>
                <a:cs typeface="Pretendard" pitchFamily="34" charset="-120"/>
              </a:rPr>
              <a:t>미션 1개 미달</a:t>
            </a:r>
            <a:endParaRPr lang="en-US" sz="1300" dirty="0"/>
          </a:p>
        </p:txBody>
      </p:sp>
      <p:sp>
        <p:nvSpPr>
          <p:cNvPr id="22" name="Text 18"/>
          <p:cNvSpPr txBox="1"/>
          <p:nvPr/>
        </p:nvSpPr>
        <p:spPr>
          <a:xfrm>
            <a:off x="1280160" y="4343400"/>
            <a:ext cx="3246120" cy="457200"/>
          </a:xfrm>
          <a:prstGeom prst="rect">
            <a:avLst/>
          </a:prstGeom>
          <a:noFill/>
          <a:ln/>
        </p:spPr>
        <p:txBody>
          <a:bodyPr wrap="square" lIns="0" tIns="0" rIns="0" bIns="0" rtlCol="0" anchor="t"/>
          <a:lstStyle/>
          <a:p>
            <a:pPr marL="0" indent="0">
              <a:buNone/>
            </a:pPr>
            <a:r>
              <a:rPr lang="en-US" sz="1100" dirty="0">
                <a:solidFill>
                  <a:srgbClr val="D7D8DA"/>
                </a:solidFill>
                <a:latin typeface="Pretendard" pitchFamily="34" charset="0"/>
                <a:ea typeface="Pretendard" pitchFamily="34" charset="-122"/>
                <a:cs typeface="Pretendard" pitchFamily="34" charset="-120"/>
              </a:rPr>
              <a:t>각자 역할을 다했는데 요구치 하나가 부족해 보상 전체를 잃음</a:t>
            </a:r>
            <a:endParaRPr lang="en-US" sz="1100" dirty="0"/>
          </a:p>
        </p:txBody>
      </p:sp>
      <p:sp>
        <p:nvSpPr>
          <p:cNvPr id="23" name="Shape 19"/>
          <p:cNvSpPr/>
          <p:nvPr/>
        </p:nvSpPr>
        <p:spPr>
          <a:xfrm>
            <a:off x="1051560" y="4919472"/>
            <a:ext cx="128016" cy="128016"/>
          </a:xfrm>
          <a:prstGeom prst="ellipse">
            <a:avLst/>
          </a:prstGeom>
          <a:solidFill>
            <a:srgbClr val="6FB848"/>
          </a:solidFill>
          <a:ln w="12700">
            <a:solidFill>
              <a:srgbClr val="6FB848"/>
            </a:solidFill>
            <a:prstDash val="solid"/>
          </a:ln>
        </p:spPr>
      </p:sp>
      <p:sp>
        <p:nvSpPr>
          <p:cNvPr id="24" name="Text 20"/>
          <p:cNvSpPr txBox="1"/>
          <p:nvPr/>
        </p:nvSpPr>
        <p:spPr>
          <a:xfrm>
            <a:off x="1280160" y="4846320"/>
            <a:ext cx="3246120" cy="274320"/>
          </a:xfrm>
          <a:prstGeom prst="rect">
            <a:avLst/>
          </a:prstGeom>
          <a:noFill/>
          <a:ln/>
        </p:spPr>
        <p:txBody>
          <a:bodyPr wrap="square" lIns="0" tIns="0" rIns="0" bIns="0" rtlCol="0" anchor="t"/>
          <a:lstStyle/>
          <a:p>
            <a:pPr marL="0" indent="0">
              <a:buNone/>
            </a:pPr>
            <a:r>
              <a:rPr lang="en-US" sz="1300" b="1" dirty="0">
                <a:solidFill>
                  <a:srgbClr val="FFFFFF"/>
                </a:solidFill>
                <a:latin typeface="Pretendard" pitchFamily="34" charset="0"/>
                <a:ea typeface="Pretendard" pitchFamily="34" charset="-122"/>
                <a:cs typeface="Pretendard" pitchFamily="34" charset="-120"/>
              </a:rPr>
              <a:t>누적 체급 차</a:t>
            </a:r>
            <a:endParaRPr lang="en-US" sz="1300" dirty="0"/>
          </a:p>
        </p:txBody>
      </p:sp>
      <p:sp>
        <p:nvSpPr>
          <p:cNvPr id="25" name="Text 21"/>
          <p:cNvSpPr txBox="1"/>
          <p:nvPr/>
        </p:nvSpPr>
        <p:spPr>
          <a:xfrm>
            <a:off x="1280160" y="5120640"/>
            <a:ext cx="3246120" cy="457200"/>
          </a:xfrm>
          <a:prstGeom prst="rect">
            <a:avLst/>
          </a:prstGeom>
          <a:noFill/>
          <a:ln/>
        </p:spPr>
        <p:txBody>
          <a:bodyPr wrap="square" lIns="0" tIns="0" rIns="0" bIns="0" rtlCol="0" anchor="t"/>
          <a:lstStyle/>
          <a:p>
            <a:pPr marL="0" indent="0">
              <a:buNone/>
            </a:pPr>
            <a:r>
              <a:rPr lang="en-US" sz="1100" dirty="0">
                <a:solidFill>
                  <a:srgbClr val="D7D8DA"/>
                </a:solidFill>
                <a:latin typeface="Pretendard" pitchFamily="34" charset="0"/>
                <a:ea typeface="Pretendard" pitchFamily="34" charset="-122"/>
                <a:cs typeface="Pretendard" pitchFamily="34" charset="-120"/>
              </a:rPr>
              <a:t>최대 강화·정석 배치로도 유물 초월 수치 차이를 넘기 어려움</a:t>
            </a:r>
            <a:endParaRPr lang="en-US" sz="1100" dirty="0"/>
          </a:p>
        </p:txBody>
      </p:sp>
      <p:sp>
        <p:nvSpPr>
          <p:cNvPr id="27" name="Shape 23"/>
          <p:cNvSpPr/>
          <p:nvPr/>
        </p:nvSpPr>
        <p:spPr>
          <a:xfrm>
            <a:off x="4937760" y="2148840"/>
            <a:ext cx="6446520" cy="749808"/>
          </a:xfrm>
          <a:prstGeom prst="roundRect">
            <a:avLst>
              <a:gd name="adj" fmla="val 7317"/>
            </a:avLst>
          </a:prstGeom>
          <a:solidFill>
            <a:srgbClr val="F6F6F6"/>
          </a:solidFill>
          <a:ln w="12700">
            <a:solidFill>
              <a:srgbClr val="E4E4E4"/>
            </a:solidFill>
            <a:prstDash val="solid"/>
          </a:ln>
        </p:spPr>
      </p:sp>
      <p:sp>
        <p:nvSpPr>
          <p:cNvPr id="28" name="Shape 24"/>
          <p:cNvSpPr/>
          <p:nvPr/>
        </p:nvSpPr>
        <p:spPr>
          <a:xfrm>
            <a:off x="5120640" y="2331720"/>
            <a:ext cx="384048" cy="384048"/>
          </a:xfrm>
          <a:prstGeom prst="ellipse">
            <a:avLst/>
          </a:prstGeom>
          <a:solidFill>
            <a:srgbClr val="FC5230"/>
          </a:solidFill>
          <a:ln w="12700">
            <a:solidFill>
              <a:srgbClr val="FC5230"/>
            </a:solidFill>
            <a:prstDash val="solid"/>
          </a:ln>
        </p:spPr>
      </p:sp>
      <p:sp>
        <p:nvSpPr>
          <p:cNvPr id="29" name="Text 25"/>
          <p:cNvSpPr txBox="1"/>
          <p:nvPr/>
        </p:nvSpPr>
        <p:spPr>
          <a:xfrm>
            <a:off x="5120640" y="2331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30" name="Text 26"/>
          <p:cNvSpPr txBox="1"/>
          <p:nvPr/>
        </p:nvSpPr>
        <p:spPr>
          <a:xfrm>
            <a:off x="5669280" y="2221992"/>
            <a:ext cx="5577840" cy="301752"/>
          </a:xfrm>
          <a:prstGeom prst="rect">
            <a:avLst/>
          </a:prstGeom>
          <a:noFill/>
          <a:ln/>
        </p:spPr>
        <p:txBody>
          <a:bodyPr wrap="square" lIns="0" tIns="0" rIns="0" bIns="0" rtlCol="0" anchor="t"/>
          <a:lstStyle/>
          <a:p>
            <a:pPr marL="0" indent="0">
              <a:buNone/>
            </a:pPr>
            <a:r>
              <a:rPr lang="en-US" sz="1500" b="1" dirty="0" err="1">
                <a:solidFill>
                  <a:srgbClr val="1E1F22"/>
                </a:solidFill>
                <a:latin typeface="Pretendard" pitchFamily="34" charset="0"/>
                <a:ea typeface="Pretendard" pitchFamily="34" charset="-122"/>
                <a:cs typeface="Pretendard" pitchFamily="34" charset="-120"/>
              </a:rPr>
              <a:t>지목 규칙 고정</a:t>
            </a:r>
            <a:endParaRPr lang="en-US" sz="1500" dirty="0"/>
          </a:p>
        </p:txBody>
      </p:sp>
      <p:sp>
        <p:nvSpPr>
          <p:cNvPr id="31" name="Text 27"/>
          <p:cNvSpPr txBox="1"/>
          <p:nvPr/>
        </p:nvSpPr>
        <p:spPr>
          <a:xfrm>
            <a:off x="5669280" y="2532888"/>
            <a:ext cx="5577840" cy="329184"/>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"메인 딜러 지목·위치 변경"의 </a:t>
            </a:r>
            <a:r>
              <a:rPr lang="en-US" sz="1150" dirty="0" err="1">
                <a:solidFill>
                  <a:srgbClr val="5E6066"/>
                </a:solidFill>
                <a:latin typeface="Pretendard" pitchFamily="34" charset="0"/>
                <a:ea typeface="Pretendard" pitchFamily="34" charset="-122"/>
                <a:cs typeface="Pretendard" pitchFamily="34" charset="-120"/>
              </a:rPr>
              <a:t>대상을</a:t>
            </a:r>
            <a:r>
              <a:rPr lang="en-US" sz="1150" dirty="0">
                <a:solidFill>
                  <a:srgbClr val="5E6066"/>
                </a:solidFill>
                <a:latin typeface="Pretendard" pitchFamily="34" charset="0"/>
                <a:ea typeface="Pretendard" pitchFamily="34" charset="-122"/>
                <a:cs typeface="Pretendard" pitchFamily="34" charset="-120"/>
              </a:rPr>
              <a:t> </a:t>
            </a:r>
            <a:r>
              <a:rPr lang="ko-KR" altLang="en-US" sz="1150" dirty="0">
                <a:solidFill>
                  <a:srgbClr val="5E6066"/>
                </a:solidFill>
                <a:latin typeface="Pretendard" pitchFamily="34" charset="0"/>
                <a:ea typeface="Pretendard" pitchFamily="34" charset="-122"/>
                <a:cs typeface="Pretendard" pitchFamily="34" charset="-120"/>
              </a:rPr>
              <a:t>연속으로 지정되지 않도록 조정</a:t>
            </a:r>
            <a:r>
              <a:rPr lang="en-US" altLang="ko-KR" sz="1150" dirty="0">
                <a:solidFill>
                  <a:srgbClr val="5E6066"/>
                </a:solidFill>
                <a:latin typeface="Pretendard" pitchFamily="34" charset="0"/>
                <a:ea typeface="Pretendard" pitchFamily="34" charset="-122"/>
                <a:cs typeface="Pretendard" pitchFamily="34" charset="-120"/>
              </a:rPr>
              <a:t> </a:t>
            </a:r>
            <a:endParaRPr lang="en-US" sz="1150" dirty="0"/>
          </a:p>
        </p:txBody>
      </p:sp>
      <p:sp>
        <p:nvSpPr>
          <p:cNvPr id="32" name="Shape 28"/>
          <p:cNvSpPr/>
          <p:nvPr/>
        </p:nvSpPr>
        <p:spPr>
          <a:xfrm>
            <a:off x="4937760" y="2999232"/>
            <a:ext cx="6446520" cy="749808"/>
          </a:xfrm>
          <a:prstGeom prst="roundRect">
            <a:avLst>
              <a:gd name="adj" fmla="val 7317"/>
            </a:avLst>
          </a:prstGeom>
          <a:solidFill>
            <a:srgbClr val="F6F6F6"/>
          </a:solidFill>
          <a:ln w="12700">
            <a:solidFill>
              <a:srgbClr val="E4E4E4"/>
            </a:solidFill>
            <a:prstDash val="solid"/>
          </a:ln>
        </p:spPr>
      </p:sp>
      <p:sp>
        <p:nvSpPr>
          <p:cNvPr id="33" name="Shape 29"/>
          <p:cNvSpPr/>
          <p:nvPr/>
        </p:nvSpPr>
        <p:spPr>
          <a:xfrm>
            <a:off x="5120640" y="3182112"/>
            <a:ext cx="384048" cy="384048"/>
          </a:xfrm>
          <a:prstGeom prst="ellipse">
            <a:avLst/>
          </a:prstGeom>
          <a:solidFill>
            <a:srgbClr val="FFCD4A"/>
          </a:solidFill>
          <a:ln w="12700">
            <a:solidFill>
              <a:srgbClr val="FFCD4A"/>
            </a:solidFill>
            <a:prstDash val="solid"/>
          </a:ln>
        </p:spPr>
      </p:sp>
      <p:sp>
        <p:nvSpPr>
          <p:cNvPr id="34" name="Text 30"/>
          <p:cNvSpPr txBox="1"/>
          <p:nvPr/>
        </p:nvSpPr>
        <p:spPr>
          <a:xfrm>
            <a:off x="5120640" y="3182112"/>
            <a:ext cx="384048" cy="384048"/>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2</a:t>
            </a:r>
            <a:endParaRPr lang="en-US" sz="1500" dirty="0"/>
          </a:p>
        </p:txBody>
      </p:sp>
      <p:sp>
        <p:nvSpPr>
          <p:cNvPr id="35" name="Text 31"/>
          <p:cNvSpPr txBox="1"/>
          <p:nvPr/>
        </p:nvSpPr>
        <p:spPr>
          <a:xfrm>
            <a:off x="5669280" y="3072384"/>
            <a:ext cx="5577840" cy="301752"/>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보스 도감 (전투 밖 학습)</a:t>
            </a:r>
            <a:endParaRPr lang="en-US" sz="1500" dirty="0"/>
          </a:p>
        </p:txBody>
      </p:sp>
      <p:sp>
        <p:nvSpPr>
          <p:cNvPr id="36" name="Text 32"/>
          <p:cNvSpPr txBox="1"/>
          <p:nvPr/>
        </p:nvSpPr>
        <p:spPr>
          <a:xfrm>
            <a:off x="5669280" y="3383280"/>
            <a:ext cx="5577840" cy="329184"/>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패턴 목록 · CC 저항 구간 · 권장 대응을 도감에 정리. 전투 중 실시간 표시나 경고는 넣지 않음</a:t>
            </a:r>
            <a:endParaRPr lang="en-US" sz="1150" dirty="0"/>
          </a:p>
        </p:txBody>
      </p:sp>
      <p:sp>
        <p:nvSpPr>
          <p:cNvPr id="37" name="Shape 33"/>
          <p:cNvSpPr/>
          <p:nvPr/>
        </p:nvSpPr>
        <p:spPr>
          <a:xfrm>
            <a:off x="4937760" y="3849624"/>
            <a:ext cx="6446520" cy="749808"/>
          </a:xfrm>
          <a:prstGeom prst="roundRect">
            <a:avLst>
              <a:gd name="adj" fmla="val 7317"/>
            </a:avLst>
          </a:prstGeom>
          <a:solidFill>
            <a:srgbClr val="F6F6F6"/>
          </a:solidFill>
          <a:ln w="12700">
            <a:solidFill>
              <a:srgbClr val="E4E4E4"/>
            </a:solidFill>
            <a:prstDash val="solid"/>
          </a:ln>
        </p:spPr>
      </p:sp>
      <p:sp>
        <p:nvSpPr>
          <p:cNvPr id="38" name="Shape 34"/>
          <p:cNvSpPr/>
          <p:nvPr/>
        </p:nvSpPr>
        <p:spPr>
          <a:xfrm>
            <a:off x="5120640" y="4032504"/>
            <a:ext cx="384048" cy="384048"/>
          </a:xfrm>
          <a:prstGeom prst="ellipse">
            <a:avLst/>
          </a:prstGeom>
          <a:solidFill>
            <a:srgbClr val="6FB848"/>
          </a:solidFill>
          <a:ln w="12700">
            <a:solidFill>
              <a:srgbClr val="6FB848"/>
            </a:solidFill>
            <a:prstDash val="solid"/>
          </a:ln>
        </p:spPr>
      </p:sp>
      <p:sp>
        <p:nvSpPr>
          <p:cNvPr id="39" name="Text 35"/>
          <p:cNvSpPr txBox="1"/>
          <p:nvPr/>
        </p:nvSpPr>
        <p:spPr>
          <a:xfrm>
            <a:off x="5120640" y="403250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40" name="Text 36"/>
          <p:cNvSpPr txBox="1"/>
          <p:nvPr/>
        </p:nvSpPr>
        <p:spPr>
          <a:xfrm>
            <a:off x="5669280" y="3922776"/>
            <a:ext cx="5577840" cy="301752"/>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미션 부분 보상</a:t>
            </a:r>
            <a:endParaRPr lang="en-US" sz="1500" dirty="0"/>
          </a:p>
        </p:txBody>
      </p:sp>
      <p:sp>
        <p:nvSpPr>
          <p:cNvPr id="41" name="Text 37"/>
          <p:cNvSpPr txBox="1"/>
          <p:nvPr/>
        </p:nvSpPr>
        <p:spPr>
          <a:xfrm>
            <a:off x="5669280" y="4233672"/>
            <a:ext cx="5577840" cy="329184"/>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요구치 달성률 비례 보상(예: 80% 이상 시 일부 </a:t>
            </a:r>
            <a:r>
              <a:rPr lang="en-US" sz="1150" dirty="0" err="1">
                <a:solidFill>
                  <a:srgbClr val="5E6066"/>
                </a:solidFill>
                <a:latin typeface="Pretendard" pitchFamily="34" charset="0"/>
                <a:ea typeface="Pretendard" pitchFamily="34" charset="-122"/>
                <a:cs typeface="Pretendard" pitchFamily="34" charset="-120"/>
              </a:rPr>
              <a:t>지급</a:t>
            </a:r>
            <a:r>
              <a:rPr lang="en-US" sz="1150" dirty="0">
                <a:solidFill>
                  <a:srgbClr val="5E6066"/>
                </a:solidFill>
                <a:latin typeface="Pretendard" pitchFamily="34" charset="0"/>
                <a:ea typeface="Pretendard" pitchFamily="34" charset="-122"/>
                <a:cs typeface="Pretendard" pitchFamily="34" charset="-120"/>
              </a:rPr>
              <a:t>)  →  구조 완화</a:t>
            </a:r>
            <a:endParaRPr lang="en-US" sz="1150" dirty="0"/>
          </a:p>
        </p:txBody>
      </p:sp>
      <p:sp>
        <p:nvSpPr>
          <p:cNvPr id="42" name="Shape 38"/>
          <p:cNvSpPr/>
          <p:nvPr/>
        </p:nvSpPr>
        <p:spPr>
          <a:xfrm>
            <a:off x="4937760" y="4700016"/>
            <a:ext cx="6446520" cy="749808"/>
          </a:xfrm>
          <a:prstGeom prst="roundRect">
            <a:avLst>
              <a:gd name="adj" fmla="val 7317"/>
            </a:avLst>
          </a:prstGeom>
          <a:solidFill>
            <a:srgbClr val="F6F6F6"/>
          </a:solidFill>
          <a:ln w="12700">
            <a:solidFill>
              <a:srgbClr val="E4E4E4"/>
            </a:solidFill>
            <a:prstDash val="solid"/>
          </a:ln>
        </p:spPr>
      </p:sp>
      <p:sp>
        <p:nvSpPr>
          <p:cNvPr id="43" name="Shape 39"/>
          <p:cNvSpPr/>
          <p:nvPr/>
        </p:nvSpPr>
        <p:spPr>
          <a:xfrm>
            <a:off x="5120640" y="4882896"/>
            <a:ext cx="384048" cy="384048"/>
          </a:xfrm>
          <a:prstGeom prst="ellipse">
            <a:avLst/>
          </a:prstGeom>
          <a:solidFill>
            <a:srgbClr val="494A4E"/>
          </a:solidFill>
          <a:ln w="12700">
            <a:solidFill>
              <a:srgbClr val="494A4E"/>
            </a:solidFill>
            <a:prstDash val="solid"/>
          </a:ln>
        </p:spPr>
      </p:sp>
      <p:sp>
        <p:nvSpPr>
          <p:cNvPr id="44" name="Text 40"/>
          <p:cNvSpPr txBox="1"/>
          <p:nvPr/>
        </p:nvSpPr>
        <p:spPr>
          <a:xfrm>
            <a:off x="5120640" y="488289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45" name="Text 41"/>
          <p:cNvSpPr txBox="1"/>
          <p:nvPr/>
        </p:nvSpPr>
        <p:spPr>
          <a:xfrm>
            <a:off x="5669280" y="4773168"/>
            <a:ext cx="5577840" cy="301752"/>
          </a:xfrm>
          <a:prstGeom prst="rect">
            <a:avLst/>
          </a:prstGeom>
          <a:noFill/>
          <a:ln/>
        </p:spPr>
        <p:txBody>
          <a:bodyPr wrap="square" lIns="0" tIns="0" rIns="0" bIns="0" rtlCol="0" anchor="t"/>
          <a:lstStyle/>
          <a:p>
            <a:pPr marL="0" indent="0">
              <a:buNone/>
            </a:pPr>
            <a:r>
              <a:rPr lang="en-US" sz="1500" b="1" dirty="0">
                <a:solidFill>
                  <a:srgbClr val="1E1F22"/>
                </a:solidFill>
                <a:latin typeface="Pretendard" pitchFamily="34" charset="0"/>
                <a:ea typeface="Pretendard" pitchFamily="34" charset="-122"/>
                <a:cs typeface="Pretendard" pitchFamily="34" charset="-120"/>
              </a:rPr>
              <a:t>패배 리포트</a:t>
            </a:r>
            <a:endParaRPr lang="en-US" sz="1500" dirty="0"/>
          </a:p>
        </p:txBody>
      </p:sp>
      <p:sp>
        <p:nvSpPr>
          <p:cNvPr id="46" name="Text 42"/>
          <p:cNvSpPr txBox="1"/>
          <p:nvPr/>
        </p:nvSpPr>
        <p:spPr>
          <a:xfrm>
            <a:off x="5669280" y="5084064"/>
            <a:ext cx="5577840" cy="329184"/>
          </a:xfrm>
          <a:prstGeom prst="rect">
            <a:avLst/>
          </a:prstGeom>
          <a:noFill/>
          <a:ln/>
        </p:spPr>
        <p:txBody>
          <a:bodyPr wrap="square" lIns="0" tIns="0" rIns="0" bIns="0" rtlCol="0" anchor="t"/>
          <a:lstStyle/>
          <a:p>
            <a:pPr marL="0" indent="0">
              <a:buNone/>
            </a:pPr>
            <a:r>
              <a:rPr lang="en-US" sz="1150" dirty="0">
                <a:solidFill>
                  <a:srgbClr val="5E6066"/>
                </a:solidFill>
                <a:latin typeface="Pretendard" pitchFamily="34" charset="0"/>
                <a:ea typeface="Pretendard" pitchFamily="34" charset="-122"/>
                <a:cs typeface="Pretendard" pitchFamily="34" charset="-120"/>
              </a:rPr>
              <a:t>판 종료 후 원인 요약: 보스 패턴 피격 · 딜/CC 기여 · 유물 격차 → 다음 판 학습으로 연결</a:t>
            </a:r>
            <a:endParaRPr lang="en-US" sz="1150" dirty="0"/>
          </a:p>
        </p:txBody>
      </p:sp>
      <p:sp>
        <p:nvSpPr>
          <p:cNvPr id="47" name="Shape 43"/>
          <p:cNvSpPr/>
          <p:nvPr/>
        </p:nvSpPr>
        <p:spPr>
          <a:xfrm>
            <a:off x="4937760" y="5559552"/>
            <a:ext cx="6446520" cy="521208"/>
          </a:xfrm>
          <a:prstGeom prst="roundRect">
            <a:avLst>
              <a:gd name="adj" fmla="val 14035"/>
            </a:avLst>
          </a:prstGeom>
          <a:solidFill>
            <a:srgbClr val="EEEEEE"/>
          </a:solidFill>
          <a:ln w="12700">
            <a:solidFill>
              <a:srgbClr val="EEEEEE"/>
            </a:solidFill>
            <a:prstDash val="solid"/>
          </a:ln>
        </p:spPr>
      </p:sp>
      <p:sp>
        <p:nvSpPr>
          <p:cNvPr id="48" name="Text 44"/>
          <p:cNvSpPr txBox="1"/>
          <p:nvPr/>
        </p:nvSpPr>
        <p:spPr>
          <a:xfrm>
            <a:off x="5120640" y="5559552"/>
            <a:ext cx="6172200" cy="521208"/>
          </a:xfrm>
          <a:prstGeom prst="rect">
            <a:avLst/>
          </a:prstGeom>
          <a:noFill/>
          <a:ln/>
        </p:spPr>
        <p:txBody>
          <a:bodyPr wrap="square" lIns="0" tIns="0" rIns="0" bIns="0" rtlCol="0" anchor="ctr"/>
          <a:lstStyle/>
          <a:p>
            <a:pPr marL="0" indent="0">
              <a:buNone/>
            </a:pPr>
            <a:r>
              <a:rPr lang="en-US" sz="1200" b="1" dirty="0">
                <a:solidFill>
                  <a:srgbClr val="FC5230"/>
                </a:solidFill>
                <a:latin typeface="Pretendard" pitchFamily="34" charset="0"/>
                <a:ea typeface="Pretendard" pitchFamily="34" charset="-122"/>
                <a:cs typeface="Pretendard" pitchFamily="34" charset="-120"/>
              </a:rPr>
              <a:t>재미 분석 연결  </a:t>
            </a:r>
            <a:r>
              <a:rPr lang="en-US" sz="1200" dirty="0">
                <a:solidFill>
                  <a:srgbClr val="1E1F22"/>
                </a:solidFill>
                <a:latin typeface="Pretendard" pitchFamily="34" charset="0"/>
                <a:ea typeface="Pretendard" pitchFamily="34" charset="-122"/>
                <a:cs typeface="Pretendard" pitchFamily="34" charset="-120"/>
              </a:rPr>
              <a:t>운을 없애지 않고 "읽고 대응할 수 있는 </a:t>
            </a:r>
            <a:r>
              <a:rPr lang="en-US" sz="1200" dirty="0" err="1">
                <a:solidFill>
                  <a:srgbClr val="1E1F22"/>
                </a:solidFill>
                <a:latin typeface="Pretendard" pitchFamily="34" charset="0"/>
                <a:ea typeface="Pretendard" pitchFamily="34" charset="-122"/>
                <a:cs typeface="Pretendard" pitchFamily="34" charset="-120"/>
              </a:rPr>
              <a:t>운"으로</a:t>
            </a:r>
            <a:r>
              <a:rPr lang="en-US" sz="1200" dirty="0">
                <a:solidFill>
                  <a:srgbClr val="1E1F22"/>
                </a:solidFill>
                <a:latin typeface="Pretendard" pitchFamily="34" charset="0"/>
                <a:ea typeface="Pretendard" pitchFamily="34" charset="-122"/>
                <a:cs typeface="Pretendard" pitchFamily="34" charset="-120"/>
              </a:rPr>
              <a:t>  숙련도의 재미 보호</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txBody>
          <a:bodyPr/>
          <a:lstStyle/>
          <a:p>
            <a:endParaRPr/>
          </a:p>
        </p:txBody>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txBody>
          <a:bodyPr/>
          <a:lstStyle/>
          <a:p>
            <a:endParaRPr/>
          </a:p>
        </p:txBody>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txBody>
          <a:bodyPr/>
          <a:lstStyle/>
          <a:p>
            <a:endParaRPr/>
          </a:p>
        </p:txBody>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txBody>
          <a:bodyPr/>
          <a:lstStyle/>
          <a:p>
            <a:endParaRPr/>
          </a:p>
        </p:txBody>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txBody>
          <a:bodyPr/>
          <a:lstStyle/>
          <a:p>
            <a:endParaRPr/>
          </a:p>
        </p:txBody>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txBody>
          <a:bodyPr/>
          <a:lstStyle/>
          <a:p>
            <a:endParaRPr/>
          </a:p>
        </p:txBody>
      </p:sp>
      <p:sp>
        <p:nvSpPr>
          <p:cNvPr id="8" name="Shape 6"/>
          <p:cNvSpPr/>
          <p:nvPr/>
        </p:nvSpPr>
        <p:spPr>
          <a:xfrm>
            <a:off x="4480560" y="393192"/>
            <a:ext cx="3227832" cy="228600"/>
          </a:xfrm>
          <a:prstGeom prst="roundRect">
            <a:avLst>
              <a:gd name="adj" fmla="val 48000"/>
            </a:avLst>
          </a:prstGeom>
          <a:solidFill>
            <a:srgbClr val="494A4E"/>
          </a:solidFill>
          <a:ln w="12700">
            <a:solidFill>
              <a:srgbClr val="494A4E"/>
            </a:solidFill>
            <a:prstDash val="solid"/>
          </a:ln>
        </p:spPr>
        <p:txBody>
          <a:bodyPr/>
          <a:lstStyle/>
          <a:p>
            <a:endParaRPr/>
          </a:p>
        </p:txBody>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제안 F  |  장기 유저 리텐션</a:t>
            </a:r>
            <a:endParaRPr lang="en-US" sz="3000" dirty="0"/>
          </a:p>
        </p:txBody>
      </p:sp>
      <p:sp>
        <p:nvSpPr>
          <p:cNvPr id="14" name="Shape 10"/>
          <p:cNvSpPr/>
          <p:nvPr/>
        </p:nvSpPr>
        <p:spPr>
          <a:xfrm>
            <a:off x="777240" y="21031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15" name="Shape 11"/>
          <p:cNvSpPr/>
          <p:nvPr/>
        </p:nvSpPr>
        <p:spPr>
          <a:xfrm>
            <a:off x="914400" y="2212848"/>
            <a:ext cx="384048" cy="384048"/>
          </a:xfrm>
          <a:prstGeom prst="ellipse">
            <a:avLst/>
          </a:prstGeom>
          <a:solidFill>
            <a:srgbClr val="FC5230"/>
          </a:solidFill>
          <a:ln w="12700">
            <a:solidFill>
              <a:srgbClr val="FC5230"/>
            </a:solidFill>
            <a:prstDash val="solid"/>
          </a:ln>
        </p:spPr>
        <p:txBody>
          <a:bodyPr/>
          <a:lstStyle/>
          <a:p>
            <a:endParaRPr/>
          </a:p>
        </p:txBody>
      </p:sp>
      <p:sp>
        <p:nvSpPr>
          <p:cNvPr id="16" name="Text 12"/>
          <p:cNvSpPr txBox="1"/>
          <p:nvPr/>
        </p:nvSpPr>
        <p:spPr>
          <a:xfrm>
            <a:off x="914400" y="22128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1</a:t>
            </a:r>
            <a:endParaRPr lang="en-US" sz="1500" dirty="0"/>
          </a:p>
        </p:txBody>
      </p:sp>
      <p:sp>
        <p:nvSpPr>
          <p:cNvPr id="17" name="Text 13"/>
          <p:cNvSpPr txBox="1"/>
          <p:nvPr/>
        </p:nvSpPr>
        <p:spPr>
          <a:xfrm>
            <a:off x="1463040" y="21031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 재화 전환소</a:t>
            </a:r>
            <a:endParaRPr lang="en-US" sz="1500" dirty="0"/>
          </a:p>
        </p:txBody>
      </p:sp>
      <p:sp>
        <p:nvSpPr>
          <p:cNvPr id="18" name="Text 14"/>
          <p:cNvSpPr txBox="1"/>
          <p:nvPr/>
        </p:nvSpPr>
        <p:spPr>
          <a:xfrm>
            <a:off x="3383280" y="21031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장기 플레이에서 쌓이는 신화석·저등급 유닛을 초월 재료·유물 강화 재화로 교환 / 전환 비율 상한·주간 한도로 인플레이션 방지</a:t>
            </a:r>
            <a:endParaRPr lang="en-US" sz="1150" dirty="0"/>
          </a:p>
        </p:txBody>
      </p:sp>
      <p:sp>
        <p:nvSpPr>
          <p:cNvPr id="19" name="Shape 15"/>
          <p:cNvSpPr/>
          <p:nvPr/>
        </p:nvSpPr>
        <p:spPr>
          <a:xfrm>
            <a:off x="777240" y="27889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20" name="Shape 16"/>
          <p:cNvSpPr/>
          <p:nvPr/>
        </p:nvSpPr>
        <p:spPr>
          <a:xfrm>
            <a:off x="914400" y="2898648"/>
            <a:ext cx="384048" cy="384048"/>
          </a:xfrm>
          <a:prstGeom prst="ellipse">
            <a:avLst/>
          </a:prstGeom>
          <a:solidFill>
            <a:srgbClr val="FFCD4A"/>
          </a:solidFill>
          <a:ln w="12700">
            <a:solidFill>
              <a:srgbClr val="FFCD4A"/>
            </a:solidFill>
            <a:prstDash val="solid"/>
          </a:ln>
        </p:spPr>
        <p:txBody>
          <a:bodyPr/>
          <a:lstStyle/>
          <a:p>
            <a:endParaRPr/>
          </a:p>
        </p:txBody>
      </p:sp>
      <p:sp>
        <p:nvSpPr>
          <p:cNvPr id="21" name="Text 17"/>
          <p:cNvSpPr txBox="1"/>
          <p:nvPr/>
        </p:nvSpPr>
        <p:spPr>
          <a:xfrm>
            <a:off x="914400" y="2898648"/>
            <a:ext cx="384048" cy="384048"/>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2</a:t>
            </a:r>
            <a:endParaRPr lang="en-US" sz="1500" dirty="0"/>
          </a:p>
        </p:txBody>
      </p:sp>
      <p:sp>
        <p:nvSpPr>
          <p:cNvPr id="22" name="Text 18"/>
          <p:cNvSpPr txBox="1"/>
          <p:nvPr/>
        </p:nvSpPr>
        <p:spPr>
          <a:xfrm>
            <a:off x="1463040" y="27889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업데이트 시간 사전 공지</a:t>
            </a:r>
            <a:endParaRPr lang="en-US" sz="1500" dirty="0"/>
          </a:p>
        </p:txBody>
      </p:sp>
      <p:sp>
        <p:nvSpPr>
          <p:cNvPr id="23" name="Text 19"/>
          <p:cNvSpPr txBox="1"/>
          <p:nvPr/>
        </p:nvSpPr>
        <p:spPr>
          <a:xfrm>
            <a:off x="3383280" y="27889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패치 시작·종료 시각을 사전 공지 / 3배수 등 기간 이벤트는 서버 시각 기준으로 진행 중인 판까지 보상 적용해 형평성 확보</a:t>
            </a:r>
            <a:endParaRPr lang="en-US" sz="1150" dirty="0"/>
          </a:p>
        </p:txBody>
      </p:sp>
      <p:sp>
        <p:nvSpPr>
          <p:cNvPr id="24" name="Shape 20"/>
          <p:cNvSpPr/>
          <p:nvPr/>
        </p:nvSpPr>
        <p:spPr>
          <a:xfrm>
            <a:off x="777240" y="34747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25" name="Shape 21"/>
          <p:cNvSpPr/>
          <p:nvPr/>
        </p:nvSpPr>
        <p:spPr>
          <a:xfrm>
            <a:off x="914400" y="3584448"/>
            <a:ext cx="384048" cy="384048"/>
          </a:xfrm>
          <a:prstGeom prst="ellipse">
            <a:avLst/>
          </a:prstGeom>
          <a:solidFill>
            <a:srgbClr val="6FB848"/>
          </a:solidFill>
          <a:ln w="12700">
            <a:solidFill>
              <a:srgbClr val="6FB848"/>
            </a:solidFill>
            <a:prstDash val="solid"/>
          </a:ln>
        </p:spPr>
        <p:txBody>
          <a:bodyPr/>
          <a:lstStyle/>
          <a:p>
            <a:endParaRPr/>
          </a:p>
        </p:txBody>
      </p:sp>
      <p:sp>
        <p:nvSpPr>
          <p:cNvPr id="26" name="Text 22"/>
          <p:cNvSpPr txBox="1"/>
          <p:nvPr/>
        </p:nvSpPr>
        <p:spPr>
          <a:xfrm>
            <a:off x="914400" y="3584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3</a:t>
            </a:r>
            <a:endParaRPr lang="en-US" sz="1500" dirty="0"/>
          </a:p>
        </p:txBody>
      </p:sp>
      <p:sp>
        <p:nvSpPr>
          <p:cNvPr id="27" name="Text 23"/>
          <p:cNvSpPr txBox="1"/>
          <p:nvPr/>
        </p:nvSpPr>
        <p:spPr>
          <a:xfrm>
            <a:off x="1463040" y="34747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난이도 이후의 목표</a:t>
            </a:r>
            <a:endParaRPr lang="en-US" sz="1500" dirty="0"/>
          </a:p>
        </p:txBody>
      </p:sp>
      <p:sp>
        <p:nvSpPr>
          <p:cNvPr id="28" name="Text 24"/>
          <p:cNvSpPr txBox="1"/>
          <p:nvPr/>
        </p:nvSpPr>
        <p:spPr>
          <a:xfrm>
            <a:off x="3383280" y="34747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태초 이후 신규 난이도 공백을 </a:t>
            </a:r>
            <a:r>
              <a:rPr lang="en-US" sz="1150" dirty="0" err="1">
                <a:solidFill>
                  <a:srgbClr val="5E6066"/>
                </a:solidFill>
                <a:latin typeface="Pretendard" pitchFamily="34" charset="0"/>
                <a:ea typeface="Pretendard" pitchFamily="34" charset="-122"/>
                <a:cs typeface="Pretendard" pitchFamily="34" charset="-120"/>
              </a:rPr>
              <a:t>주간</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변동</a:t>
            </a:r>
            <a:r>
              <a:rPr lang="en-US" sz="1150" dirty="0">
                <a:solidFill>
                  <a:srgbClr val="5E6066"/>
                </a:solidFill>
                <a:latin typeface="Pretendard" pitchFamily="34" charset="0"/>
                <a:ea typeface="Pretendard" pitchFamily="34" charset="-122"/>
                <a:cs typeface="Pretendard" pitchFamily="34" charset="-120"/>
              </a:rPr>
              <a:t> 룰 </a:t>
            </a:r>
            <a:r>
              <a:rPr lang="en-US" sz="1150" dirty="0" err="1">
                <a:solidFill>
                  <a:srgbClr val="5E6066"/>
                </a:solidFill>
                <a:latin typeface="Pretendard" pitchFamily="34" charset="0"/>
                <a:ea typeface="Pretendard" pitchFamily="34" charset="-122"/>
                <a:cs typeface="Pretendard" pitchFamily="34" charset="-120"/>
              </a:rPr>
              <a:t>협동전으로</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보완</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같은</a:t>
            </a:r>
            <a:r>
              <a:rPr lang="en-US" sz="1150" dirty="0">
                <a:solidFill>
                  <a:srgbClr val="5E6066"/>
                </a:solidFill>
                <a:latin typeface="Pretendard" pitchFamily="34" charset="0"/>
                <a:ea typeface="Pretendard" pitchFamily="34" charset="-122"/>
                <a:cs typeface="Pretendard" pitchFamily="34" charset="-120"/>
              </a:rPr>
              <a:t> 난이도에서도 매주 다른 목표 제공</a:t>
            </a:r>
            <a:endParaRPr lang="en-US" sz="1150" dirty="0"/>
          </a:p>
        </p:txBody>
      </p:sp>
      <p:sp>
        <p:nvSpPr>
          <p:cNvPr id="29" name="Shape 25"/>
          <p:cNvSpPr/>
          <p:nvPr/>
        </p:nvSpPr>
        <p:spPr>
          <a:xfrm>
            <a:off x="777240" y="41605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30" name="Shape 26"/>
          <p:cNvSpPr/>
          <p:nvPr/>
        </p:nvSpPr>
        <p:spPr>
          <a:xfrm>
            <a:off x="914400" y="4270248"/>
            <a:ext cx="384048" cy="384048"/>
          </a:xfrm>
          <a:prstGeom prst="ellipse">
            <a:avLst/>
          </a:prstGeom>
          <a:solidFill>
            <a:srgbClr val="494A4E"/>
          </a:solidFill>
          <a:ln w="12700">
            <a:solidFill>
              <a:srgbClr val="494A4E"/>
            </a:solidFill>
            <a:prstDash val="solid"/>
          </a:ln>
        </p:spPr>
        <p:txBody>
          <a:bodyPr/>
          <a:lstStyle/>
          <a:p>
            <a:endParaRPr/>
          </a:p>
        </p:txBody>
      </p:sp>
      <p:sp>
        <p:nvSpPr>
          <p:cNvPr id="31" name="Text 27"/>
          <p:cNvSpPr txBox="1"/>
          <p:nvPr/>
        </p:nvSpPr>
        <p:spPr>
          <a:xfrm>
            <a:off x="914400" y="4270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4</a:t>
            </a:r>
            <a:endParaRPr lang="en-US" sz="1500" dirty="0"/>
          </a:p>
        </p:txBody>
      </p:sp>
      <p:sp>
        <p:nvSpPr>
          <p:cNvPr id="32" name="Text 28"/>
          <p:cNvSpPr txBox="1"/>
          <p:nvPr/>
        </p:nvSpPr>
        <p:spPr>
          <a:xfrm>
            <a:off x="1463040" y="41605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고인물 지표 점검</a:t>
            </a:r>
            <a:endParaRPr lang="en-US" sz="1500" dirty="0"/>
          </a:p>
        </p:txBody>
      </p:sp>
      <p:sp>
        <p:nvSpPr>
          <p:cNvPr id="33" name="Text 29"/>
          <p:cNvSpPr txBox="1"/>
          <p:nvPr/>
        </p:nvSpPr>
        <p:spPr>
          <a:xfrm>
            <a:off x="3383280" y="41605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난이도별 체류 기간 · 재화 잉여량 · 복귀율을 정기 모니터링해 콘텐츠 공백을 수치로 감지, 업데이트 주기 </a:t>
            </a:r>
            <a:r>
              <a:rPr lang="en-US" sz="1150" dirty="0" err="1">
                <a:solidFill>
                  <a:srgbClr val="5E6066"/>
                </a:solidFill>
                <a:latin typeface="Pretendard" pitchFamily="34" charset="0"/>
                <a:ea typeface="Pretendard" pitchFamily="34" charset="-122"/>
                <a:cs typeface="Pretendard" pitchFamily="34" charset="-120"/>
              </a:rPr>
              <a:t>판단에</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활용</a:t>
            </a:r>
            <a:endParaRPr lang="en-US" sz="1150" dirty="0"/>
          </a:p>
        </p:txBody>
      </p:sp>
      <p:sp>
        <p:nvSpPr>
          <p:cNvPr id="39" name="Shape 35"/>
          <p:cNvSpPr/>
          <p:nvPr/>
        </p:nvSpPr>
        <p:spPr>
          <a:xfrm>
            <a:off x="777240" y="5577840"/>
            <a:ext cx="10607040" cy="548640"/>
          </a:xfrm>
          <a:prstGeom prst="roundRect">
            <a:avLst>
              <a:gd name="adj" fmla="val 13333"/>
            </a:avLst>
          </a:prstGeom>
          <a:solidFill>
            <a:srgbClr val="494A4E"/>
          </a:solidFill>
          <a:ln w="12700">
            <a:solidFill>
              <a:srgbClr val="494A4E"/>
            </a:solidFill>
            <a:prstDash val="solid"/>
          </a:ln>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717377"/>
        </a:solidFill>
        <a:effectLst/>
      </p:bgPr>
    </p:bg>
    <p:spTree>
      <p:nvGrpSpPr>
        <p:cNvPr id="1" name=""/>
        <p:cNvGrpSpPr/>
        <p:nvPr/>
      </p:nvGrpSpPr>
      <p:grpSpPr>
        <a:xfrm>
          <a:off x="0" y="0"/>
          <a:ext cx="0" cy="0"/>
          <a:chOff x="0" y="0"/>
          <a:chExt cx="0" cy="0"/>
        </a:xfrm>
      </p:grpSpPr>
      <p:sp>
        <p:nvSpPr>
          <p:cNvPr id="2" name="Shape 0"/>
          <p:cNvSpPr/>
          <p:nvPr/>
        </p:nvSpPr>
        <p:spPr>
          <a:xfrm>
            <a:off x="320040" y="274320"/>
            <a:ext cx="11551615" cy="6309360"/>
          </a:xfrm>
          <a:prstGeom prst="roundRect">
            <a:avLst>
              <a:gd name="adj" fmla="val 1449"/>
            </a:avLst>
          </a:prstGeom>
          <a:solidFill>
            <a:srgbClr val="FFFFFF"/>
          </a:solidFill>
          <a:ln w="12700">
            <a:solidFill>
              <a:srgbClr val="FFFFFF"/>
            </a:solidFill>
            <a:prstDash val="solid"/>
          </a:ln>
          <a:effectLst>
            <a:outerShdw blurRad="127000" dist="38100" dir="5400000" algn="bl" rotWithShape="0">
              <a:srgbClr val="000000">
                <a:alpha val="25000"/>
              </a:srgbClr>
            </a:outerShdw>
          </a:effectLst>
        </p:spPr>
        <p:txBody>
          <a:bodyPr/>
          <a:lstStyle/>
          <a:p>
            <a:endParaRPr/>
          </a:p>
        </p:txBody>
      </p:sp>
      <p:sp>
        <p:nvSpPr>
          <p:cNvPr id="3" name="Shape 1"/>
          <p:cNvSpPr/>
          <p:nvPr/>
        </p:nvSpPr>
        <p:spPr>
          <a:xfrm>
            <a:off x="320040" y="274320"/>
            <a:ext cx="11551615" cy="457200"/>
          </a:xfrm>
          <a:prstGeom prst="roundRect">
            <a:avLst>
              <a:gd name="adj" fmla="val 20000"/>
            </a:avLst>
          </a:prstGeom>
          <a:solidFill>
            <a:srgbClr val="242629"/>
          </a:solidFill>
          <a:ln w="12700">
            <a:solidFill>
              <a:srgbClr val="242629"/>
            </a:solidFill>
            <a:prstDash val="solid"/>
          </a:ln>
        </p:spPr>
        <p:txBody>
          <a:bodyPr/>
          <a:lstStyle/>
          <a:p>
            <a:endParaRPr/>
          </a:p>
        </p:txBody>
      </p:sp>
      <p:sp>
        <p:nvSpPr>
          <p:cNvPr id="4" name="Shape 2"/>
          <p:cNvSpPr/>
          <p:nvPr/>
        </p:nvSpPr>
        <p:spPr>
          <a:xfrm>
            <a:off x="320040" y="548640"/>
            <a:ext cx="11551615" cy="182880"/>
          </a:xfrm>
          <a:prstGeom prst="rect">
            <a:avLst/>
          </a:prstGeom>
          <a:solidFill>
            <a:srgbClr val="242629"/>
          </a:solidFill>
          <a:ln w="12700">
            <a:solidFill>
              <a:srgbClr val="242629"/>
            </a:solidFill>
            <a:prstDash val="solid"/>
          </a:ln>
        </p:spPr>
        <p:txBody>
          <a:bodyPr/>
          <a:lstStyle/>
          <a:p>
            <a:endParaRPr/>
          </a:p>
        </p:txBody>
      </p:sp>
      <p:sp>
        <p:nvSpPr>
          <p:cNvPr id="5" name="Shape 3"/>
          <p:cNvSpPr/>
          <p:nvPr/>
        </p:nvSpPr>
        <p:spPr>
          <a:xfrm>
            <a:off x="576072" y="443484"/>
            <a:ext cx="118872" cy="118872"/>
          </a:xfrm>
          <a:prstGeom prst="ellipse">
            <a:avLst/>
          </a:prstGeom>
          <a:solidFill>
            <a:srgbClr val="FC5230"/>
          </a:solidFill>
          <a:ln w="12700">
            <a:solidFill>
              <a:srgbClr val="FC5230"/>
            </a:solidFill>
            <a:prstDash val="solid"/>
          </a:ln>
        </p:spPr>
        <p:txBody>
          <a:bodyPr/>
          <a:lstStyle/>
          <a:p>
            <a:endParaRPr/>
          </a:p>
        </p:txBody>
      </p:sp>
      <p:sp>
        <p:nvSpPr>
          <p:cNvPr id="6" name="Shape 4"/>
          <p:cNvSpPr/>
          <p:nvPr/>
        </p:nvSpPr>
        <p:spPr>
          <a:xfrm>
            <a:off x="777240" y="443484"/>
            <a:ext cx="118872" cy="118872"/>
          </a:xfrm>
          <a:prstGeom prst="ellipse">
            <a:avLst/>
          </a:prstGeom>
          <a:solidFill>
            <a:srgbClr val="FFCD4A"/>
          </a:solidFill>
          <a:ln w="12700">
            <a:solidFill>
              <a:srgbClr val="FFCD4A"/>
            </a:solidFill>
            <a:prstDash val="solid"/>
          </a:ln>
        </p:spPr>
        <p:txBody>
          <a:bodyPr/>
          <a:lstStyle/>
          <a:p>
            <a:endParaRPr/>
          </a:p>
        </p:txBody>
      </p:sp>
      <p:sp>
        <p:nvSpPr>
          <p:cNvPr id="7" name="Shape 5"/>
          <p:cNvSpPr/>
          <p:nvPr/>
        </p:nvSpPr>
        <p:spPr>
          <a:xfrm>
            <a:off x="978408" y="443484"/>
            <a:ext cx="118872" cy="118872"/>
          </a:xfrm>
          <a:prstGeom prst="ellipse">
            <a:avLst/>
          </a:prstGeom>
          <a:solidFill>
            <a:srgbClr val="6FB848"/>
          </a:solidFill>
          <a:ln w="12700">
            <a:solidFill>
              <a:srgbClr val="6FB848"/>
            </a:solidFill>
            <a:prstDash val="solid"/>
          </a:ln>
        </p:spPr>
        <p:txBody>
          <a:bodyPr/>
          <a:lstStyle/>
          <a:p>
            <a:endParaRPr/>
          </a:p>
        </p:txBody>
      </p:sp>
      <p:sp>
        <p:nvSpPr>
          <p:cNvPr id="8" name="Shape 6"/>
          <p:cNvSpPr/>
          <p:nvPr/>
        </p:nvSpPr>
        <p:spPr>
          <a:xfrm>
            <a:off x="4480560" y="393192"/>
            <a:ext cx="3227832" cy="228600"/>
          </a:xfrm>
          <a:prstGeom prst="roundRect">
            <a:avLst>
              <a:gd name="adj" fmla="val 48000"/>
            </a:avLst>
          </a:prstGeom>
          <a:solidFill>
            <a:srgbClr val="494A4E"/>
          </a:solidFill>
          <a:ln w="12700">
            <a:solidFill>
              <a:srgbClr val="494A4E"/>
            </a:solidFill>
            <a:prstDash val="solid"/>
          </a:ln>
        </p:spPr>
        <p:txBody>
          <a:bodyPr/>
          <a:lstStyle/>
          <a:p>
            <a:endParaRPr/>
          </a:p>
        </p:txBody>
      </p:sp>
      <p:pic>
        <p:nvPicPr>
          <p:cNvPr id="10" name="Image 0" descr="preencoded.png"/>
          <p:cNvPicPr>
            <a:picLocks noChangeAspect="1"/>
          </p:cNvPicPr>
          <p:nvPr/>
        </p:nvPicPr>
        <p:blipFill>
          <a:blip r:embed="rId3"/>
          <a:stretch>
            <a:fillRect/>
          </a:stretch>
        </p:blipFill>
        <p:spPr>
          <a:xfrm>
            <a:off x="11475720" y="402336"/>
            <a:ext cx="173736" cy="205740"/>
          </a:xfrm>
          <a:prstGeom prst="rect">
            <a:avLst/>
          </a:prstGeom>
        </p:spPr>
      </p:pic>
      <p:sp>
        <p:nvSpPr>
          <p:cNvPr id="12" name="Text 8"/>
          <p:cNvSpPr txBox="1"/>
          <p:nvPr/>
        </p:nvSpPr>
        <p:spPr>
          <a:xfrm>
            <a:off x="777240" y="960120"/>
            <a:ext cx="8229600" cy="594360"/>
          </a:xfrm>
          <a:prstGeom prst="rect">
            <a:avLst/>
          </a:prstGeom>
          <a:noFill/>
          <a:ln/>
        </p:spPr>
        <p:txBody>
          <a:bodyPr wrap="square" lIns="0" tIns="0" rIns="0" bIns="0" rtlCol="0" anchor="t"/>
          <a:lstStyle/>
          <a:p>
            <a:pPr marL="0" indent="0">
              <a:buNone/>
            </a:pPr>
            <a:r>
              <a:rPr lang="en-US" sz="3000" b="1" dirty="0">
                <a:solidFill>
                  <a:srgbClr val="1E1F22"/>
                </a:solidFill>
                <a:latin typeface="Pretendard" pitchFamily="34" charset="0"/>
                <a:ea typeface="Pretendard" pitchFamily="34" charset="-122"/>
                <a:cs typeface="Pretendard" pitchFamily="34" charset="-120"/>
              </a:rPr>
              <a:t>QA 검증 계획</a:t>
            </a:r>
            <a:endParaRPr lang="en-US" sz="3000" dirty="0"/>
          </a:p>
        </p:txBody>
      </p:sp>
      <p:sp>
        <p:nvSpPr>
          <p:cNvPr id="14" name="Shape 10"/>
          <p:cNvSpPr/>
          <p:nvPr/>
        </p:nvSpPr>
        <p:spPr>
          <a:xfrm>
            <a:off x="777240" y="21031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15" name="Shape 11"/>
          <p:cNvSpPr/>
          <p:nvPr/>
        </p:nvSpPr>
        <p:spPr>
          <a:xfrm>
            <a:off x="914400" y="2212848"/>
            <a:ext cx="384048" cy="384048"/>
          </a:xfrm>
          <a:prstGeom prst="ellipse">
            <a:avLst/>
          </a:prstGeom>
          <a:solidFill>
            <a:srgbClr val="FC5230"/>
          </a:solidFill>
          <a:ln w="12700">
            <a:solidFill>
              <a:srgbClr val="FC5230"/>
            </a:solidFill>
            <a:prstDash val="solid"/>
          </a:ln>
        </p:spPr>
        <p:txBody>
          <a:bodyPr/>
          <a:lstStyle/>
          <a:p>
            <a:endParaRPr/>
          </a:p>
        </p:txBody>
      </p:sp>
      <p:sp>
        <p:nvSpPr>
          <p:cNvPr id="16" name="Text 12"/>
          <p:cNvSpPr txBox="1"/>
          <p:nvPr/>
        </p:nvSpPr>
        <p:spPr>
          <a:xfrm>
            <a:off x="914400" y="22128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A</a:t>
            </a:r>
            <a:endParaRPr lang="en-US" sz="1500" dirty="0"/>
          </a:p>
        </p:txBody>
      </p:sp>
      <p:sp>
        <p:nvSpPr>
          <p:cNvPr id="17" name="Text 13"/>
          <p:cNvSpPr txBox="1"/>
          <p:nvPr/>
        </p:nvSpPr>
        <p:spPr>
          <a:xfrm>
            <a:off x="1463040" y="21031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솔로 세이프가드</a:t>
            </a:r>
            <a:endParaRPr lang="en-US" sz="1500" dirty="0"/>
          </a:p>
        </p:txBody>
      </p:sp>
      <p:sp>
        <p:nvSpPr>
          <p:cNvPr id="18" name="Text 14"/>
          <p:cNvSpPr txBox="1"/>
          <p:nvPr/>
        </p:nvSpPr>
        <p:spPr>
          <a:xfrm>
            <a:off x="3383280" y="21031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Wi-Fi↔LTE 전환·백그라운드·강제종료 단절 시나리오 /  </a:t>
            </a:r>
            <a:r>
              <a:rPr lang="en-US" sz="1150" dirty="0" err="1">
                <a:solidFill>
                  <a:srgbClr val="5E6066"/>
                </a:solidFill>
                <a:latin typeface="Pretendard" pitchFamily="34" charset="0"/>
                <a:ea typeface="Pretendard" pitchFamily="34" charset="-122"/>
                <a:cs typeface="Pretendard" pitchFamily="34" charset="-120"/>
              </a:rPr>
              <a:t>재접속</a:t>
            </a:r>
            <a:r>
              <a:rPr lang="en-US" sz="1150" dirty="0">
                <a:solidFill>
                  <a:srgbClr val="5E6066"/>
                </a:solidFill>
                <a:latin typeface="Pretendard" pitchFamily="34" charset="0"/>
                <a:ea typeface="Pretendard" pitchFamily="34" charset="-122"/>
                <a:cs typeface="Pretendard" pitchFamily="34" charset="-120"/>
              </a:rPr>
              <a:t> 시 필드 동기화 / 고의 탈주 </a:t>
            </a:r>
            <a:r>
              <a:rPr lang="en-US" sz="1150" dirty="0" err="1">
                <a:solidFill>
                  <a:srgbClr val="5E6066"/>
                </a:solidFill>
                <a:latin typeface="Pretendard" pitchFamily="34" charset="0"/>
                <a:ea typeface="Pretendard" pitchFamily="34" charset="-122"/>
                <a:cs typeface="Pretendard" pitchFamily="34" charset="-120"/>
              </a:rPr>
              <a:t>반복</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악용</a:t>
            </a:r>
            <a:r>
              <a:rPr lang="en-US" sz="1150" dirty="0">
                <a:solidFill>
                  <a:srgbClr val="5E6066"/>
                </a:solidFill>
                <a:latin typeface="Pretendard" pitchFamily="34" charset="0"/>
                <a:ea typeface="Pretendard" pitchFamily="34" charset="-122"/>
                <a:cs typeface="Pretendard" pitchFamily="34" charset="-120"/>
              </a:rPr>
              <a:t> </a:t>
            </a:r>
            <a:r>
              <a:rPr lang="ko-KR" altLang="en-US" sz="1150" dirty="0">
                <a:solidFill>
                  <a:srgbClr val="5E6066"/>
                </a:solidFill>
                <a:latin typeface="Pretendard" pitchFamily="34" charset="0"/>
                <a:ea typeface="Pretendard" pitchFamily="34" charset="-122"/>
                <a:cs typeface="Pretendard" pitchFamily="34" charset="-120"/>
              </a:rPr>
              <a:t>제재</a:t>
            </a:r>
            <a:endParaRPr lang="en-US" sz="1150" dirty="0"/>
          </a:p>
        </p:txBody>
      </p:sp>
      <p:sp>
        <p:nvSpPr>
          <p:cNvPr id="19" name="Shape 15"/>
          <p:cNvSpPr/>
          <p:nvPr/>
        </p:nvSpPr>
        <p:spPr>
          <a:xfrm>
            <a:off x="777240" y="27889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20" name="Shape 16"/>
          <p:cNvSpPr/>
          <p:nvPr/>
        </p:nvSpPr>
        <p:spPr>
          <a:xfrm>
            <a:off x="914400" y="2898648"/>
            <a:ext cx="384048" cy="384048"/>
          </a:xfrm>
          <a:prstGeom prst="ellipse">
            <a:avLst/>
          </a:prstGeom>
          <a:solidFill>
            <a:srgbClr val="FFCD4A"/>
          </a:solidFill>
          <a:ln w="12700">
            <a:solidFill>
              <a:srgbClr val="FFCD4A"/>
            </a:solidFill>
            <a:prstDash val="solid"/>
          </a:ln>
        </p:spPr>
        <p:txBody>
          <a:bodyPr/>
          <a:lstStyle/>
          <a:p>
            <a:endParaRPr/>
          </a:p>
        </p:txBody>
      </p:sp>
      <p:sp>
        <p:nvSpPr>
          <p:cNvPr id="21" name="Text 17"/>
          <p:cNvSpPr txBox="1"/>
          <p:nvPr/>
        </p:nvSpPr>
        <p:spPr>
          <a:xfrm>
            <a:off x="914400" y="2898648"/>
            <a:ext cx="384048" cy="384048"/>
          </a:xfrm>
          <a:prstGeom prst="rect">
            <a:avLst/>
          </a:prstGeom>
          <a:noFill/>
          <a:ln/>
        </p:spPr>
        <p:txBody>
          <a:bodyPr wrap="square" lIns="0" tIns="0" rIns="0" bIns="0" rtlCol="0" anchor="ctr"/>
          <a:lstStyle/>
          <a:p>
            <a:pPr marL="0" indent="0" algn="ctr">
              <a:buNone/>
            </a:pPr>
            <a:r>
              <a:rPr lang="en-US" sz="1500" b="1" dirty="0">
                <a:solidFill>
                  <a:srgbClr val="1E1F22"/>
                </a:solidFill>
                <a:latin typeface="Pretendard" pitchFamily="34" charset="0"/>
                <a:ea typeface="Pretendard" pitchFamily="34" charset="-122"/>
                <a:cs typeface="Pretendard" pitchFamily="34" charset="-120"/>
              </a:rPr>
              <a:t>B</a:t>
            </a:r>
            <a:endParaRPr lang="en-US" sz="1500" dirty="0"/>
          </a:p>
        </p:txBody>
      </p:sp>
      <p:sp>
        <p:nvSpPr>
          <p:cNvPr id="22" name="Text 18"/>
          <p:cNvSpPr txBox="1"/>
          <p:nvPr/>
        </p:nvSpPr>
        <p:spPr>
          <a:xfrm>
            <a:off x="1463040" y="27889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매칭 · 소통</a:t>
            </a:r>
            <a:endParaRPr lang="en-US" sz="1500" dirty="0"/>
          </a:p>
        </p:txBody>
      </p:sp>
      <p:sp>
        <p:nvSpPr>
          <p:cNvPr id="23" name="Text 19"/>
          <p:cNvSpPr txBox="1"/>
          <p:nvPr/>
        </p:nvSpPr>
        <p:spPr>
          <a:xfrm>
            <a:off x="3383280" y="27889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피크 시간 매칭 대기 부하 테스트 / 구간 확장 로직 경계값 / 매너 점수 오탐(네트워크 불량 유저) / 핑 연타 스팸 제한</a:t>
            </a:r>
            <a:endParaRPr lang="en-US" sz="1150" dirty="0"/>
          </a:p>
        </p:txBody>
      </p:sp>
      <p:sp>
        <p:nvSpPr>
          <p:cNvPr id="24" name="Shape 20"/>
          <p:cNvSpPr/>
          <p:nvPr/>
        </p:nvSpPr>
        <p:spPr>
          <a:xfrm>
            <a:off x="777240" y="34747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25" name="Shape 21"/>
          <p:cNvSpPr/>
          <p:nvPr/>
        </p:nvSpPr>
        <p:spPr>
          <a:xfrm>
            <a:off x="914400" y="3584448"/>
            <a:ext cx="384048" cy="384048"/>
          </a:xfrm>
          <a:prstGeom prst="ellipse">
            <a:avLst/>
          </a:prstGeom>
          <a:solidFill>
            <a:srgbClr val="6FB848"/>
          </a:solidFill>
          <a:ln w="12700">
            <a:solidFill>
              <a:srgbClr val="6FB848"/>
            </a:solidFill>
            <a:prstDash val="solid"/>
          </a:ln>
        </p:spPr>
        <p:txBody>
          <a:bodyPr/>
          <a:lstStyle/>
          <a:p>
            <a:endParaRPr/>
          </a:p>
        </p:txBody>
      </p:sp>
      <p:sp>
        <p:nvSpPr>
          <p:cNvPr id="26" name="Text 22"/>
          <p:cNvSpPr txBox="1"/>
          <p:nvPr/>
        </p:nvSpPr>
        <p:spPr>
          <a:xfrm>
            <a:off x="914400" y="3584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t>
            </a:r>
            <a:endParaRPr lang="en-US" sz="1500" dirty="0"/>
          </a:p>
        </p:txBody>
      </p:sp>
      <p:sp>
        <p:nvSpPr>
          <p:cNvPr id="27" name="Text 23"/>
          <p:cNvSpPr txBox="1"/>
          <p:nvPr/>
        </p:nvSpPr>
        <p:spPr>
          <a:xfrm>
            <a:off x="1463040" y="34747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성장 브릿지</a:t>
            </a:r>
            <a:endParaRPr lang="en-US" sz="1500" dirty="0"/>
          </a:p>
        </p:txBody>
      </p:sp>
      <p:sp>
        <p:nvSpPr>
          <p:cNvPr id="28" name="Text 24"/>
          <p:cNvSpPr txBox="1"/>
          <p:nvPr/>
        </p:nvSpPr>
        <p:spPr>
          <a:xfrm>
            <a:off x="3383280" y="34747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대여 기간이 판 도중 만료될 때 처리 / 보상 경제 시뮬레이션(재화 인플레이션) / 추천 조합이 보유 </a:t>
            </a:r>
            <a:r>
              <a:rPr lang="en-US" sz="1150" dirty="0" err="1">
                <a:solidFill>
                  <a:srgbClr val="5E6066"/>
                </a:solidFill>
                <a:latin typeface="Pretendard" pitchFamily="34" charset="0"/>
                <a:ea typeface="Pretendard" pitchFamily="34" charset="-122"/>
                <a:cs typeface="Pretendard" pitchFamily="34" charset="-120"/>
              </a:rPr>
              <a:t>유닛과</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일치하는지</a:t>
            </a:r>
            <a:endParaRPr lang="en-US" sz="1150" dirty="0"/>
          </a:p>
        </p:txBody>
      </p:sp>
      <p:sp>
        <p:nvSpPr>
          <p:cNvPr id="29" name="Shape 25"/>
          <p:cNvSpPr/>
          <p:nvPr/>
        </p:nvSpPr>
        <p:spPr>
          <a:xfrm>
            <a:off x="777240" y="41605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30" name="Shape 26"/>
          <p:cNvSpPr/>
          <p:nvPr/>
        </p:nvSpPr>
        <p:spPr>
          <a:xfrm>
            <a:off x="914400" y="4270248"/>
            <a:ext cx="384048" cy="384048"/>
          </a:xfrm>
          <a:prstGeom prst="ellipse">
            <a:avLst/>
          </a:prstGeom>
          <a:solidFill>
            <a:srgbClr val="494A4E"/>
          </a:solidFill>
          <a:ln w="12700">
            <a:solidFill>
              <a:srgbClr val="494A4E"/>
            </a:solidFill>
            <a:prstDash val="solid"/>
          </a:ln>
        </p:spPr>
        <p:txBody>
          <a:bodyPr/>
          <a:lstStyle/>
          <a:p>
            <a:endParaRPr/>
          </a:p>
        </p:txBody>
      </p:sp>
      <p:sp>
        <p:nvSpPr>
          <p:cNvPr id="31" name="Text 27"/>
          <p:cNvSpPr txBox="1"/>
          <p:nvPr/>
        </p:nvSpPr>
        <p:spPr>
          <a:xfrm>
            <a:off x="914400" y="4270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D</a:t>
            </a:r>
            <a:endParaRPr lang="en-US" sz="1500" dirty="0"/>
          </a:p>
        </p:txBody>
      </p:sp>
      <p:sp>
        <p:nvSpPr>
          <p:cNvPr id="32" name="Text 28"/>
          <p:cNvSpPr txBox="1"/>
          <p:nvPr/>
        </p:nvSpPr>
        <p:spPr>
          <a:xfrm>
            <a:off x="1463040" y="41605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확률 투명성</a:t>
            </a:r>
            <a:endParaRPr lang="en-US" sz="1500" dirty="0"/>
          </a:p>
        </p:txBody>
      </p:sp>
      <p:sp>
        <p:nvSpPr>
          <p:cNvPr id="33" name="Text 29"/>
          <p:cNvSpPr txBox="1"/>
          <p:nvPr/>
        </p:nvSpPr>
        <p:spPr>
          <a:xfrm>
            <a:off x="3383280" y="4160520"/>
            <a:ext cx="7863840" cy="603504"/>
          </a:xfrm>
          <a:prstGeom prst="rect">
            <a:avLst/>
          </a:prstGeom>
          <a:noFill/>
          <a:ln/>
        </p:spPr>
        <p:txBody>
          <a:bodyPr wrap="square" lIns="0" tIns="0" rIns="0" bIns="0" rtlCol="0" anchor="ctr"/>
          <a:lstStyle/>
          <a:p>
            <a:pPr marL="0" indent="0">
              <a:buNone/>
            </a:pPr>
            <a:r>
              <a:rPr lang="en-US" sz="1150" dirty="0">
                <a:solidFill>
                  <a:srgbClr val="5E6066"/>
                </a:solidFill>
                <a:latin typeface="Pretendard" pitchFamily="34" charset="0"/>
                <a:ea typeface="Pretendard" pitchFamily="34" charset="-122"/>
                <a:cs typeface="Pretendard" pitchFamily="34" charset="-120"/>
              </a:rPr>
              <a:t>대량 시뮬레이션·통계 검정 자동화 / 공시 확률-서버 테이블 </a:t>
            </a:r>
            <a:r>
              <a:rPr lang="en-US" sz="1150" dirty="0" err="1">
                <a:solidFill>
                  <a:srgbClr val="5E6066"/>
                </a:solidFill>
                <a:latin typeface="Pretendard" pitchFamily="34" charset="0"/>
                <a:ea typeface="Pretendard" pitchFamily="34" charset="-122"/>
                <a:cs typeface="Pretendard" pitchFamily="34" charset="-120"/>
              </a:rPr>
              <a:t>일치</a:t>
            </a:r>
            <a:r>
              <a:rPr lang="en-US" sz="1150" dirty="0">
                <a:solidFill>
                  <a:srgbClr val="5E6066"/>
                </a:solidFill>
                <a:latin typeface="Pretendard" pitchFamily="34" charset="0"/>
                <a:ea typeface="Pretendard" pitchFamily="34" charset="-122"/>
                <a:cs typeface="Pretendard" pitchFamily="34" charset="-120"/>
              </a:rPr>
              <a:t> </a:t>
            </a:r>
            <a:endParaRPr lang="en-US" sz="1150" dirty="0"/>
          </a:p>
        </p:txBody>
      </p:sp>
      <p:sp>
        <p:nvSpPr>
          <p:cNvPr id="34" name="Shape 30"/>
          <p:cNvSpPr/>
          <p:nvPr/>
        </p:nvSpPr>
        <p:spPr>
          <a:xfrm>
            <a:off x="777240" y="4846320"/>
            <a:ext cx="10607040" cy="603504"/>
          </a:xfrm>
          <a:prstGeom prst="roundRect">
            <a:avLst>
              <a:gd name="adj" fmla="val 9091"/>
            </a:avLst>
          </a:prstGeom>
          <a:solidFill>
            <a:srgbClr val="F6F6F6"/>
          </a:solidFill>
          <a:ln w="12700">
            <a:solidFill>
              <a:srgbClr val="E4E4E4"/>
            </a:solidFill>
            <a:prstDash val="solid"/>
          </a:ln>
        </p:spPr>
        <p:txBody>
          <a:bodyPr/>
          <a:lstStyle/>
          <a:p>
            <a:endParaRPr/>
          </a:p>
        </p:txBody>
      </p:sp>
      <p:sp>
        <p:nvSpPr>
          <p:cNvPr id="35" name="Shape 31"/>
          <p:cNvSpPr/>
          <p:nvPr/>
        </p:nvSpPr>
        <p:spPr>
          <a:xfrm>
            <a:off x="914400" y="4956048"/>
            <a:ext cx="384048" cy="384048"/>
          </a:xfrm>
          <a:prstGeom prst="ellipse">
            <a:avLst/>
          </a:prstGeom>
          <a:solidFill>
            <a:srgbClr val="FC5230"/>
          </a:solidFill>
          <a:ln w="12700">
            <a:solidFill>
              <a:srgbClr val="FC5230"/>
            </a:solidFill>
            <a:prstDash val="solid"/>
          </a:ln>
        </p:spPr>
        <p:txBody>
          <a:bodyPr/>
          <a:lstStyle/>
          <a:p>
            <a:endParaRPr/>
          </a:p>
        </p:txBody>
      </p:sp>
      <p:sp>
        <p:nvSpPr>
          <p:cNvPr id="36" name="Text 32"/>
          <p:cNvSpPr txBox="1"/>
          <p:nvPr/>
        </p:nvSpPr>
        <p:spPr>
          <a:xfrm>
            <a:off x="914400" y="4956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E</a:t>
            </a:r>
            <a:endParaRPr lang="en-US" sz="1500" dirty="0"/>
          </a:p>
        </p:txBody>
      </p:sp>
      <p:sp>
        <p:nvSpPr>
          <p:cNvPr id="37" name="Text 33"/>
          <p:cNvSpPr txBox="1"/>
          <p:nvPr/>
        </p:nvSpPr>
        <p:spPr>
          <a:xfrm>
            <a:off x="1463040" y="4846320"/>
            <a:ext cx="1920240" cy="603504"/>
          </a:xfrm>
          <a:prstGeom prst="rect">
            <a:avLst/>
          </a:prstGeom>
          <a:noFill/>
          <a:ln/>
        </p:spPr>
        <p:txBody>
          <a:bodyPr wrap="square" lIns="0" tIns="0" rIns="0" bIns="0" rtlCol="0" anchor="ctr"/>
          <a:lstStyle/>
          <a:p>
            <a:pPr marL="0" indent="0">
              <a:buNone/>
            </a:pPr>
            <a:r>
              <a:rPr lang="en-US" sz="1500" b="1" dirty="0">
                <a:solidFill>
                  <a:srgbClr val="1E1F22"/>
                </a:solidFill>
                <a:latin typeface="Pretendard" pitchFamily="34" charset="0"/>
                <a:ea typeface="Pretendard" pitchFamily="34" charset="-122"/>
                <a:cs typeface="Pretendard" pitchFamily="34" charset="-120"/>
              </a:rPr>
              <a:t>보스 · 보상 공정성</a:t>
            </a:r>
            <a:endParaRPr lang="en-US" sz="1500" dirty="0"/>
          </a:p>
        </p:txBody>
      </p:sp>
      <p:sp>
        <p:nvSpPr>
          <p:cNvPr id="38" name="Text 34"/>
          <p:cNvSpPr txBox="1"/>
          <p:nvPr/>
        </p:nvSpPr>
        <p:spPr>
          <a:xfrm>
            <a:off x="3383280" y="4846320"/>
            <a:ext cx="7863840" cy="603504"/>
          </a:xfrm>
          <a:prstGeom prst="rect">
            <a:avLst/>
          </a:prstGeom>
          <a:noFill/>
          <a:ln/>
        </p:spPr>
        <p:txBody>
          <a:bodyPr wrap="square" lIns="0" tIns="0" rIns="0" bIns="0" rtlCol="0" anchor="ctr"/>
          <a:lstStyle/>
          <a:p>
            <a:r>
              <a:rPr lang="en-US" sz="1150" dirty="0">
                <a:solidFill>
                  <a:srgbClr val="5E6066"/>
                </a:solidFill>
                <a:latin typeface="Pretendard" pitchFamily="34" charset="0"/>
                <a:ea typeface="Pretendard" pitchFamily="34" charset="-122"/>
                <a:cs typeface="Pretendard" pitchFamily="34" charset="-120"/>
              </a:rPr>
              <a:t>동일 조건 반복 시 지목 대상이 항상 동일한지(규칙 결정성) / 도감 정보와 실제 판정 일치 / </a:t>
            </a:r>
            <a:r>
              <a:rPr lang="en-US" sz="1150" dirty="0" err="1">
                <a:solidFill>
                  <a:srgbClr val="5E6066"/>
                </a:solidFill>
                <a:latin typeface="Pretendard" pitchFamily="34" charset="0"/>
                <a:ea typeface="Pretendard" pitchFamily="34" charset="-122"/>
                <a:cs typeface="Pretendard" pitchFamily="34" charset="-120"/>
              </a:rPr>
              <a:t>패배</a:t>
            </a:r>
            <a:r>
              <a:rPr lang="en-US" sz="1150" dirty="0">
                <a:solidFill>
                  <a:srgbClr val="5E6066"/>
                </a:solidFill>
                <a:latin typeface="Pretendard" pitchFamily="34" charset="0"/>
                <a:ea typeface="Pretendard" pitchFamily="34" charset="-122"/>
                <a:cs typeface="Pretendard" pitchFamily="34" charset="-120"/>
              </a:rPr>
              <a:t> 리포트 </a:t>
            </a:r>
            <a:r>
              <a:rPr lang="en-US" sz="1150" dirty="0" err="1">
                <a:solidFill>
                  <a:srgbClr val="5E6066"/>
                </a:solidFill>
                <a:latin typeface="Pretendard" pitchFamily="34" charset="0"/>
                <a:ea typeface="Pretendard" pitchFamily="34" charset="-122"/>
                <a:cs typeface="Pretendard" pitchFamily="34" charset="-120"/>
              </a:rPr>
              <a:t>수치-서버</a:t>
            </a:r>
            <a:r>
              <a:rPr lang="en-US" sz="1150" dirty="0">
                <a:solidFill>
                  <a:srgbClr val="5E6066"/>
                </a:solidFill>
                <a:latin typeface="Pretendard" pitchFamily="34" charset="0"/>
                <a:ea typeface="Pretendard" pitchFamily="34" charset="-122"/>
                <a:cs typeface="Pretendard" pitchFamily="34" charset="-120"/>
              </a:rPr>
              <a:t> </a:t>
            </a:r>
            <a:r>
              <a:rPr lang="en-US" sz="1150" dirty="0" err="1">
                <a:solidFill>
                  <a:srgbClr val="5E6066"/>
                </a:solidFill>
                <a:latin typeface="Pretendard" pitchFamily="34" charset="0"/>
                <a:ea typeface="Pretendard" pitchFamily="34" charset="-122"/>
                <a:cs typeface="Pretendard" pitchFamily="34" charset="-120"/>
              </a:rPr>
              <a:t>로그</a:t>
            </a:r>
            <a:r>
              <a:rPr lang="ko-KR" altLang="en-US" sz="1150" dirty="0">
                <a:solidFill>
                  <a:srgbClr val="5E6066"/>
                </a:solidFill>
                <a:latin typeface="Pretendard" pitchFamily="34" charset="0"/>
                <a:ea typeface="Pretendard" pitchFamily="34" charset="-122"/>
                <a:cs typeface="Pretendard" pitchFamily="34" charset="-120"/>
              </a:rPr>
              <a:t>에 기록된 데이터와 일치하는지 확인</a:t>
            </a:r>
            <a:r>
              <a:rPr lang="ko-KR" altLang="en-US" sz="1200" dirty="0"/>
              <a:t> </a:t>
            </a:r>
            <a:endParaRPr lang="en-US" sz="1150" dirty="0"/>
          </a:p>
        </p:txBody>
      </p:sp>
      <p:sp>
        <p:nvSpPr>
          <p:cNvPr id="39" name="Shape 35"/>
          <p:cNvSpPr/>
          <p:nvPr/>
        </p:nvSpPr>
        <p:spPr>
          <a:xfrm>
            <a:off x="777240" y="5577840"/>
            <a:ext cx="10607040" cy="548640"/>
          </a:xfrm>
          <a:prstGeom prst="roundRect">
            <a:avLst>
              <a:gd name="adj" fmla="val 13333"/>
            </a:avLst>
          </a:prstGeom>
          <a:solidFill>
            <a:srgbClr val="494A4E"/>
          </a:solidFill>
          <a:ln w="12700">
            <a:solidFill>
              <a:srgbClr val="494A4E"/>
            </a:solidFill>
            <a:prstDash val="solid"/>
          </a:ln>
        </p:spPr>
        <p:txBody>
          <a:bodyPr/>
          <a:lstStyle/>
          <a:p>
            <a:endParaRPr/>
          </a:p>
        </p:txBody>
      </p:sp>
      <p:sp>
        <p:nvSpPr>
          <p:cNvPr id="40" name="Text 36"/>
          <p:cNvSpPr txBox="1"/>
          <p:nvPr/>
        </p:nvSpPr>
        <p:spPr>
          <a:xfrm>
            <a:off x="1051560" y="5577840"/>
            <a:ext cx="10149840" cy="548640"/>
          </a:xfrm>
          <a:prstGeom prst="rect">
            <a:avLst/>
          </a:prstGeom>
          <a:noFill/>
          <a:ln/>
        </p:spPr>
        <p:txBody>
          <a:bodyPr wrap="square" lIns="0" tIns="0" rIns="0" bIns="0" rtlCol="0" anchor="ctr"/>
          <a:lstStyle/>
          <a:p>
            <a:pPr marL="0" indent="0">
              <a:buNone/>
            </a:pPr>
            <a:r>
              <a:rPr lang="en-US" sz="1300" dirty="0">
                <a:solidFill>
                  <a:srgbClr val="FFFFFF"/>
                </a:solidFill>
                <a:latin typeface="Pretendard" pitchFamily="34" charset="0"/>
                <a:ea typeface="Pretendard" pitchFamily="34" charset="-122"/>
                <a:cs typeface="Pretendard" pitchFamily="34" charset="-120"/>
              </a:rPr>
              <a:t>"운"은 재미로 남기고, 실수 없는 패배 · 매칭 · 성장 벽 · 확률 불신 · 장기 유저의 빈 </a:t>
            </a:r>
            <a:r>
              <a:rPr lang="en-US" sz="1300" dirty="0" err="1">
                <a:solidFill>
                  <a:srgbClr val="FFFFFF"/>
                </a:solidFill>
                <a:latin typeface="Pretendard" pitchFamily="34" charset="0"/>
                <a:ea typeface="Pretendard" pitchFamily="34" charset="-122"/>
                <a:cs typeface="Pretendard" pitchFamily="34" charset="-120"/>
              </a:rPr>
              <a:t>목표라는</a:t>
            </a:r>
            <a:r>
              <a:rPr lang="en-US" sz="1300" dirty="0">
                <a:solidFill>
                  <a:srgbClr val="FFFFFF"/>
                </a:solidFill>
                <a:latin typeface="Pretendard" pitchFamily="34" charset="0"/>
                <a:ea typeface="Pretendard" pitchFamily="34" charset="-122"/>
                <a:cs typeface="Pretendard" pitchFamily="34" charset="-120"/>
              </a:rPr>
              <a:t> 운 </a:t>
            </a:r>
            <a:r>
              <a:rPr lang="en-US" sz="1300" dirty="0" err="1">
                <a:solidFill>
                  <a:srgbClr val="FFFFFF"/>
                </a:solidFill>
                <a:latin typeface="Pretendard" pitchFamily="34" charset="0"/>
                <a:ea typeface="Pretendard" pitchFamily="34" charset="-122"/>
                <a:cs typeface="Pretendard" pitchFamily="34" charset="-120"/>
              </a:rPr>
              <a:t>이외의</a:t>
            </a:r>
            <a:r>
              <a:rPr lang="en-US" sz="1300" dirty="0">
                <a:solidFill>
                  <a:srgbClr val="FFFFFF"/>
                </a:solidFill>
                <a:latin typeface="Pretendard" pitchFamily="34" charset="0"/>
                <a:ea typeface="Pretendard" pitchFamily="34" charset="-122"/>
                <a:cs typeface="Pretendard" pitchFamily="34" charset="-120"/>
              </a:rPr>
              <a:t> </a:t>
            </a:r>
            <a:r>
              <a:rPr lang="en-US" sz="1300" dirty="0" err="1">
                <a:solidFill>
                  <a:srgbClr val="FFFFFF"/>
                </a:solidFill>
                <a:latin typeface="Pretendard" pitchFamily="34" charset="0"/>
                <a:ea typeface="Pretendard" pitchFamily="34" charset="-122"/>
                <a:cs typeface="Pretendard" pitchFamily="34" charset="-120"/>
              </a:rPr>
              <a:t>불합리</a:t>
            </a:r>
            <a:r>
              <a:rPr lang="ko-KR" altLang="en-US" sz="1300" dirty="0">
                <a:solidFill>
                  <a:srgbClr val="FFFFFF"/>
                </a:solidFill>
                <a:latin typeface="Pretendard" pitchFamily="34" charset="0"/>
                <a:ea typeface="Pretendard" pitchFamily="34" charset="-122"/>
                <a:cs typeface="Pretendard" pitchFamily="34" charset="-120"/>
              </a:rPr>
              <a:t>함을</a:t>
            </a:r>
            <a:r>
              <a:rPr lang="en-US" sz="1300" dirty="0">
                <a:solidFill>
                  <a:srgbClr val="FFFFFF"/>
                </a:solidFill>
                <a:latin typeface="Pretendard" pitchFamily="34" charset="0"/>
                <a:ea typeface="Pretendard" pitchFamily="34" charset="-122"/>
                <a:cs typeface="Pretendard" pitchFamily="34" charset="-120"/>
              </a:rPr>
              <a:t> 제거해 장기 리텐션을 만든다.</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4330</TotalTime>
  <Words>1969</Words>
  <Application>Microsoft Office PowerPoint</Application>
  <PresentationFormat>와이드스크린</PresentationFormat>
  <Paragraphs>219</Paragraphs>
  <Slides>11</Slides>
  <Notes>11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11</vt:i4>
      </vt:variant>
    </vt:vector>
  </HeadingPairs>
  <TitlesOfParts>
    <vt:vector size="14" baseType="lpstr">
      <vt:lpstr>Pretendard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운빨존많겜 개선 및 발전 제안 기획서</dc:title>
  <dc:subject>PptxGenJS Presentation</dc:subject>
  <dc:creator>이경민</dc:creator>
  <cp:lastModifiedBy>경민 이</cp:lastModifiedBy>
  <cp:revision>7</cp:revision>
  <dcterms:created xsi:type="dcterms:W3CDTF">2026-09-16T09:59:32Z</dcterms:created>
  <dcterms:modified xsi:type="dcterms:W3CDTF">2026-10-15T07:39:07Z</dcterms:modified>
</cp:coreProperties>
</file>