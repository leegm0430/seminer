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요약" id="{38B0CAEB-4BBF-FE74-1674-9062019C3969}">
          <p14:sldIdLst>
            <p14:sldId id="256"/>
            <p14:sldId id="257"/>
            <p14:sldId id="258"/>
          </p14:sldIdLst>
        </p14:section>
        <p14:section name="선정 이유·개요" id="{80D11D14-DDCA-68EF-80BB-34E31A8A0B83}">
          <p14:sldIdLst>
            <p14:sldId id="259"/>
            <p14:sldId id="260"/>
          </p14:sldIdLst>
        </p14:section>
        <p14:section name="구조 분석" id="{0E2F9EC5-8072-E7FD-8568-92D5478EB6F7}">
          <p14:sldIdLst>
            <p14:sldId id="261"/>
            <p14:sldId id="262"/>
            <p14:sldId id="263"/>
            <p14:sldId id="264"/>
            <p14:sldId id="265"/>
          </p14:sldIdLst>
        </p14:section>
        <p14:section name="경험·결과·장단점" id="{F869210D-6B4F-8928-B30E-EE6A1C983450}">
          <p14:sldIdLst>
            <p14:sldId id="266"/>
            <p14:sldId id="267"/>
            <p14:sldId id="268"/>
            <p14:sldId id="269"/>
            <p14:sldId id="270"/>
          </p14:sldIdLst>
        </p14:section>
        <p14:section name="QA 리스크·테스트 설계" id="{265F397E-AE3C-DFB8-F9ED-E38C27D284C4}">
          <p14:sldIdLst>
            <p14:sldId id="271"/>
            <p14:sldId id="272"/>
            <p14:sldId id="273"/>
            <p14:sldId id="274"/>
            <p14:sldId id="275"/>
          </p14:sldIdLst>
        </p14:section>
        <p14:section name="개선·시사점" id="{BBC2AA87-78B8-FD69-E0E3-8DFB975CADAE}">
          <p14:sldIdLst>
            <p14:sldId id="276"/>
            <p14:sldId id="277"/>
            <p14:sldId id="278"/>
            <p14:sldId id="279"/>
            <p14:sldId id="280"/>
          </p14:sldIdLst>
        </p14:section>
        <p14:section name="한계·출처" id="{88FA8D15-2B5D-A31F-6DAE-2984B405324B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45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48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LOST ARK MOBILE · QA GAME ANALYSIS · 이경민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00" dirty="0">
                <a:solidFill>
                  <a:srgbClr val="A85A1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5171D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48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9AE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LOST ARK MOBILE · QA GAME ANALYSIS · 이경민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kern="0" spc="100" dirty="0">
                <a:solidFill>
                  <a:srgbClr val="E39A4A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ECE7DC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EB8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5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365760"/>
            <a:ext cx="50017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F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CBT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12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PORTFOLIO · GAME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로스트아크 모바일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3291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</a:t>
            </a:r>
            <a:r>
              <a:rPr lang="en-US" sz="2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12648" y="5074920"/>
            <a:ext cx="10972800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이경민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904488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904488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2025.11.13~16 CBT 빌드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96328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96328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한 장 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6858000" cy="105156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86968" y="19202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762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진입과 재도전을 돕는 기능이, 성장 판단과 반복 플레이의 부담까지 줄여 주는가?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30358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전투·학습 쪽은 ‘그렇다’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336499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회피·사망 분석·솔로 레이드처럼 PC 대비 새로 넣은 장치가 확인되고, 발탄 솔로 레이드는 체험 후기에서 고르게 호평받았다.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40050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40233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성장·반복 쪽은 ‘아니다’에 가깝다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435254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확률이 겹친 성장 축, 원작에서 되돌아온 피로 요소, 신규 콘텐츠 중 군단 던전·운명의 궤도가 반복해서 지적됐다.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49926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50109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우선 리스크는 상태 전환·안정성·확률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534009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재접속·계승 결함 공지, 튕김 보고, 확률 성장 다수 → 상태 일치, 장시간 안정성, 확률 표시·결과 일치부터 검증한다.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44968" y="1783080"/>
            <a:ext cx="3840480" cy="292608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0010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문서에서 한 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01000" y="2377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2359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공개 정보로 게임 구조·콘텐츠 정리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29443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원작과 비교해 바뀐 것·새로 생긴 것을 정리하고 4단계로 판정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511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3493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 영향 기준으로 QA 리스크 우선순위 도출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078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40599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케이스 2세트·버그 리포트 1건 설계, 콘텐츠별 개선안 제시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480560" y="1783080"/>
            <a:ext cx="7104888" cy="0"/>
          </a:xfrm>
          <a:prstGeom prst="line">
            <a:avLst/>
          </a:prstGeom>
          <a:noFill/>
          <a:ln w="25400">
            <a:solidFill>
              <a:srgbClr val="1517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4480560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9568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이유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0025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441448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480560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615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개요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099816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480560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2735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대비·구조 분석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319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3758184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48056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분석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480560" y="4416552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480560" y="4636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83480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분석</a:t>
            </a:r>
            <a:endParaRPr lang="en-US" sz="1550" dirty="0"/>
          </a:p>
        </p:txBody>
      </p:sp>
      <p:sp>
        <p:nvSpPr>
          <p:cNvPr id="99" name="Text 22"/>
          <p:cNvSpPr txBox="1"/>
          <p:nvPr/>
        </p:nvSpPr>
        <p:spPr>
          <a:xfrm>
            <a:off x="7406640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4636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5074920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480560" y="5294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52486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장단점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52943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5733288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8202168" y="2002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05088" y="19568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리스크·테스트 설계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11128248" y="20025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02168" y="2441448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8202168" y="2660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705088" y="2615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제안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11128248" y="2660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02168" y="3099816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8202168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705088" y="32735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11128248" y="33192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02168" y="3758184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8202168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705088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한계·검증 계획</a:t>
            </a:r>
            <a:endParaRPr lang="en-US" sz="1550" dirty="0"/>
          </a:p>
        </p:txBody>
      </p:sp>
      <p:sp>
        <p:nvSpPr>
          <p:cNvPr id="44" name="Text 42"/>
          <p:cNvSpPr txBox="1"/>
          <p:nvPr/>
        </p:nvSpPr>
        <p:spPr>
          <a:xfrm>
            <a:off x="11128248" y="3977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A6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02168" y="4416552"/>
            <a:ext cx="338328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01 · 선정 이유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왜 로스트아크 모바일인가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10972800" cy="0"/>
          </a:xfrm>
          <a:prstGeom prst="line">
            <a:avLst/>
          </a:prstGeom>
          <a:noFill/>
          <a:ln w="25400">
            <a:solidFill>
              <a:srgbClr val="1517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12648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레이드를 손바닥으로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탑뷰 논타깃 보스전을 터치로 옮기면서 조작·보조·자동을 어디서 나눴는지 비교할 수 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0248" y="1965960"/>
            <a:ext cx="0" cy="210312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544568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호평과 지적이 함께 남았다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체험 후기에서 레이드는 호평받고, 성장 구조와 반복 콘텐츠는 과제로 꼽혔다.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27848" y="1965960"/>
            <a:ext cx="0" cy="210312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8202168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02168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기록이 공개돼 있다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02168" y="2926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재접속·장비 계승·로그인 결함과 수정 공지가 남아, 상태 전환 테스트를 설계할 근거가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4343400"/>
            <a:ext cx="10972800" cy="91440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3268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532888" y="4663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2025.11.13~16 CBT 빌드 (모바일·PC 스토브 클라이언트)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39A4A"/>
                </a:solidFill>
              </a:rPr>
              <a:t>02 · 게임 개요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CE7DC"/>
                </a:solidFill>
              </a:rPr>
              <a:t>출시 전, CBT 한 번 이후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6309360" cy="380390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스마일게이트 RPG (원작 PC ‘로스트아크’ IP)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장르·엔진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MMORPG · 언리얼 엔진 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플랫폼(CBT)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모바일: 구글 플레이·앱스토어 / PC: 스토브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CBT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2025.11.13~16, 4일 · 사전 신청자 중 추첨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CBT 클래스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8종 — 소드마스터는 모바일 오리지널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CBT 목표(공식)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재미·성장·순환 구조·서버 안정성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CBT에서는 패스 상품만 공개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 (2026.10 기준)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920240"/>
            <a:ext cx="0" cy="361188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</p:sp>
      <p:sp>
        <p:nvSpPr>
          <p:cNvPr id="4" name="Shape 3"/>
          <p:cNvSpPr/>
          <p:nvPr/>
        </p:nvSpPr>
        <p:spPr>
          <a:xfrm>
            <a:off x="7351776" y="1874520"/>
            <a:ext cx="109728" cy="109728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3524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80136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모바일판 개발 착수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51776" y="2560320"/>
            <a:ext cx="109728" cy="109728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3524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2023.11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248716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지스타 2023 첫 공개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51776" y="3246120"/>
            <a:ext cx="109728" cy="109728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35240" y="3182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2025.06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778240" y="317296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프리뷰 라이브·현장 시연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51776" y="3931920"/>
            <a:ext cx="109728" cy="109728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63524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2025.11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778240" y="385876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4일 (11.15 점핑 확대·패치)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351776" y="4617720"/>
            <a:ext cx="109728" cy="109728"/>
          </a:xfrm>
          <a:prstGeom prst="rect">
            <a:avLst/>
          </a:prstGeom>
          <a:solidFill>
            <a:srgbClr val="A9AEB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635240" y="45537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2026.08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454456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직군 채용 55개, 현지화 10개 언어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51776" y="5303520"/>
            <a:ext cx="109728" cy="109728"/>
          </a:xfrm>
          <a:prstGeom prst="rect">
            <a:avLst/>
          </a:prstGeom>
          <a:solidFill>
            <a:srgbClr val="E39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635240" y="5239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2026.10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523036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출시일 미공개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EB8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03 · 구조 분석 — PC 원작 대비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PC 원작에서 무엇이 달라졌나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299862"/>
              </p:ext>
            </p:extLst>
          </p:nvPr>
        </p:nvGraphicFramePr>
        <p:xfrm>
          <a:off x="612648" y="1783080"/>
          <a:ext cx="10972800" cy="3200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원작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CBT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엔진·연출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언리얼 엔진 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언리얼 엔진 5, 주요 컷신 풀더빙, 선택지 분기 강화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연출 호평 / 비전 프리뷰보다 하향 체감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용병으로 시작, 카마인·유적지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평행 세계 도입, 신규 NPC(제나·이스트리아) 배치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호평 / 루테란부터 원작과 거의 같아 지루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키보드·마우스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8버튼·콤보 버튼, 스마트 회피·카운터, 오토 스킬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호평 / 엔드 레이드는 조작 </a:t>
                      </a:r>
                      <a:r>
                        <a:rPr lang="en-US" sz="1150" dirty="0" err="1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부담</a:t>
                      </a: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파티 모집 필수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용병(골드 소모), 대부분 솔로·파티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카운터 대응 호평 / 기믹 </a:t>
                      </a:r>
                      <a:r>
                        <a:rPr lang="en-US" sz="1150" dirty="0" err="1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처리엔</a:t>
                      </a: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군단장 레이드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파티 레이드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솔로 모드, 헬 솔로 전용 패턴, 체크포인트·사망 분석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원작 피로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뷰포인트 스킬 포인트 삭제 등 개선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뷰포인트 스킬 포인트·‘체력 1’ 기믹 연출 재등장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“고친 단점을 </a:t>
                      </a:r>
                      <a:r>
                        <a:rPr lang="en-US" sz="1150" dirty="0" err="1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되돌렸다</a:t>
                      </a: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03 · 구조 분석 — 모바일 오리지널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모바일에서 새로 생긴 것과 반응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3566160" cy="2084832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95528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카오스 브레이크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300984" y="1920240"/>
            <a:ext cx="713232" cy="310896"/>
          </a:xfrm>
          <a:prstGeom prst="rect">
            <a:avLst/>
          </a:prstGeom>
          <a:solidFill>
            <a:srgbClr val="E39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엇갈림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258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로그라이크 모드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511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스테이지마다 스킬을 골라 성장하고, 전용 주화로 영구 강화한다. 무한 모드에서 기록 경쟁.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3246120"/>
            <a:ext cx="32004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95528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게임성은 호평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속도감·목표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문제점 존재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1783080"/>
            <a:ext cx="3566160" cy="2084832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498848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군단 던전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50608" y="1920240"/>
            <a:ext cx="566928" cy="310896"/>
          </a:xfrm>
          <a:prstGeom prst="rect">
            <a:avLst/>
          </a:prstGeom>
          <a:solidFill>
            <a:srgbClr val="A85A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혹평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2258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타임어택 단계형 던전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5511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던전석으로 입장해 제한 시간 안에 깨면 단계가 오른다. 단계마다 디버프와 보상이 함께 커진다.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98848" y="3246120"/>
            <a:ext cx="32004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498848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‘필수인데 재미없다’는 평 — 잡몹 물량·CC로 난이도 상승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9288" y="1783080"/>
            <a:ext cx="3566160" cy="2084832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02168" y="1938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운명의 궤도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853928" y="1920240"/>
            <a:ext cx="566928" cy="310896"/>
          </a:xfrm>
          <a:prstGeom prst="rect">
            <a:avLst/>
          </a:prstGeom>
          <a:solidFill>
            <a:srgbClr val="A85A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혹평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02168" y="22585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엘릭서·초월 재해석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02168" y="25511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별·달·태양 궤도의 슬롯을 같은 색 보석으로 맞추면 효과가 켜진다.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02168" y="3246120"/>
            <a:ext cx="32004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8202168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보석 랜덤·리롤 반복, 보정 없음 — “엘릭서보다 심하다”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" y="4005072"/>
            <a:ext cx="3566160" cy="2084832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95528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소드마스터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447288" y="4142232"/>
            <a:ext cx="566928" cy="310896"/>
          </a:xfrm>
          <a:prstGeom prst="rect">
            <a:avLst/>
          </a:prstGeom>
          <a:solidFill>
            <a:srgbClr val="1517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호평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4480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오리지널 클래스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47731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요즈족 검술 클래스. 섬광(연계)·염화(폭발) 두 가지 스타일.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" y="5468112"/>
            <a:ext cx="32004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95528" y="5541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테스터 </a:t>
            </a:r>
            <a:r>
              <a:rPr 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선호도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높고 컨셉 만족도 높음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15968" y="4005072"/>
            <a:ext cx="3566160" cy="2084832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98848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기능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04304" y="4142232"/>
            <a:ext cx="713232" cy="310896"/>
          </a:xfrm>
          <a:prstGeom prst="rect">
            <a:avLst/>
          </a:prstGeom>
          <a:solidFill>
            <a:srgbClr val="E39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엇갈림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498848" y="4480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가이드·용병·퀘스트·꾸미기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498848" y="47731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원인 분석, AI 용병, 헤리리크 상담, AI 퀘스트·의상·마이룸.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98848" y="5468112"/>
            <a:ext cx="32004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4498848" y="5541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분석·용병 호평 / 상담 </a:t>
            </a:r>
            <a:r>
              <a:rPr 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의상 </a:t>
            </a:r>
            <a:r>
              <a:rPr lang="ko-KR" alt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변경시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버그</a:t>
            </a:r>
            <a:r>
              <a:rPr lang="en-US" altLang="ko-KR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</a:t>
            </a:r>
            <a:r>
              <a:rPr lang="en-US" altLang="ko-KR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요소등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요소로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및 불호로 이어짐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19288" y="4005072"/>
            <a:ext cx="3566160" cy="2084832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8202168" y="4160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가디언 토벌 경쟁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10853928" y="4142232"/>
            <a:ext cx="566928" cy="310896"/>
          </a:xfrm>
          <a:prstGeom prst="rect">
            <a:avLst/>
          </a:prstGeom>
          <a:solidFill>
            <a:srgbClr val="15171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호평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202168" y="4480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4대4 딜 경쟁 PvE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02168" y="47731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시간 안에 가디언을 더 빨리 사냥하는 경쟁 콘텐츠.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02168" y="5468112"/>
            <a:ext cx="32004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8202168" y="5541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유저들의 반응은 호평</a:t>
            </a:r>
            <a:r>
              <a:rPr 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직업 간 딜 격차 두 배 </a:t>
            </a:r>
            <a:r>
              <a:rPr lang="en-US" sz="10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ko-KR" altLang="en-US" sz="10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밸런스 요소 문제 확인</a:t>
            </a:r>
            <a:endParaRPr lang="en-US" sz="10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03 · 구조 분석 — 플레이 순환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싸우고, 키우고, 다시 도전한다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2423160" cy="109728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95528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클래스·조작 선택, 분기형 스토리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66288" y="2231136"/>
            <a:ext cx="365760" cy="201168"/>
          </a:xfrm>
          <a:prstGeom prst="rightArrow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462528" y="1783080"/>
            <a:ext cx="2423160" cy="109728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3645408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45408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카오스 브레이크·군단 던전·군단장 레이드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16168" y="2231136"/>
            <a:ext cx="365760" cy="201168"/>
          </a:xfrm>
          <a:prstGeom prst="rightArrow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12408" y="1783080"/>
            <a:ext cx="2423160" cy="109728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495288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5288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8갈래 성장, 재화마다 획득처가 다름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66048" y="2231136"/>
            <a:ext cx="365760" cy="201168"/>
          </a:xfrm>
          <a:prstGeom prst="rightArrow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162288" y="1783080"/>
            <a:ext cx="2423160" cy="109728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345168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345168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원인 분석·킬캠·체크포인트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927848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6A6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피드백은 다시 전투로 돌아간다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2648" y="3383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축 — CBT에서 확인된 8가지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" y="3840480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재련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30552" y="3840480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장신구 성장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48456" y="3840480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장신구 연구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66360" y="3840480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2648" y="4315968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운명의 궤도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130552" y="4315968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어빌리티 스톤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48456" y="4315968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포인트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66360" y="4315968"/>
            <a:ext cx="1426464" cy="365760"/>
          </a:xfrm>
          <a:prstGeom prst="rect">
            <a:avLst/>
          </a:prstGeom>
          <a:solidFill>
            <a:srgbClr val="F2EEE5"/>
          </a:solidFill>
          <a:ln w="952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트라이포드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" y="4937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재련 하락은 ‘담금질’로 바닥을 고정하고, 장비 계승으로 이전 투자를 옮길 수 있다. 부담을 낮추는 장치와 판단할 항목이 함께 늘어난 구조다.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23760" y="3383280"/>
            <a:ext cx="4361688" cy="237744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49808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순환을 굴리는 것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9776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장비·재련석·스킬석·궤도·각인 재료마다 획득처가 카오스 던전·큐브·어비스 던전 등으로 나뉜다. 부족한 재료를 채우려 여러 콘텐츠를 병행하게 된다.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03 · 구조 분석 — 전투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손을 덜어주는 세 개의 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6400800" cy="0"/>
          </a:xfrm>
          <a:prstGeom prst="line">
            <a:avLst/>
          </a:prstGeom>
          <a:noFill/>
          <a:ln w="25400">
            <a:solidFill>
              <a:srgbClr val="1517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12648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304288" y="187452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8버튼 자유 배치·크기 조절 / 콤보 한 버튼 /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PC는 마우스·WASD / 패드는 일부 콘텐츠 미대응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2459736"/>
            <a:ext cx="640080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12648" y="2642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2642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보조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2551176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순간에 뜨는 스마트 회피·스마트 카운터, 그로기 때 강타, 배틀 아이템 자동 사용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" y="3136392"/>
            <a:ext cx="640080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12648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A85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3227832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콘텐츠는 오토 스킬·자동 전투, 빈 파티 자리는 AI 용병(골드 소모)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" y="3813048"/>
            <a:ext cx="640080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69480" y="1783080"/>
            <a:ext cx="4315968" cy="2029968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5438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손에 남는 것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2240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군단장 레이드에서는 아이덴티티·회피·배틀 아이템·스킬 사이클을 동시에 굴려야 한다.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0175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리액션이 큰 스킬은 동작 중 회피로 끊을 수 </a:t>
            </a:r>
            <a:r>
              <a:rPr lang="en-US" sz="1100" dirty="0" err="1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없었다는</a:t>
            </a: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체</a:t>
            </a:r>
            <a:r>
              <a:rPr lang="ko-KR" altLang="en-US" sz="1100" dirty="0" err="1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험</a:t>
            </a: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반복 QTE가 흐름을 </a:t>
            </a:r>
            <a:r>
              <a:rPr lang="en-US" sz="1100" dirty="0" err="1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끊는다는</a:t>
            </a: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평도</a:t>
            </a: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950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콘텐츠별 보조 기능</a:t>
            </a:r>
            <a:endParaRPr lang="en-US" sz="12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133645"/>
              </p:ext>
            </p:extLst>
          </p:nvPr>
        </p:nvGraphicFramePr>
        <p:xfrm>
          <a:off x="612648" y="4251960"/>
          <a:ext cx="10972800" cy="19751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확인된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필드·하위 콘텐츠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대부분 자동 전투만으로 </a:t>
                      </a:r>
                      <a:r>
                        <a:rPr lang="en-US" sz="1050" dirty="0" err="1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r>
                        <a:rPr 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r>
                        <a:rPr 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</a:t>
                      </a:r>
                      <a:r>
                        <a:rPr lang="ko-KR" alt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물약 기능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어비스 던전 보스전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자동으로는 버티기 어렵고, 수동으로 강한 공격을 피하도록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군단장 레이드 (일반)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솔로 모드 기준 · 일부 패턴 범위 표시 · 카운터 키 연타로 카운터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군단장 레이드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오토 스킬·자동 회피·오토 타게팅은 비중이 적고 수동 이동이 더 편함 · 자동 물약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 err="1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필드·하위</a:t>
                      </a:r>
                      <a:r>
                        <a:rPr lang="en-US" altLang="ko-KR" sz="10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altLang="ko-KR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0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퀘스트 자동 진행 중 해당 퀘스트 완료 시 다시 자동 전투 눌러야 하는 불편함 존재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03 · 구조 분석 — 성장 (PC 원작 대비)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확정이 없는 축이 겹친다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252374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원작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CBT의 무작위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보정·편의 장치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트라이포드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포인트로 개방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스킬석 랜덤 획득, 강화도 확률·실패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상점 구매, 요즈의 항아리(랜덤)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불만 다수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재련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‘장인의 기운’ 실패 보정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강화 단계가 떨어짐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담금질로 하락 방지, 천장 안 보임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운명의 궤도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엘릭서·초월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색·결과 랜덤, 리롤 반복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 보정 장치 안 보임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‘가혹’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옵션·세트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부가 옵션·세트 등급 모두 랜덤 파밍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장신구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장신구 세팅 파밍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성장(게이지)·연구(옵션 추출) 분리, 추출 랜덤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정렬·필터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4434840"/>
            <a:ext cx="10972800" cy="118872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86968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의견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4956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하나하나는 단순하다는 의견도 있다. CBT 점핑으로 한꺼번에 열린 탓일 수 있어, 단계적으로 열리는 빌드에서 다시 봐야 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04 · 경험 분석 — 제3자 체험의 네 장면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전투는 짧아졌고, 길은 길어졌다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2640330" cy="306324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1248" y="196596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30분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1460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연출은 수준급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44368"/>
            <a:ext cx="21831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원작과 다른 도입과 UE5 컷신. 첫 마을까지는 ‘스팀 게임급’이라는 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4315968"/>
            <a:ext cx="1152144" cy="310896"/>
          </a:xfrm>
          <a:prstGeom prst="rect">
            <a:avLst/>
          </a:prstGeom>
          <a:solidFill>
            <a:srgbClr val="FBF9F4"/>
          </a:solidFill>
          <a:ln w="1587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해석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90138" y="1783080"/>
            <a:ext cx="2640330" cy="306324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3618738" y="196596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4~6시간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8738" y="251460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뒤는 원작 반복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2944368"/>
            <a:ext cx="21831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컷신을 넘겨도 루테란까지 4~5시간. 잡몹이 단단하고 자동 진행이 자꾸 풀린다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8738" y="4315968"/>
            <a:ext cx="1152144" cy="310896"/>
          </a:xfrm>
          <a:prstGeom prst="rect">
            <a:avLst/>
          </a:prstGeom>
          <a:solidFill>
            <a:srgbClr val="FBF9F4"/>
          </a:solidFill>
          <a:ln w="1587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해석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67628" y="1783080"/>
            <a:ext cx="2640330" cy="306324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396228" y="196596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10분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396228" y="251460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발탄 한 판은 최고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396228" y="2944368"/>
            <a:ext cx="21831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 솔로는 패턴을 새로 짠 사실상 신규 난이도. 사망 분석이 학습을 돕는다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96228" y="4315968"/>
            <a:ext cx="1152144" cy="310896"/>
          </a:xfrm>
          <a:prstGeom prst="rect">
            <a:avLst/>
          </a:prstGeom>
          <a:solidFill>
            <a:srgbClr val="FBF9F4"/>
          </a:solidFill>
          <a:ln w="15875">
            <a:solidFill>
              <a:srgbClr val="15171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해석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45118" y="1783080"/>
            <a:ext cx="2640330" cy="306324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73718" y="1965960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 속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9173718" y="2514600"/>
            <a:ext cx="21831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곳도, 올릴 곳도 모른다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173718" y="2944368"/>
            <a:ext cx="21831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재료마다 파밍처가 다르고 성장 대부분이 확률. 원작 미경험자일수록 막힌다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73718" y="4315968"/>
            <a:ext cx="1005840" cy="310896"/>
          </a:xfrm>
          <a:prstGeom prst="rect">
            <a:avLst/>
          </a:prstGeom>
          <a:solidFill>
            <a:srgbClr val="E39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5120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편의와 완성도는 ‘한 판의 레이드’에 모였다. 그 레이드까지 가는 길(초반 스토리)과 그 뒤에 남는 일(성장·반복)은 같은 수준의 안내를 받지 못했다.</a:t>
            </a:r>
            <a:endParaRPr lang="en-US" sz="14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04 · 경험 분석 — 체험 후기 종합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같은 곳을 칭찬하고, 같은 곳에서 멈췄다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12648" y="1783080"/>
            <a:ext cx="5349240" cy="260604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86968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공통된 평가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2313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발탄 레이드, 특히 헬 솔로의 완성도 — 호평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2642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그래픽과 초반 연출 — 호평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초반 이후 원작을 복사한 스토리 — 지루함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" y="3300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확률형 트라이포드와 스킬석 수급 — 불만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86968" y="3630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군단 던전은 필수인데 재미없다 — 혹평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86968" y="3959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원작을 두고 모바일을 할 이유가 약하다</a:t>
            </a:r>
            <a:endParaRPr lang="en-US" sz="1200" dirty="0"/>
          </a:p>
        </p:txBody>
      </p:sp>
      <p:sp>
        <p:nvSpPr>
          <p:cNvPr id="4" name="Shape 10"/>
          <p:cNvSpPr/>
          <p:nvPr/>
        </p:nvSpPr>
        <p:spPr>
          <a:xfrm>
            <a:off x="6236208" y="1783080"/>
            <a:ext cx="5349240" cy="260604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6510528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평가가 갈린 것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510528" y="230428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구조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10528" y="25786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“랜덤투성이·과도” ↔ “단순·직관적”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10528" y="29809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카오스 브레이크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510528" y="325526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“최고 콘텐츠” ↔ “최대 실망”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510528" y="36576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어비스 던전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10528" y="3931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“무난·친절” ↔ “‘체력 1’ 기믹 회귀”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04 · 경험 분석 — 콘텐츠별 평가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재미는 한곳에 몰렸다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3566160" cy="45720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95528" y="1856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호평 일치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발탄 레이드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249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 솔로는 ‘5점 만점에 6점’이라는 평. 싱글·파티 헬 보상 차이 약 5%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" y="3310128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58368" y="3374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가디언 토벌 경쟁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703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딜 경쟁은 재미있다는 평. 직업 밸런스는 두 배 이상 차이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" y="4288536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315968" y="1783080"/>
            <a:ext cx="3566160" cy="457200"/>
          </a:xfrm>
          <a:prstGeom prst="rect">
            <a:avLst/>
          </a:prstGeom>
          <a:solidFill>
            <a:srgbClr val="E39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498848" y="1856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엇갈림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카오스 브레이크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361688" y="27249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‘본체’ ↔ ‘끔찍하다’로 평가가 갈림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15968" y="3310128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361688" y="3374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어비스 던전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361688" y="3703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무난·친절 ↔ 원작식 ‘체력 1’ 기믹 회귀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15968" y="4288536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61688" y="4352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큐브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46817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변주가 없어 지루 ↔ 무난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15968" y="5266944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019288" y="1783080"/>
            <a:ext cx="3566160" cy="45720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8202168" y="1856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혹평 일치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8065008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군단 던전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065008" y="27249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파밍처인데 0점 평가. 난이도를 잡몹 물량·CC로 올림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19288" y="3310128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8065008" y="3374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카오스 던전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065008" y="3703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몹만 잡으면 끝나고 오래 걸림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9288" y="4288536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8065008" y="4352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군단 침공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065008" y="46817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150개 </a:t>
            </a:r>
            <a:r>
              <a:rPr lang="en-US" sz="11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파밍</a:t>
            </a: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몹</a:t>
            </a:r>
            <a:r>
              <a:rPr lang="ko-KR" alt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숫자가 적고</a:t>
            </a:r>
            <a:r>
              <a:rPr lang="en-US" altLang="ko-KR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드랍률이</a:t>
            </a:r>
            <a:r>
              <a:rPr lang="ko-KR" alt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낮아 지루하고 불편 </a:t>
            </a:r>
            <a:r>
              <a:rPr lang="en-US" altLang="ko-KR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–&gt; </a:t>
            </a:r>
            <a:r>
              <a:rPr lang="ko-KR" alt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보상이 좋아서 강제 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19288" y="5266944"/>
            <a:ext cx="356616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05 · 결과 분석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CBT 기준 판정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2944368"/>
        </p:xfrm>
        <a:graphic>
          <a:graphicData uri="http://schemas.openxmlformats.org/drawingml/2006/table">
            <a:tbl>
              <a:tblPr/>
              <a:tblGrid>
                <a:gridCol w="850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조작·학습 지원 장치가 있는가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레이드 경험의 완성도가 높은가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해석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장치가 초보자 적응을 실제로 도왔는가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 구조가 이해하기 쉬운가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보류 · 부정 신호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부담이 해소됐는가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보류 · 부정 신호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공지된 결함이 모두 해결됐는가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보류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4937760"/>
            <a:ext cx="10972800" cy="96012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932688" y="5120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· 편의와 완성도는 ‘한 판의 레이드’에서 확인된다. 레이드까지 가는 길과 그 뒤의 성장·반복은 부정 신호가 더 쌓였고, 별도로 검증해야 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06 · 장단점 분석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같은 결정이 양쪽에 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5303520" cy="50292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1248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 — 설계상 의미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레이드 설계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761488" y="2478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헬 솔로 신규 패턴, 최고 평가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" y="292608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704088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→ 학습 연결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31181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분석·킬캠·체크포인트가 한 흐름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" y="356616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704088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솔로 친화 보상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3758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싱글·파티 헬 보상 차이 약 5%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" y="420624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088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연출·커스터마이징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761488" y="4398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그래픽·초반</a:t>
            </a: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</a:t>
            </a: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신규 </a:t>
            </a:r>
            <a:r>
              <a:rPr lang="en-US" altLang="ko-KR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NPC</a:t>
            </a: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호평</a:t>
            </a: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" y="484632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81928" y="1783080"/>
            <a:ext cx="5303520" cy="502920"/>
          </a:xfrm>
          <a:prstGeom prst="rect">
            <a:avLst/>
          </a:prstGeom>
          <a:solidFill>
            <a:srgbClr val="A85A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510528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 — 지적·결함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373368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없는 성장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2478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트라이포드·재련·궤도가 모두 확률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81928" y="292608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373368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 피로 요소 회귀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31181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뷰포인트 스킬 포인트·체력 1 기믹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81928" y="356616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373368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초반 템포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430768" y="37581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원작 반복, 단단한 잡몹, 자동 끊김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81928" y="420624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373368" y="4389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파밍의 재미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8430768" y="4398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군단 던전 혹평 일치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81928" y="4846320"/>
            <a:ext cx="530352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12648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‘원작을 거의 다 담았다’는 선택이 팬에게는 깊이, 신규 이용자에게는 판단 부담으로 동시에 작동한다.</a:t>
            </a:r>
            <a:endParaRPr lang="en-US" sz="15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07 · QA — 리스크 기반 우선순위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어디부터 테스트할 것인가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3538728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 영역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이용자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전환 (재접속·계승·이어하기)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진행·재화 손실, 재도전 강요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접속·안정성 (끊김·튕김·발열)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중단, 모바일 이탈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 성장의 표시·결과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재화 손실, 신뢰·규제 리스크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진행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재시작, 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성장·재화 정보 전달 (용어·사용처·필터)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비용, 초반 이탈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안내 정확도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정보로 행동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밸런스 (PvP 직업 격차·던전 CC)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 공정성, 재미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텍스트·렌더링 (용어·코스튬)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혼란, 외형 결함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· 이용자 영향(진행·재화 손실 &gt; 반복 불편 &gt; 표기 혼선) 순으로 정렬했다.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07 · QA — CBT에서 보고된 결함 후보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보고된 현상을 테스트 관점으로 바꾸면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3072384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보고된 현상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이동·점프·퀘스트 완료 때 자동 진행이 풀림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종류별 해제 여부 매트릭스, 명세와 대조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안전지대에서 몬스터가 다시 생김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레벨 디자인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안전지대 경계와 스폰 범위가 겹치는지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엉뚱한 퀘스트 마커, 경험치 미지급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진행·보상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단계별 마커 좌표, 보상 지급 로그 대조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코스튬 교체 시 하체가 사라짐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부위 조합별 교체 → 저장 → 재접속 회귀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튕김·무한 로딩, 10분 뒤 발열·프레임 저하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안정성·성능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기기·통신별 장시간 플레이, 발열 구간 FPS 기록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각인 ‘강화’·‘개방’ 등 화면마다 다른 용어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텍스트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용어집 기준 화면 전수 대조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5120640"/>
            <a:ext cx="10972800" cy="86868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86968" y="532180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보고된 현상 ≠ 재현된 결함. 보고 내용에는 빌드·기기·재현 단계가 없으므로, 재현 시도와 환경 기록부터 시작한다.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07 · QA — 테스트 케이스 설계 ① (설계안, 미수행)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자동 진행은 언제 풀려야 하는가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294436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결과 (가정)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 자동 사냥 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패드로 한 걸음 이동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유지, 또는 해제 시 화면에 표시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여부·UI 피드백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 자동 사냥 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점프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AUTO-01과 같은 정책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여부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사냥 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버튼 수동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유지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후 자동 재개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퀘스트 자동 진행 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퀘스트 완료·보상 수령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퀘스트로 이어짐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시점·재시작 횟수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백그라운드 → 복귀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자동 상태 복원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복원 여부·캐릭터 위치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AUTO-06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끊김 → 재접속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정책대로 복원 또는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상태·재화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4892040"/>
            <a:ext cx="5349240" cy="118872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86968" y="5029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전 확인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이동·점프에서 자동이 풀리는 것이 의도된 설계일 수 있다. 의도라면 결함이 아니라 ‘자동 유지 옵션’ 같은 UX 개선 제안으로 분리해 보고한다.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36208" y="4892040"/>
            <a:ext cx="5349240" cy="118872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510528" y="5029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배경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CBT에서 퀘스트 완료 시, 한 걸음·점프만 해도 자동이 풀린다는 지적이 있었다. 기대 결과는 기획서 값으로 바꿔 끼울 가정이다.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종류(이동·점프·스킬)와 상태 전환(완료·백그라운드·재접속)을 나눠, 해제 조건을 한 표로 확인하도록 설계했다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07 · QA — 테스트 케이스 설계 ② (설계안, 미수행)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재련 하락과 담금질의 경계값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365801"/>
              </p:ext>
            </p:extLst>
          </p:nvPr>
        </p:nvGraphicFramePr>
        <p:xfrm>
          <a:off x="609600" y="1408176"/>
          <a:ext cx="10972800" cy="334670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결과 (가정)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REF-01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담금질 없음, 하락 가능 구간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재련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하락, 재료 차감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단계·재료 전후값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REF-02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단계에 담금질 적용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재련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유지, 재료 차감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담금질 효과·소모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REF-03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하락 하한(“17단계 미만으로는 하락 없음”)과 비용 급증 구간(“20강 이후”)은 CBT 체험 기준이다. 실제 값은 기획 데이터로 교체한다.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바로 위에서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하한 아래로 내려가지 않음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±1 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REF-04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담금질 비용 증가 구간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경계 전후에서 담금질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테이블과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실링 차감액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REF-05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재련 확정 직후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종료 → 재접속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단계·재화와 화면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중복·누락 여부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A85A1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REF-06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실링 부족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담금질 시도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비활성 또는 부족 안내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차감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4892040"/>
            <a:ext cx="5349240" cy="118872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86968" y="5029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 설정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 하한(“17단계 미만으로는 하락 없음”)과 비용 급증 구간(“20강 이후”)은 CBT 체험 기준이다. 실제 값은 기획 데이터로 교체한다.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36208" y="4892040"/>
            <a:ext cx="5349240" cy="1188720"/>
          </a:xfrm>
          <a:prstGeom prst="rect">
            <a:avLst/>
          </a:prstGeom>
          <a:solidFill>
            <a:srgbClr val="E6E0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6510528" y="5029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기능인가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510528" y="53218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재화 손실이 직접 걸린 확률 기능이다. 확률형 아이템 정보 공개가 의무화된 환경이라, 표시와 실제 동작의 일치가 품질과 규제 양쪽의 문제가 된다.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F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경계값 분석(하한·비용 구간 ±1)과 상태 전환(확정 직후 재접속)을 함께 다뤘다 · 확률 자체의 분포 검증은 대량 시행 데이터가 필요해 별도 과제로 둔다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07 · QA — 버그 리포트 작성 예시 (공지 기반 재구성, 직접 재현 아님)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공지 한 줄을 리포트로 바꾸면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7315200" cy="4343400"/>
          </a:xfrm>
          <a:prstGeom prst="rect">
            <a:avLst/>
          </a:prstGeom>
          <a:solidFill>
            <a:srgbClr val="FBF9F4"/>
          </a:solidFill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41248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395728" y="192938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[카오스 던전] 재접속 후 진행 중이던 던전을 이어서 진행할 수 없음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41248" y="2258568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41248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빌드·환경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231343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빌드 (2025.11.13~15) · 플랫폼/기기 [확인 불가]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2642616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41248" y="2706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심각도·우선순위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95728" y="269748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Major / High (가정) — 진행 손실, 재입장 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41248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조건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395728" y="30815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카오스 던전에 입장해 진행 중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" y="3410712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41248" y="3474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단계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395728" y="3465576"/>
            <a:ext cx="5349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카오스 던전 진행 중 연결 끊김 또는 앱 종료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재접속  3) 던전 이어하기 시도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3977640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41248" y="4041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395728" y="403250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시점 상태로 복귀하거나, 정책에 따른 안내 표시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" y="4361688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41248" y="44256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결과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95728" y="441655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정상적으로 이어서 진행할 수 없음 (운영 공지 표현)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" y="4745736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41248" y="48097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재현율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395728" y="480060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 불가] 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" y="5129784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841248" y="5193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395728" y="51846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영상·클라이언트 로그 [필요]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1248" y="5513832"/>
            <a:ext cx="6858000" cy="0"/>
          </a:xfrm>
          <a:prstGeom prst="line">
            <a:avLst/>
          </a:prstGeom>
          <a:noFill/>
          <a:ln w="635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841248" y="55778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395728" y="556869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11.15 수정 공지 → 재시험(Verify) 대기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02168" y="1783080"/>
            <a:ext cx="3383280" cy="434340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845820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원칙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45820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915400" y="24048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공지에 없는 정보는 지어내지 않고 [확인 불가]로 남긴다.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3291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327355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결과는 기획서 근거로 쓰고, 없으면 ‘가정’으로 표시한다.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458200" y="4160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915400" y="41422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‘수정 공지’는 해결이 아니라 재시험 대상이다.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458200" y="5029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915400" y="501091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업무에서는 [확인 불가] 칸을 채우는 것이 재현 작업의 목표다.</a:t>
            </a:r>
            <a:endParaRPr lang="en-US" sz="11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08 · 개선 제안 — 모바일 신규 콘텐츠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새로 만든 콘텐츠를 살리려면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개선안 (제안)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카오스 브레이크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이동만으로는 자동 공격이 안 돼 제자리 사냥이 되고, 찾아갈 목표·변수가 없으며 보스는 5분씩 때려야 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중 자동 공격, 오브젝트·중간 보스 같은 이동 목표, 엘리트 출현 이벤트로 변수 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클리어 시간, 이동 거리, 재도전율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군단 던전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난이도를 보스가 아니라 잡몹 물량으로 올리고, 경직·넘어짐·속박이 겹쳐 스킬을 못 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상승을 보스 기믹 변주로 바꾸고, CC 누적 상한과 면역 시간 도입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단계별 실패 원인, CC 지속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운명의 궤도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보석이 랜덤이라 리롤을 반복하고, 교체 결과가 나은지 판단하기 어렵다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리롤 횟수 보정(천장), 교체 전후 능력치 비교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효과까지 리롤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가디언 토벌 경쟁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 간 딜 격차가 두 배 이상 벌어진다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직업별 보정 계수, 또는 직업별 랭킹 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직업별 기록 분포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08 · 개선 제안 — 원작에서 가져온 부분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PC에서 이미 고친 것은 되돌리지 않는다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개선안 (제안)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지표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트라이포드·스킬석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포인트로 열리지 않고, 스킬석 랜덤 획득·확률 강화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단계는 스킬 포인트로 확정 개방, 상위 단계만 확률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세팅까지 재화·시간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시 단계 하락, 원작의 ‘장인의 기운’ 같은 보정이 안 보인다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누적 보정(천장) 도입, 하락 구간 사전 안내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 횟수 분포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초반 스토리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루테란까지 원작과 거의 같고 잡몹이 단단해 4~5시간 걸린다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평행 세계·신규 인물 중심으로 재편, 원작 경험자용 건너뛰기, 잡몹 체력 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루테란 도달 시간, 이탈 지점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내실·기믹 연출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뷰포인트 스킬 포인트, ‘체력 1’ 기믹 연출 등 PC에서 고친 요소가 돌아왔다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스킬 포인트는 진행 보상으로, 기믹 연출은 단축·스킵 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완료율, 기믹 구간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진행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이동·점프·퀘스트 완료 때 자동이 풀린다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조건 명시, 자동 유지 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재시작 횟수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08 · 개선 제안 — 시스템·품질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문제점과 개선안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27432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재접속·계승·튕김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전환 회귀 + 기기별 장시간 안정성 세트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전후 데이터 일치, 튕김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확률형 성장 전반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단계별 확률 노출, 표시 확률과 실제 결과 일치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표시-실제 일치, 시행 로그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 판단 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‘다음 목표에 부족한 것’을 한 화면에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설명 성공률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재화·용어 혼선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재화 툴팁 역링크, 용어 일원화, 장신구 연구 필터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 왕복, 불일치 건수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안내 오답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질문에 근거 표시, 오답 제보 버튼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질문 정답률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E39A4A"/>
                </a:solidFill>
              </a:rPr>
              <a:t>09 · 시사점 — 시장 위치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CE7DC"/>
                </a:solidFill>
              </a:rPr>
              <a:t>같은 PC·모바일 동시 지원, 반대 방향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1097280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아이온2 (엔씨소프트)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39A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로스트아크 모바일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2025.11.19 한국·대만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미정 (CBT 2025.11)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PC·모바일 크로스플레이, PC 우선 개발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모바일(구글 플레이·앱스토어)·PC(스토브), 크로스플레이는 공식 언급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전투 방침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자동전투 없이 수동 조작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보조·자동·AI 용병 + 고난도는 수동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A9AEB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공개된 BM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멤버십·패스, 뽑기 배제 발표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CBT는 패스만 공개, 약 5만 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4434840"/>
            <a:ext cx="5349240" cy="1463040"/>
          </a:xfrm>
          <a:prstGeom prst="rect">
            <a:avLst/>
          </a:prstGeom>
          <a:solidFill>
            <a:srgbClr val="1F23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88696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아이온2는 ‘손으로 하는 재미’를 지켰고, 로아 모바일은 ‘손을 덜어주는 장치’로 원작 깊이를 모바일에 맞추려 한다.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36208" y="4434840"/>
            <a:ext cx="5349240" cy="1463040"/>
          </a:xfrm>
          <a:prstGeom prst="rect">
            <a:avLst/>
          </a:prstGeom>
          <a:solidFill>
            <a:srgbClr val="1F23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510528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과제는 ‘무엇을 남기고 무엇을 덜어낼지’라는 포지셔닝이다. 체험 후기에서도 ‘원작을 두고 모바일을 할 이유’가 공통 과제로 꼽혔다.</a:t>
            </a:r>
            <a:endParaRPr lang="en-US" sz="14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AEB8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09 · 시사점 — 결론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편의 기능은 어느 단계의 부담을 덜었는지로 평가한다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783080"/>
            <a:ext cx="10972800" cy="960120"/>
          </a:xfrm>
          <a:prstGeom prst="rect">
            <a:avLst/>
          </a:prstGeom>
          <a:solidFill>
            <a:srgbClr val="E39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86968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조작을 돕는 기능, 실패를 설명하는 기능, 목표를 안내하는 기능은 서로 다른 부담을 다룬다. 체험 후기의 호평과 혹평도 대체로 이 경계에서 갈렸다.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0175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30815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전환을 경험과 함께 본다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93208" y="304495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사망→재도전, 끊김→복귀, 자동→수동처럼 상태가 바뀌는 지점이 이용자 불만으로 직결된다. 화면 정상 동작과 함께 전후 데이터·상태가 이어지는지 확인한다.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3995928"/>
            <a:ext cx="1097280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12648" y="40416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410565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안내는 정답과 다음 행동을 함께 평가한다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406908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자연스러운지보다 현재 빌드 규칙과 맞는지, 이용자가 무엇을 바꿀지 이해했는지를 따로 기록한다. 체험 후기에서도 AI 기능 완성도가 호불호를 갈랐다.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" y="5020056"/>
            <a:ext cx="1097280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12648" y="506577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A85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512978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517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자료는 조건과 함께 읽는다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509320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점핑 확대·중간 패치에 더해, 체험자마다 PC 위주·랭킹 도전·전 콘텐츠 체험처럼 환경이 달랐다. 조건이 다르면 같은 경험으로 합치지 않는다.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" y="6044184"/>
            <a:ext cx="10972800" cy="0"/>
          </a:xfrm>
          <a:prstGeom prst="line">
            <a:avLst/>
          </a:prstGeom>
          <a:noFill/>
          <a:ln w="12700">
            <a:solidFill>
              <a:srgbClr val="C9C1B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12648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85A12"/>
                </a:solidFill>
              </a:rPr>
              <a:t>10 · 한계와 다음 검증 계획 — 수집 계획, 결과 아님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12648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171D"/>
                </a:solidFill>
              </a:rPr>
              <a:t>직접 플레이한다면 이것부터 잰다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783080"/>
          <a:ext cx="6400800" cy="35112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CE7D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기록할 지표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조작 설정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시간, 의도한 스킬 사용 성공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사망 후 재도전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이해, 같은 원인 재사망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콘텐츠 준비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설명, 완료 시간, 메뉴 왕복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콘텐츠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시간, 중단·복귀, 보상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진행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해제 횟수, 해제 직전 입력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안내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 일치, 잘못된 정보, 적용 가능성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17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접속·성장 회귀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A4F5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여부, 데이터 일치, 복구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1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783080"/>
            <a:ext cx="4315968" cy="2697480"/>
          </a:xfrm>
          <a:prstGeom prst="rect">
            <a:avLst/>
          </a:prstGeom>
          <a:solidFill>
            <a:srgbClr val="15171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 txBox="1"/>
          <p:nvPr/>
        </p:nvSpPr>
        <p:spPr>
          <a:xfrm>
            <a:off x="7543800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39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분석의 한계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3591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 CBT </a:t>
            </a:r>
            <a:r>
              <a:rPr lang="en-US" sz="11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</a:t>
            </a: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ko-KR" alt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짧았다</a:t>
            </a:r>
            <a:r>
              <a:rPr lang="en-US" altLang="ko-KR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543800" y="2779776"/>
            <a:ext cx="3749040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543800" y="28163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CBT 중 점핑 확대·패치로 체험 조건이 바뀌었다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3236976"/>
            <a:ext cx="3749040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7543800" y="327355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‘수정 공지’는 해결이 아니라 재시험 대상으로 다뤘다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3694176"/>
            <a:ext cx="3749040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7543800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보류: 정식 BM, 장기 성장 속도, 확률 수치, 기기별 발열·프레임, AI 정확도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12648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4F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기록 형식 · 빌드/환경 → 사전 조건 → 재현 단계 → 기대 결과 근거 → 실제 결과 → 영향 → 증거 → 재시험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28248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6F7A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583680" y="365760"/>
            <a:ext cx="50017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F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126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39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PORTFOLIO · GAME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3291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로스트아크 모바일 게임 분석서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12648" y="5074920"/>
            <a:ext cx="10972800" cy="0"/>
          </a:xfrm>
          <a:prstGeom prst="line">
            <a:avLst/>
          </a:prstGeom>
          <a:noFill/>
          <a:ln w="12700">
            <a:solidFill>
              <a:srgbClr val="3A3F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이경민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904487" y="5257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AE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904487" y="5532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 Mobile QA Analysis">
  <a:themeElements>
    <a:clrScheme name="LA Mobile QA Analysis">
      <a:dk1>
        <a:srgbClr val="15171D"/>
      </a:dk1>
      <a:lt1>
        <a:srgbClr val="FBF9F4"/>
      </a:lt1>
      <a:dk2>
        <a:srgbClr val="4A4F5A"/>
      </a:dk2>
      <a:lt2>
        <a:srgbClr val="F2EEE5"/>
      </a:lt2>
      <a:accent1>
        <a:srgbClr val="A85A12"/>
      </a:accent1>
      <a:accent2>
        <a:srgbClr val="E39A4A"/>
      </a:accent2>
      <a:accent3>
        <a:srgbClr val="1F232B"/>
      </a:accent3>
      <a:accent4>
        <a:srgbClr val="6A6F7A"/>
      </a:accent4>
      <a:accent5>
        <a:srgbClr val="C9C1B0"/>
      </a:accent5>
      <a:accent6>
        <a:srgbClr val="3A3F4A"/>
      </a:accent6>
      <a:hlink>
        <a:srgbClr val="A85A12"/>
      </a:hlink>
      <a:folHlink>
        <a:srgbClr val="6A6F7A"/>
      </a:folHlink>
    </a:clrScheme>
    <a:fontScheme name="LA Mobile QA Analysi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3744</Words>
  <Application>Microsoft Office PowerPoint</Application>
  <PresentationFormat>와이드스크린</PresentationFormat>
  <Paragraphs>704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Malgun Gothic</vt:lpstr>
      <vt:lpstr>Arial</vt:lpstr>
      <vt:lpstr>Consolas</vt:lpstr>
      <vt:lpstr>LA Mobile QA Analysis</vt:lpstr>
      <vt:lpstr>PowerPoint 프레젠테이션</vt:lpstr>
      <vt:lpstr>한 장 요약</vt:lpstr>
      <vt:lpstr>목차</vt:lpstr>
      <vt:lpstr>왜 로스트아크 모바일인가</vt:lpstr>
      <vt:lpstr>출시 전, CBT 한 번 이후</vt:lpstr>
      <vt:lpstr>PC 원작에서 무엇이 달라졌나</vt:lpstr>
      <vt:lpstr>모바일에서 새로 생긴 것과 반응</vt:lpstr>
      <vt:lpstr>싸우고, 키우고, 다시 도전한다</vt:lpstr>
      <vt:lpstr>손을 덜어주는 세 개의 층</vt:lpstr>
      <vt:lpstr>확정이 없는 축이 겹친다</vt:lpstr>
      <vt:lpstr>전투는 짧아졌고, 길은 길어졌다</vt:lpstr>
      <vt:lpstr>같은 곳을 칭찬하고, 같은 곳에서 멈췄다</vt:lpstr>
      <vt:lpstr>재미는 한곳에 몰렸다</vt:lpstr>
      <vt:lpstr>CBT 기준 판정</vt:lpstr>
      <vt:lpstr>같은 결정이 양쪽에 있다</vt:lpstr>
      <vt:lpstr>어디부터 테스트할 것인가</vt:lpstr>
      <vt:lpstr>보고된 현상을 테스트 관점으로 바꾸면</vt:lpstr>
      <vt:lpstr>자동 진행은 언제 풀려야 하는가</vt:lpstr>
      <vt:lpstr>재련 하락과 담금질의 경계값</vt:lpstr>
      <vt:lpstr>공지 한 줄을 리포트로 바꾸면</vt:lpstr>
      <vt:lpstr>새로 만든 콘텐츠를 살리려면</vt:lpstr>
      <vt:lpstr>PC에서 이미 고친 것은 되돌리지 않는다</vt:lpstr>
      <vt:lpstr>문제점과 개선안</vt:lpstr>
      <vt:lpstr>같은 PC·모바일 동시 지원, 반대 방향</vt:lpstr>
      <vt:lpstr>편의 기능은 어느 단계의 부담을 덜었는지로 평가한다</vt:lpstr>
      <vt:lpstr>직접 플레이한다면 이것부터 잰다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로스트아크 모바일 게임 분석서 — QA 관점</dc:title>
  <dc:subject>QA 포트폴리오</dc:subject>
  <dc:creator>이경민</dc:creator>
  <cp:lastModifiedBy>경민 이</cp:lastModifiedBy>
  <cp:revision>10</cp:revision>
  <dcterms:created xsi:type="dcterms:W3CDTF">2026-10-19T10:24:23Z</dcterms:created>
  <dcterms:modified xsi:type="dcterms:W3CDTF">2026-10-19T18:38:09Z</dcterms:modified>
</cp:coreProperties>
</file>