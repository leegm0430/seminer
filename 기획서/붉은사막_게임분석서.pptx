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75" r:id="rId4"/>
    <p:sldId id="259" r:id="rId5"/>
    <p:sldId id="264" r:id="rId6"/>
    <p:sldId id="276" r:id="rId7"/>
    <p:sldId id="262" r:id="rId8"/>
    <p:sldId id="263" r:id="rId9"/>
    <p:sldId id="277" r:id="rId10"/>
    <p:sldId id="265" r:id="rId11"/>
    <p:sldId id="278" r:id="rId12"/>
    <p:sldId id="268" r:id="rId13"/>
    <p:sldId id="260" r:id="rId14"/>
    <p:sldId id="295" r:id="rId15"/>
    <p:sldId id="279" r:id="rId16"/>
    <p:sldId id="269" r:id="rId17"/>
    <p:sldId id="261" r:id="rId18"/>
    <p:sldId id="283" r:id="rId19"/>
    <p:sldId id="267" r:id="rId20"/>
    <p:sldId id="296" r:id="rId21"/>
    <p:sldId id="280" r:id="rId22"/>
    <p:sldId id="285" r:id="rId23"/>
    <p:sldId id="287" r:id="rId24"/>
    <p:sldId id="273" r:id="rId25"/>
    <p:sldId id="297" r:id="rId26"/>
    <p:sldId id="281" r:id="rId27"/>
    <p:sldId id="284" r:id="rId28"/>
    <p:sldId id="286" r:id="rId29"/>
    <p:sldId id="288" r:id="rId30"/>
    <p:sldId id="282" r:id="rId31"/>
    <p:sldId id="271" r:id="rId32"/>
    <p:sldId id="266" r:id="rId33"/>
    <p:sldId id="294" r:id="rId34"/>
    <p:sldId id="290" r:id="rId35"/>
    <p:sldId id="293" r:id="rId36"/>
    <p:sldId id="274" r:id="rId37"/>
  </p:sldIdLst>
  <p:sldSz cx="18288000" cy="10287000"/>
  <p:notesSz cx="6858000" cy="9144000"/>
  <p:embeddedFontLst>
    <p:embeddedFont>
      <p:font typeface="Gothic A1 Thin" panose="020B0600000101010101" charset="-127"/>
      <p:regular r:id="rId39"/>
    </p:embeddedFont>
    <p:embeddedFont>
      <p:font typeface="Noto Sans CJK KR Regular" panose="020B0600000101010101" charset="-127"/>
      <p:regular r:id="rId40"/>
    </p:embeddedFont>
    <p:embeddedFont>
      <p:font typeface="THEJung110" panose="020B0600000101010101" charset="-127"/>
      <p:regular r:id="rId41"/>
    </p:embeddedFont>
    <p:embeddedFont>
      <p:font typeface="맑은 고딕" panose="020B0503020000020004" pitchFamily="50" charset="-127"/>
      <p:regular r:id="rId42"/>
      <p:bold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539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C08A3E"/>
            </a:solidFill>
          </c:spPr>
          <c:invertIfNegative val="1"/>
          <c:dPt>
            <c:idx val="2"/>
            <c:invertIfNegative val="1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E0CB-4532-BD4F-C3F1D77959C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chemeClr val="tx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Vice</c:v>
                </c:pt>
                <c:pt idx="1">
                  <c:v>PC Gamer</c:v>
                </c:pt>
                <c:pt idx="2">
                  <c:v>메타크리틱</c:v>
                </c:pt>
                <c:pt idx="3">
                  <c:v>GameSpot</c:v>
                </c:pt>
                <c:pt idx="4">
                  <c:v>유로게이머</c:v>
                </c:pt>
                <c:pt idx="5">
                  <c:v>IGN(잠정)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78</c:v>
                </c:pt>
                <c:pt idx="3">
                  <c:v>70</c:v>
                </c:pt>
                <c:pt idx="4">
                  <c:v>60</c:v>
                </c:pt>
                <c:pt idx="5">
                  <c:v>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0CB-4532-BD4F-C3F1D77959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t"/>
        <c:majorGridlines>
          <c:spPr>
            <a:ln>
              <a:solidFill>
                <a:schemeClr val="bg2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chemeClr val="tx2"/>
          </a:solidFill>
          <a:latin typeface="Noto Sans CJK KR Regula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전체 매출</c:v>
                </c:pt>
              </c:strCache>
            </c:strRef>
          </c:tx>
          <c:spPr>
            <a:solidFill>
              <a:srgbClr val="9E1B2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chemeClr val="tx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2026년 1분기</c:v>
                </c:pt>
                <c:pt idx="1">
                  <c:v>2026년 2분기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3285</c:v>
                </c:pt>
                <c:pt idx="1">
                  <c:v>1926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F84-40D3-8482-D02C351D16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붉은사막 매출</c:v>
                </c:pt>
              </c:strCache>
            </c:strRef>
          </c:tx>
          <c:spPr>
            <a:solidFill>
              <a:srgbClr val="C08A3E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chemeClr val="tx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2026년 1분기</c:v>
                </c:pt>
                <c:pt idx="1">
                  <c:v>2026년 2분기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2665</c:v>
                </c:pt>
                <c:pt idx="1">
                  <c:v>1361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F84-40D3-8482-D02C351D16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7A523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chemeClr val="tx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2026년 1분기</c:v>
                </c:pt>
                <c:pt idx="1">
                  <c:v>2026년 2분기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2121</c:v>
                </c:pt>
                <c:pt idx="1">
                  <c:v>676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F84-40D3-8482-D02C351D16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"/>
        </c:scaling>
        <c:delete val="0"/>
        <c:axPos val="l"/>
        <c:majorGridlines>
          <c:spPr>
            <a:ln>
              <a:solidFill>
                <a:schemeClr val="bg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500">
          <a:solidFill>
            <a:schemeClr val="tx2"/>
          </a:solidFill>
          <a:latin typeface="Noto Sans CJK KR Regula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numFmt formatCode="#,##0_);\(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chemeClr val="tx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2025년 4분기(출시 전)</c:v>
                </c:pt>
                <c:pt idx="1">
                  <c:v>2026년 1분기</c:v>
                </c:pt>
                <c:pt idx="2">
                  <c:v>2026년 2분기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955</c:v>
                </c:pt>
                <c:pt idx="1">
                  <c:v>3285</c:v>
                </c:pt>
                <c:pt idx="2">
                  <c:v>1926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4-4AA7-AB01-B37998ECA6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영업손익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numFmt formatCode="#,##0_);\(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chemeClr val="tx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2025년 4분기(출시 전)</c:v>
                </c:pt>
                <c:pt idx="1">
                  <c:v>2026년 1분기</c:v>
                </c:pt>
                <c:pt idx="2">
                  <c:v>2026년 2분기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-84</c:v>
                </c:pt>
                <c:pt idx="1">
                  <c:v>2121</c:v>
                </c:pt>
                <c:pt idx="2">
                  <c:v>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44-4AA7-AB01-B37998ECA6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00"/>
          <c:min val="-500"/>
        </c:scaling>
        <c:delete val="0"/>
        <c:axPos val="l"/>
        <c:majorGridlines>
          <c:spPr>
            <a:ln>
              <a:solidFill>
                <a:schemeClr val="bg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500">
          <a:solidFill>
            <a:schemeClr val="tx2"/>
          </a:solidFill>
          <a:latin typeface="Noto Sans CJK KR Regula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3E742-8B0A-4A19-80C6-AB5C87BE991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23689-B427-4372-BF39-0502EC8D8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938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23689-B427-4372-BF39-0502EC8D8A1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69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4.xml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slide" Target="slide9.xml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15.xml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2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slide" Target="slide26.xml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slide" Target="slide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svg"/><Relationship Id="rId10" Type="http://schemas.openxmlformats.org/officeDocument/2006/relationships/image" Target="../media/image28.sv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1.sv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6.png"/><Relationship Id="rId9" Type="http://schemas.openxmlformats.org/officeDocument/2006/relationships/image" Target="../media/image3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1.svg"/><Relationship Id="rId21" Type="http://schemas.openxmlformats.org/officeDocument/2006/relationships/image" Target="../media/image55.sv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17" Type="http://schemas.openxmlformats.org/officeDocument/2006/relationships/image" Target="../media/image51.svg"/><Relationship Id="rId25" Type="http://schemas.openxmlformats.org/officeDocument/2006/relationships/image" Target="../media/image59.svg"/><Relationship Id="rId2" Type="http://schemas.openxmlformats.org/officeDocument/2006/relationships/image" Target="../media/image20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24" Type="http://schemas.openxmlformats.org/officeDocument/2006/relationships/image" Target="../media/image58.png"/><Relationship Id="rId5" Type="http://schemas.openxmlformats.org/officeDocument/2006/relationships/image" Target="../media/image32.svg"/><Relationship Id="rId15" Type="http://schemas.openxmlformats.org/officeDocument/2006/relationships/image" Target="../media/image49.svg"/><Relationship Id="rId23" Type="http://schemas.openxmlformats.org/officeDocument/2006/relationships/image" Target="../media/image57.svg"/><Relationship Id="rId10" Type="http://schemas.openxmlformats.org/officeDocument/2006/relationships/image" Target="../media/image44.png"/><Relationship Id="rId19" Type="http://schemas.openxmlformats.org/officeDocument/2006/relationships/image" Target="../media/image53.svg"/><Relationship Id="rId4" Type="http://schemas.openxmlformats.org/officeDocument/2006/relationships/image" Target="../media/image6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20.png"/><Relationship Id="rId7" Type="http://schemas.openxmlformats.org/officeDocument/2006/relationships/image" Target="../media/image40.png"/><Relationship Id="rId12" Type="http://schemas.openxmlformats.org/officeDocument/2006/relationships/image" Target="../media/image6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65.jpg"/><Relationship Id="rId5" Type="http://schemas.openxmlformats.org/officeDocument/2006/relationships/image" Target="../media/image22.png"/><Relationship Id="rId10" Type="http://schemas.openxmlformats.org/officeDocument/2006/relationships/image" Target="../media/image64.jpg"/><Relationship Id="rId4" Type="http://schemas.openxmlformats.org/officeDocument/2006/relationships/image" Target="../media/image21.svg"/><Relationship Id="rId9" Type="http://schemas.openxmlformats.org/officeDocument/2006/relationships/image" Target="../media/image6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7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7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3.sv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g"/><Relationship Id="rId3" Type="http://schemas.openxmlformats.org/officeDocument/2006/relationships/image" Target="../media/image74.svg"/><Relationship Id="rId7" Type="http://schemas.openxmlformats.org/officeDocument/2006/relationships/image" Target="../media/image76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0.svg"/><Relationship Id="rId5" Type="http://schemas.openxmlformats.org/officeDocument/2006/relationships/image" Target="../media/image75.svg"/><Relationship Id="rId10" Type="http://schemas.openxmlformats.org/officeDocument/2006/relationships/image" Target="../media/image79.png"/><Relationship Id="rId4" Type="http://schemas.openxmlformats.org/officeDocument/2006/relationships/image" Target="../media/image67.png"/><Relationship Id="rId9" Type="http://schemas.openxmlformats.org/officeDocument/2006/relationships/image" Target="../media/image78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7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1.svg"/><Relationship Id="rId7" Type="http://schemas.openxmlformats.org/officeDocument/2006/relationships/image" Target="../media/image8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1.sv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6.png"/><Relationship Id="rId9" Type="http://schemas.openxmlformats.org/officeDocument/2006/relationships/image" Target="../media/image3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6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3.svg"/><Relationship Id="rId7" Type="http://schemas.openxmlformats.org/officeDocument/2006/relationships/image" Target="../media/image21.sv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85.svg"/><Relationship Id="rId5" Type="http://schemas.openxmlformats.org/officeDocument/2006/relationships/image" Target="../media/image32.svg"/><Relationship Id="rId10" Type="http://schemas.openxmlformats.org/officeDocument/2006/relationships/image" Target="../media/image84.png"/><Relationship Id="rId4" Type="http://schemas.openxmlformats.org/officeDocument/2006/relationships/image" Target="../media/image6.png"/><Relationship Id="rId9" Type="http://schemas.openxmlformats.org/officeDocument/2006/relationships/image" Target="../media/image2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jpg"/><Relationship Id="rId3" Type="http://schemas.openxmlformats.org/officeDocument/2006/relationships/image" Target="../media/image74.svg"/><Relationship Id="rId7" Type="http://schemas.openxmlformats.org/officeDocument/2006/relationships/image" Target="../media/image76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0.svg"/><Relationship Id="rId5" Type="http://schemas.openxmlformats.org/officeDocument/2006/relationships/image" Target="../media/image75.svg"/><Relationship Id="rId10" Type="http://schemas.openxmlformats.org/officeDocument/2006/relationships/image" Target="../media/image79.png"/><Relationship Id="rId4" Type="http://schemas.openxmlformats.org/officeDocument/2006/relationships/image" Target="../media/image67.png"/><Relationship Id="rId9" Type="http://schemas.openxmlformats.org/officeDocument/2006/relationships/image" Target="../media/image87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1.sv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6.png"/><Relationship Id="rId9" Type="http://schemas.openxmlformats.org/officeDocument/2006/relationships/image" Target="../media/image36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7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21.svg"/><Relationship Id="rId7" Type="http://schemas.openxmlformats.org/officeDocument/2006/relationships/image" Target="../media/image88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90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21.svg"/><Relationship Id="rId7" Type="http://schemas.openxmlformats.org/officeDocument/2006/relationships/image" Target="../media/image9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21.svg"/><Relationship Id="rId7" Type="http://schemas.openxmlformats.org/officeDocument/2006/relationships/image" Target="../media/image8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1.svg"/><Relationship Id="rId7" Type="http://schemas.openxmlformats.org/officeDocument/2006/relationships/image" Target="../media/image3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70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1.svg"/><Relationship Id="rId21" Type="http://schemas.openxmlformats.org/officeDocument/2006/relationships/image" Target="../media/image55.sv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17" Type="http://schemas.openxmlformats.org/officeDocument/2006/relationships/image" Target="../media/image51.svg"/><Relationship Id="rId25" Type="http://schemas.openxmlformats.org/officeDocument/2006/relationships/image" Target="../media/image59.svg"/><Relationship Id="rId2" Type="http://schemas.openxmlformats.org/officeDocument/2006/relationships/image" Target="../media/image20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24" Type="http://schemas.openxmlformats.org/officeDocument/2006/relationships/image" Target="../media/image58.png"/><Relationship Id="rId5" Type="http://schemas.openxmlformats.org/officeDocument/2006/relationships/image" Target="../media/image32.svg"/><Relationship Id="rId15" Type="http://schemas.openxmlformats.org/officeDocument/2006/relationships/image" Target="../media/image49.svg"/><Relationship Id="rId23" Type="http://schemas.openxmlformats.org/officeDocument/2006/relationships/image" Target="../media/image57.svg"/><Relationship Id="rId10" Type="http://schemas.openxmlformats.org/officeDocument/2006/relationships/image" Target="../media/image44.png"/><Relationship Id="rId19" Type="http://schemas.openxmlformats.org/officeDocument/2006/relationships/image" Target="../media/image53.svg"/><Relationship Id="rId4" Type="http://schemas.openxmlformats.org/officeDocument/2006/relationships/image" Target="../media/image6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685800"/>
            <a:ext cx="16002000" cy="990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7086600"/>
            <a:ext cx="18288000" cy="3200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24000" y="990600"/>
            <a:ext cx="8229600" cy="533400"/>
          </a:xfrm>
          <a:prstGeom prst="rect">
            <a:avLst/>
          </a:prstGeom>
        </p:spPr>
        <p:txBody>
          <a:bodyPr lIns="0" tIns="476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2883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CRIMSON DESERT  ·  PEARL ABYSS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54200" y="1219200"/>
            <a:ext cx="2209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2026. 10. 14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87600" y="8839200"/>
            <a:ext cx="16764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4499"/>
              </a:lnSpc>
            </a:pPr>
            <a:r>
              <a:rPr lang="en-US" sz="2091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작성</a:t>
            </a:r>
          </a:p>
          <a:p>
            <a:pPr lvl="0" algn="r">
              <a:lnSpc>
                <a:spcPct val="124499"/>
              </a:lnSpc>
            </a:pPr>
            <a:r>
              <a:rPr lang="en-US" sz="2091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이경민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73200" y="8382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GAME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2209800"/>
            <a:ext cx="8763000" cy="4724400"/>
          </a:xfrm>
          <a:prstGeom prst="rect">
            <a:avLst/>
          </a:prstGeom>
        </p:spPr>
        <p:txBody>
          <a:bodyPr lIns="0" tIns="11840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12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붉은사막</a:t>
            </a:r>
          </a:p>
          <a:p>
            <a:pPr lvl="0" algn="l">
              <a:lnSpc>
                <a:spcPct val="94619"/>
              </a:lnSpc>
            </a:pPr>
            <a:r>
              <a:rPr lang="en-US" sz="54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게임분석서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7620000"/>
            <a:ext cx="128016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7740"/>
              </a:lnSpc>
            </a:pPr>
            <a:r>
              <a:rPr lang="en-US" sz="2821" b="0" i="0" u="none" strike="noStrike" spc="-1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펄어비스 오픈월드 액션 어드벤처 「붉은사막」 – 구조 · 경험 · 성과 분석</a:t>
            </a:r>
          </a:p>
        </p:txBody>
      </p:sp>
      <p:pic>
        <p:nvPicPr>
          <p:cNvPr id="10" name="Picture 9" descr="cov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200" y="1905000"/>
            <a:ext cx="7696200" cy="5105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3771900" y="3581400"/>
            <a:ext cx="10287000" cy="3124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162800" y="6324600"/>
            <a:ext cx="63246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6172200"/>
            <a:ext cx="12801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1219200"/>
            <a:ext cx="2362200" cy="129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1295400"/>
            <a:ext cx="1828800" cy="1143000"/>
          </a:xfrm>
          <a:prstGeom prst="rect">
            <a:avLst/>
          </a:prstGeom>
        </p:spPr>
        <p:txBody>
          <a:bodyPr lIns="0" tIns="10387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6291" b="0" i="0" u="none" strike="noStrike" spc="-1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목차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44800" y="1676400"/>
            <a:ext cx="1524000" cy="381000"/>
          </a:xfrm>
          <a:prstGeom prst="rect">
            <a:avLst/>
          </a:prstGeom>
        </p:spPr>
        <p:txBody>
          <a:bodyPr lIns="0" tIns="32373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6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0" y="3505200"/>
            <a:ext cx="50292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2" action="ppaction://hlinksldjump"/>
              </a:rPr>
              <a:t>게임 소개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01400" y="3505200"/>
            <a:ext cx="9144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2" action="ppaction://hlinksldjump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1600" y="3505200"/>
            <a:ext cx="51816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3" action="ppaction://hlinksldjump"/>
              </a:rPr>
              <a:t>개요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7200" y="3505200"/>
            <a:ext cx="9144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3" action="ppaction://hlinksldjump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0" y="7162800"/>
            <a:ext cx="50292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4" action="ppaction://hlinksldjump"/>
              </a:rPr>
              <a:t>게임 진행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1400" y="7162800"/>
            <a:ext cx="11430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4" action="ppaction://hlinksldjump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81600" y="7162800"/>
            <a:ext cx="51816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5" action="ppaction://hlinksldjump"/>
              </a:rPr>
              <a:t>게임 특징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91000" y="7162800"/>
            <a:ext cx="9144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5" action="ppaction://hlinksldjump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7840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86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3771900" y="3581400"/>
            <a:ext cx="10287000" cy="3124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162800" y="6324600"/>
            <a:ext cx="63246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6172200"/>
            <a:ext cx="12801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1219200"/>
            <a:ext cx="2362200" cy="129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1295400"/>
            <a:ext cx="1828800" cy="1143000"/>
          </a:xfrm>
          <a:prstGeom prst="rect">
            <a:avLst/>
          </a:prstGeom>
        </p:spPr>
        <p:txBody>
          <a:bodyPr lIns="0" tIns="10387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6291" b="0" i="0" u="none" strike="noStrike" spc="-1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목차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44800" y="1676400"/>
            <a:ext cx="1524000" cy="381000"/>
          </a:xfrm>
          <a:prstGeom prst="rect">
            <a:avLst/>
          </a:prstGeom>
        </p:spPr>
        <p:txBody>
          <a:bodyPr lIns="0" tIns="32373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6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0" y="3505200"/>
            <a:ext cx="50292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2" action="ppaction://hlinksldjump"/>
              </a:rPr>
              <a:t>시사점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01400" y="3505200"/>
            <a:ext cx="9144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2" action="ppaction://hlinksldjump"/>
              </a:rPr>
              <a:t>06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1600" y="3505200"/>
            <a:ext cx="51816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3" action="ppaction://hlinksldjump"/>
              </a:rPr>
              <a:t>게임 분석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7200" y="3505200"/>
            <a:ext cx="9144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3" action="ppaction://hlinksldjump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0" y="7162800"/>
            <a:ext cx="50292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4" action="ppaction://hlinksldjump"/>
              </a:rPr>
              <a:t>총평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1400" y="7162800"/>
            <a:ext cx="11430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4" action="ppaction://hlinksldjump"/>
              </a:rPr>
              <a:t>08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81600" y="7162800"/>
            <a:ext cx="51816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  <a:hlinkClick r:id="rId15" action="ppaction://hlinksldjump"/>
              </a:rPr>
              <a:t>게임 시장 동향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91000" y="7162800"/>
            <a:ext cx="914400" cy="762000"/>
          </a:xfrm>
          <a:prstGeom prst="rect">
            <a:avLst/>
          </a:prstGeom>
        </p:spPr>
        <p:txBody>
          <a:bodyPr lIns="0" tIns="7131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319" b="0" i="0" u="none" strike="noStrike" spc="-100">
                <a:solidFill>
                  <a:schemeClr val="tx2"/>
                </a:solidFill>
                <a:latin typeface="Gothic A1 Thin"/>
                <a:ea typeface="Gothic A1 Thin"/>
                <a:cs typeface="Gothic A1 Thin"/>
                <a:hlinkClick r:id="rId15" action="ppaction://hlinksldjump"/>
              </a:rPr>
              <a:t>07</a:t>
            </a:r>
          </a:p>
        </p:txBody>
      </p:sp>
      <p:sp>
        <p:nvSpPr>
          <p:cNvPr id="21" name="TextBox 21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7840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86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0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개요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게임 선정 이유와 분석 범위·방법</a:t>
            </a:r>
          </a:p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왜 붉은사막인가, 무엇을 어떻게 분석했는가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553200"/>
          </a:xfrm>
          <a:prstGeom prst="rect">
            <a:avLst/>
          </a:prstGeom>
        </p:spPr>
      </p:pic>
      <p:pic>
        <p:nvPicPr>
          <p:cNvPr id="15" name="Picture 14" descr="s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" y="3352800"/>
            <a:ext cx="5562600" cy="556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8400" y="5181600"/>
            <a:ext cx="68580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-5400000">
            <a:off x="6172200" y="6096000"/>
            <a:ext cx="5257800" cy="38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0600" y="12192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평단 78점, 판매 600만 장의 간극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01 개요  ·  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01200" y="3581400"/>
            <a:ext cx="1524000" cy="1295400"/>
          </a:xfrm>
          <a:prstGeom prst="rect">
            <a:avLst/>
          </a:prstGeom>
        </p:spPr>
        <p:txBody>
          <a:bodyPr lIns="0" tIns="177794" rIns="0" bIns="177794" rtlCol="0" anchor="ctr"/>
          <a:lstStyle/>
          <a:p>
            <a:pPr lvl="0" algn="ctr">
              <a:lnSpc>
                <a:spcPct val="83000"/>
              </a:lnSpc>
            </a:pPr>
            <a:r>
              <a:rPr lang="en-US" sz="6998" b="0" i="0" u="none" strike="noStrike" cap="all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01200" y="5486400"/>
            <a:ext cx="1524000" cy="1295400"/>
          </a:xfrm>
          <a:prstGeom prst="rect">
            <a:avLst/>
          </a:prstGeom>
        </p:spPr>
        <p:txBody>
          <a:bodyPr lIns="0" tIns="177794" rIns="0" bIns="177794" rtlCol="0" anchor="ctr"/>
          <a:lstStyle/>
          <a:p>
            <a:pPr lvl="0" algn="ctr">
              <a:lnSpc>
                <a:spcPct val="83000"/>
              </a:lnSpc>
            </a:pPr>
            <a:r>
              <a:rPr lang="en-US" sz="6998" b="0" i="0" u="none" strike="noStrike" cap="all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7600" y="3505200"/>
            <a:ext cx="5486400" cy="1524000"/>
          </a:xfrm>
          <a:prstGeom prst="rect">
            <a:avLst/>
          </a:prstGeom>
        </p:spPr>
        <p:txBody>
          <a:bodyPr lIns="0" tIns="12702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[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선정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이유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]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83일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만에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600만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장이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팔린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한국산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싱글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오픈월드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게임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.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평단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점수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(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메타크리틱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78)와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흥행의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간극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,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직후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혹평을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연속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패치로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반등시킨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개선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이력이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분석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소재로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적합</a:t>
            </a:r>
            <a:endParaRPr lang="en-US" sz="2000" b="0" i="0" u="none" strike="noStrike" cap="all" spc="-100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277600" y="5486400"/>
            <a:ext cx="5486400" cy="3048000"/>
          </a:xfrm>
          <a:prstGeom prst="rect">
            <a:avLst/>
          </a:prstGeom>
        </p:spPr>
        <p:txBody>
          <a:bodyPr lIns="0" tIns="12702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[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분석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범위·방법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]</a:t>
            </a:r>
          </a:p>
          <a:p>
            <a:pPr lvl="0" algn="l">
              <a:lnSpc>
                <a:spcPct val="107899"/>
              </a:lnSpc>
            </a:pP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대상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붉은사막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본편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+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인핸스드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업데이트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(2026.10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기준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)</a:t>
            </a:r>
          </a:p>
          <a:p>
            <a:pPr lvl="0" algn="l">
              <a:lnSpc>
                <a:spcPct val="107899"/>
              </a:lnSpc>
            </a:pP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자료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공식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발표·실적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공시·리뷰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매체·패치노트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교차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확인</a:t>
            </a:r>
            <a:endParaRPr lang="en-US" sz="2000" b="0" i="0" u="none" strike="noStrike" cap="all" spc="-100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107899"/>
              </a:lnSpc>
            </a:pP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구성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구조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→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경험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→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결과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→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장단점</a:t>
            </a:r>
            <a:r>
              <a:rPr lang="en-US" sz="20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→ </a:t>
            </a:r>
            <a:r>
              <a:rPr lang="en-US" sz="20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개선점</a:t>
            </a:r>
            <a:endParaRPr lang="en-US" sz="2000" b="0" i="0" u="none" strike="noStrike" cap="all" spc="-100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0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게임 소개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게임 기본 정보, 개발사, 세계관</a:t>
            </a:r>
          </a:p>
          <a:p>
            <a:pPr lvl="0" algn="l">
              <a:lnSpc>
                <a:spcPct val="125329"/>
              </a:lnSpc>
            </a:pPr>
            <a:endParaRPr lang="en-US" sz="2074" b="0" i="0" u="none" strike="noStrike" spc="-100" dirty="0">
              <a:solidFill>
                <a:schemeClr val="bg1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0" y="2971800"/>
            <a:ext cx="5486400" cy="632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2971800"/>
            <a:ext cx="5486400" cy="632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0" y="2971800"/>
            <a:ext cx="5486400" cy="632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685800" y="4953000"/>
            <a:ext cx="54102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6477000" y="4953000"/>
            <a:ext cx="54102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-10800000">
            <a:off x="12192000" y="4953000"/>
            <a:ext cx="5410200" cy="3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90600" y="1219200"/>
            <a:ext cx="137160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1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자체 엔진으로 만든 싱글 오픈월드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1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02 게임 소개  ·  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2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게임 정보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2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5715000"/>
            <a:ext cx="40386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장르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</a:t>
            </a: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오픈월드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액션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어드벤처</a:t>
            </a:r>
            <a:endParaRPr lang="en-US" sz="1900" b="1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2026.3.20 (</a:t>
            </a: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한국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시간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)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엔진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 </a:t>
            </a: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블랙스페이스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엔진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(</a:t>
            </a:r>
            <a:r>
              <a:rPr lang="ko-KR" alt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자사 엔진</a:t>
            </a:r>
            <a:r>
              <a:rPr lang="en-US" altLang="ko-KR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)</a:t>
            </a:r>
            <a:endParaRPr lang="en-US" sz="1900" b="1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플랫폼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PS5·Xbox·PC·Mac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가격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69.99달러 / 79,800원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등급</a:t>
            </a:r>
            <a:r>
              <a:rPr lang="en-US" sz="1900" b="1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: ESRB M(17+)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294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개발사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104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Pearl Abyss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0" y="5715000"/>
            <a:ext cx="40386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2010년 설립, 대표작 '검은사막'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자체 개발 · 자체 퍼블리싱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상반기 매출 5,211억 원 중 붉은사막 77.3%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차기작 '도깨비' 2028 하반기 목표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206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세계관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254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파이웰 대륙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54000" y="5715000"/>
            <a:ext cx="39624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주인공: 회색갈기 용병단의 클리프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숙적 '검은곰'의 기습으로 단원들이 흩어짐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생존자를 모아 용병단을 재건하는 여정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플레이어블: 클리프·데미안·웅카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3810000" y="6096000"/>
            <a:ext cx="4953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0" y="4114800"/>
            <a:ext cx="8534400" cy="525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-8632049">
            <a:off x="10439400" y="5486400"/>
            <a:ext cx="12192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258800" y="8077200"/>
            <a:ext cx="3429000" cy="83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335000" y="7696200"/>
            <a:ext cx="914400" cy="457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20000" y="4876800"/>
            <a:ext cx="2743200" cy="838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96400" y="4572000"/>
            <a:ext cx="990600" cy="457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-2632601">
            <a:off x="14478000" y="4114800"/>
            <a:ext cx="685800" cy="7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058400" y="8458200"/>
            <a:ext cx="2819400" cy="76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5316200" y="3810000"/>
            <a:ext cx="1905000" cy="152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392400" y="3429000"/>
            <a:ext cx="990600" cy="457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90600" y="1219200"/>
            <a:ext cx="143256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MMO로 공개, 7년 뒤 싱글로 출시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63600" y="7772400"/>
            <a:ext cx="609600" cy="304800"/>
          </a:xfrm>
          <a:prstGeom prst="rect">
            <a:avLst/>
          </a:prstGeom>
        </p:spPr>
        <p:txBody>
          <a:bodyPr lIns="0" tIns="228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초기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02 게임 소개  ·  08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0200" y="4114800"/>
            <a:ext cx="4724400" cy="533400"/>
          </a:xfrm>
          <a:prstGeom prst="rect">
            <a:avLst/>
          </a:prstGeom>
        </p:spPr>
        <p:txBody>
          <a:bodyPr lIns="0" tIns="49530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3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개발 기간 약 7년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8800" y="8229600"/>
            <a:ext cx="3505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3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2019.11 지스타 2019 첫 공개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0200" y="5181600"/>
            <a:ext cx="47244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b="0" i="0" u="none" strike="noStrike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2019년 첫 </a:t>
            </a:r>
            <a:r>
              <a:rPr lang="en-US" b="0" i="0" u="none" strike="noStrike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공개</a:t>
            </a:r>
            <a:r>
              <a:rPr lang="en-US" b="0" i="0" u="none" strike="noStrike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→ 2026년 </a:t>
            </a:r>
            <a:r>
              <a:rPr lang="en-US" b="0" i="0" u="none" strike="noStrike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글로벌</a:t>
            </a:r>
            <a:r>
              <a:rPr lang="en-US" b="0" i="0" u="none" strike="noStrike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</a:t>
            </a:r>
            <a:endParaRPr lang="en-US" b="0" i="0" u="none" strike="noStrike" spc="-100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600200" y="6019800"/>
            <a:ext cx="4495800" cy="289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2019.11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지스타에서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MMORPG로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첫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공개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(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검은사막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프리퀄로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기획했다가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독자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세계관으로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발전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)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2020.12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TGA에서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싱글플레이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중심으로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재공개</a:t>
            </a:r>
            <a:endParaRPr lang="en-US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2021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연기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→ 2025.09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출시일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발표</a:t>
            </a:r>
            <a:endParaRPr lang="en-US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개발비는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비공개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(1,500억~2,000억 원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규모로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보도</a:t>
            </a:r>
            <a:r>
              <a:rPr lang="en-US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2600" y="4572000"/>
            <a:ext cx="762000" cy="304800"/>
          </a:xfrm>
          <a:prstGeom prst="rect">
            <a:avLst/>
          </a:prstGeom>
        </p:spPr>
        <p:txBody>
          <a:bodyPr lIns="0" tIns="228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중기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0000" y="5105400"/>
            <a:ext cx="25908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8689"/>
              </a:lnSpc>
            </a:pPr>
            <a:r>
              <a:rPr lang="en-US" sz="13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2021 출시 연기</a:t>
            </a:r>
          </a:p>
          <a:p>
            <a:pPr lvl="0" algn="r">
              <a:lnSpc>
                <a:spcPct val="118689"/>
              </a:lnSpc>
            </a:pPr>
            <a:r>
              <a:rPr lang="en-US" sz="13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2025.03 GDC 엔진 시연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621000" y="3505200"/>
            <a:ext cx="685800" cy="304800"/>
          </a:xfrm>
          <a:prstGeom prst="rect">
            <a:avLst/>
          </a:prstGeom>
        </p:spPr>
        <p:txBody>
          <a:bodyPr lIns="0" tIns="228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후기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468600" y="4038600"/>
            <a:ext cx="1828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4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2026.3.20</a:t>
            </a:r>
          </a:p>
          <a:p>
            <a:pPr lvl="0" algn="l">
              <a:lnSpc>
                <a:spcPct val="118689"/>
              </a:lnSpc>
            </a:pPr>
            <a:r>
              <a:rPr lang="en-US" sz="14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글로벌 동시 출시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1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게임 특징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붉은사막을</a:t>
            </a:r>
            <a:r>
              <a:rPr lang="en-US" sz="2074" b="0" i="0" u="none" strike="noStrike" spc="-100" dirty="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대표하는</a:t>
            </a:r>
            <a:r>
              <a:rPr lang="en-US" sz="2074" b="0" i="0" u="none" strike="noStrike" spc="-100" dirty="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 네 </a:t>
            </a: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가지</a:t>
            </a:r>
            <a:r>
              <a:rPr lang="en-US" sz="2074" b="0" i="0" u="none" strike="noStrike" spc="-100" dirty="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특징</a:t>
            </a:r>
            <a:endParaRPr lang="en-US" sz="2074" b="0" i="0" u="none" strike="noStrike" spc="-100" dirty="0">
              <a:solidFill>
                <a:schemeClr val="bg1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pic>
        <p:nvPicPr>
          <p:cNvPr id="19" name="Picture 18" descr="f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3429000"/>
            <a:ext cx="2438400" cy="2438400"/>
          </a:xfrm>
          <a:prstGeom prst="rect">
            <a:avLst/>
          </a:prstGeom>
        </p:spPr>
      </p:pic>
      <p:pic>
        <p:nvPicPr>
          <p:cNvPr id="21" name="Picture 20" descr="f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6400800"/>
            <a:ext cx="2438400" cy="2438400"/>
          </a:xfrm>
          <a:prstGeom prst="rect">
            <a:avLst/>
          </a:prstGeom>
        </p:spPr>
      </p:pic>
      <p:pic>
        <p:nvPicPr>
          <p:cNvPr id="20" name="Picture 19" descr="f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0" y="3429000"/>
            <a:ext cx="2438400" cy="2438400"/>
          </a:xfrm>
          <a:prstGeom prst="rect">
            <a:avLst/>
          </a:prstGeom>
        </p:spPr>
      </p:pic>
      <p:pic>
        <p:nvPicPr>
          <p:cNvPr id="22" name="Picture 21" descr="f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6400800"/>
            <a:ext cx="2438400" cy="2438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0600" y="12192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엔진 · 월드 · 전투 · 성장, 네 개의 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03 게임 특징  ·  10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0" y="4419600"/>
            <a:ext cx="41148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ko-KR" altLang="en-US" sz="1600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상용 엔진 대신 직접 개발한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블랙스페이스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엔진으로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바람에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반응하는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천·머리카락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,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파괴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가능한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환경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,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실시간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물리를</a:t>
            </a:r>
            <a:r>
              <a:rPr lang="en-US" sz="1600" b="0" i="0" u="none" strike="noStrike" cap="all" spc="-100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cap="all" spc="-100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구현</a:t>
            </a:r>
            <a:endParaRPr lang="en-US" sz="1600" b="0" i="0" u="none" strike="noStrike" cap="all" spc="-100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72000" y="38100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1. </a:t>
            </a:r>
            <a:r>
              <a:rPr lang="en-US" sz="3000" b="0" i="0" u="none" strike="noStrike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자체</a:t>
            </a:r>
            <a:r>
              <a:rPr lang="en-US" sz="3000" b="0" i="0" u="none" strike="noStrike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 </a:t>
            </a:r>
            <a:r>
              <a:rPr lang="en-US" sz="3000" b="0" i="0" u="none" strike="noStrike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엔진</a:t>
            </a:r>
            <a:r>
              <a:rPr lang="en-US" sz="3000" b="0" i="0" u="none" strike="noStrike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 </a:t>
            </a:r>
            <a:r>
              <a:rPr lang="en-US" sz="3000" b="0" i="0" u="none" strike="noStrike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그래픽</a:t>
            </a:r>
            <a:endParaRPr lang="en-US" sz="3000" b="0" i="0" u="none" strike="noStrike" dirty="0">
              <a:solidFill>
                <a:schemeClr val="tx2"/>
              </a:solidFill>
              <a:latin typeface="THEJung110"/>
              <a:ea typeface="THEJung110"/>
              <a:cs typeface="THEJung11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20600" y="4381500"/>
            <a:ext cx="41148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cap="all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숲·중세 도시·설산·사막을 로딩 없이 이동하며, 등반·활공으로 자유롭게 탐험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20600" y="37719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2. </a:t>
            </a:r>
            <a:r>
              <a:rPr lang="en-US" sz="3000" b="0" i="0" u="none" strike="noStrike" spc="-100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심리스</a:t>
            </a:r>
            <a:r>
              <a:rPr lang="en-US" sz="3000" b="0" i="0" u="none" strike="noStrike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 </a:t>
            </a:r>
            <a:r>
              <a:rPr lang="en-US" sz="3000" b="0" i="0" u="none" strike="noStrike" spc="-100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오픈월드</a:t>
            </a:r>
            <a:endParaRPr lang="en-US" sz="3000" b="0" i="0" u="none" strike="noStrike" spc="-100" dirty="0">
              <a:solidFill>
                <a:schemeClr val="tx2"/>
              </a:solidFill>
              <a:latin typeface="THEJung110"/>
              <a:ea typeface="THEJung110"/>
              <a:cs typeface="THEJung11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72000" y="7467600"/>
            <a:ext cx="41148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cap="all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검·도끼·창·원거리 무기에 발차기·잡기를 섞은 콤보 전투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2000" y="67818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3. </a:t>
            </a:r>
            <a:r>
              <a:rPr lang="en-US" sz="3000" b="0" i="0" u="none" strike="noStrike" spc="-100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무기</a:t>
            </a:r>
            <a:r>
              <a:rPr lang="en-US" sz="3000" b="0" i="0" u="none" strike="noStrike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 + </a:t>
            </a:r>
            <a:r>
              <a:rPr lang="en-US" sz="3000" b="0" i="0" u="none" strike="noStrike" spc="-100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체술</a:t>
            </a:r>
            <a:r>
              <a:rPr lang="en-US" sz="3000" b="0" i="0" u="none" strike="noStrike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 </a:t>
            </a:r>
            <a:r>
              <a:rPr lang="en-US" sz="3000" b="0" i="0" u="none" strike="noStrike" spc="-100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전투</a:t>
            </a:r>
            <a:endParaRPr lang="en-US" sz="3000" b="0" i="0" u="none" strike="noStrike" spc="-100" dirty="0">
              <a:solidFill>
                <a:schemeClr val="tx2"/>
              </a:solidFill>
              <a:latin typeface="THEJung110"/>
              <a:ea typeface="THEJung110"/>
              <a:cs typeface="THEJung11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420600" y="7429500"/>
            <a:ext cx="41148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cap="all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하늘섬 '어비스' 40곳에서 얻는 유물로 스킬을 성장시키고, 보스 처치로 캐릭터가 성장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20600" y="67437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4. </a:t>
            </a:r>
            <a:r>
              <a:rPr lang="en-US" sz="3000" b="0" i="0" u="none" strike="noStrike" spc="-100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탐험형</a:t>
            </a:r>
            <a:r>
              <a:rPr lang="en-US" sz="3000" b="0" i="0" u="none" strike="noStrike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 </a:t>
            </a:r>
            <a:r>
              <a:rPr lang="en-US" sz="3000" b="0" i="0" u="none" strike="noStrike" spc="-100" dirty="0" err="1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성장</a:t>
            </a:r>
            <a:endParaRPr lang="en-US" sz="3000" b="0" i="0" u="none" strike="noStrike" spc="-100" dirty="0">
              <a:solidFill>
                <a:schemeClr val="tx2"/>
              </a:solidFill>
              <a:latin typeface="THEJung110"/>
              <a:ea typeface="THEJung110"/>
              <a:cs typeface="THEJung11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0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게임 진행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메인</a:t>
            </a:r>
            <a:r>
              <a:rPr lang="en-US" sz="2074" b="0" i="0" u="none" strike="noStrike" spc="-100" dirty="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스토리</a:t>
            </a:r>
            <a:r>
              <a:rPr lang="en-US" sz="2074" b="0" i="0" u="none" strike="noStrike" spc="-100" dirty="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 14파트의 </a:t>
            </a: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진행</a:t>
            </a:r>
            <a:r>
              <a:rPr lang="en-US" sz="2074" b="0" i="0" u="none" strike="noStrike" spc="-100" dirty="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구조</a:t>
            </a:r>
            <a:endParaRPr lang="en-US" sz="2074" b="0" i="0" u="none" strike="noStrike" spc="-100" dirty="0">
              <a:solidFill>
                <a:schemeClr val="bg1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990600" y="4800600"/>
            <a:ext cx="163068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19200"/>
            <a:ext cx="137160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프롤로그부터 엔딩 이후까지 14파트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04 게임 진행  · 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프롤로그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26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1~12장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12장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684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엔딩 이후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40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숙적 검은곰의 야간 기습으로 단원들이 죽거나 흩어지고 클리프의 여정이 시작됨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6019800"/>
            <a:ext cx="34290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회색갈기 습격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50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흩어진 단원을 찾아 대륙을 누비며 용병단을 재건. 7장의 무대는 페일룬 연합국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15000" y="6019800"/>
            <a:ext cx="33528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용병단 재건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98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가짜 보스를 지나 최종 보스 움브라와 결전. 이후 에필로그로 본편 마무리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06000" y="6019800"/>
            <a:ext cx="33528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최종 보스 움브라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208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메인 스토리와 어비스 40곳을 모두 클리어하면 '대서고의 기억'이 해금됨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20800" y="6019800"/>
            <a:ext cx="3581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대서고의 기억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6705600" y="6096000"/>
            <a:ext cx="48768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954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느린 초반과 서사 공백, 인핸스드로 보강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04 게임 진행  ·  13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1200" y="4572000"/>
            <a:ext cx="4495800" cy="609600"/>
          </a:xfrm>
          <a:prstGeom prst="rect">
            <a:avLst/>
          </a:prstGeom>
        </p:spPr>
        <p:txBody>
          <a:bodyPr lIns="0" tIns="57789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35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서사 공백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1200" y="4267200"/>
            <a:ext cx="3276600" cy="304800"/>
          </a:xfrm>
          <a:prstGeom prst="rect">
            <a:avLst/>
          </a:prstGeom>
        </p:spPr>
        <p:txBody>
          <a:bodyPr lIns="0" tIns="4318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7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 초기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1200" y="5562600"/>
            <a:ext cx="6324600" cy="266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ko-KR" altLang="en-US" b="1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초반 전개  </a:t>
            </a:r>
            <a:r>
              <a:rPr lang="ko-KR" altLang="en-US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1~2장의 느린 전개</a:t>
            </a:r>
            <a:endParaRPr lang="en-US" sz="1800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ko-KR" altLang="en-US" b="1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9장  </a:t>
            </a:r>
            <a:r>
              <a:rPr lang="ko-KR" altLang="en-US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주요 NPC가 설명 없이 등장</a:t>
            </a:r>
            <a:endParaRPr lang="en-US" sz="1800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ko-KR" altLang="en-US" b="1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9장  </a:t>
            </a:r>
            <a:r>
              <a:rPr lang="ko-KR" altLang="en-US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인내심을 시험하는 일부 퀘스트 구조</a:t>
            </a:r>
            <a:endParaRPr lang="en-US" sz="1800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ko-KR" altLang="en-US" b="1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단원  </a:t>
            </a:r>
            <a:r>
              <a:rPr lang="ko-KR" altLang="en-US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7장 이후 회색갈기 단원이 서사에서 사라짐</a:t>
            </a:r>
            <a:endParaRPr lang="en-US" sz="1800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10800" y="4572000"/>
            <a:ext cx="4495800" cy="609600"/>
          </a:xfrm>
          <a:prstGeom prst="rect">
            <a:avLst/>
          </a:prstGeom>
        </p:spPr>
        <p:txBody>
          <a:bodyPr lIns="0" tIns="57789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35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서사 보강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10800" y="4267200"/>
            <a:ext cx="3276600" cy="304800"/>
          </a:xfrm>
          <a:prstGeom prst="rect">
            <a:avLst/>
          </a:prstGeom>
        </p:spPr>
        <p:txBody>
          <a:bodyPr lIns="0" tIns="4318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7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인핸스드 업데이트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10800" y="5562600"/>
            <a:ext cx="6324600" cy="266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컷신·독백·연출 추가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최종 보스 움브라를 프롤로그부터 등장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챕터 분기마다 일기 형식 요약 제공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7장 이후 사라지던 회색갈기 단원 재등장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954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진입 장벽 네 가지와 개선안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04 게임 진행  ·  14</a:t>
            </a:r>
          </a:p>
        </p:txBody>
      </p:sp>
      <p:sp>
        <p:nvSpPr>
          <p:cNvPr id="8" name="Barrier Card 01"/>
          <p:cNvSpPr/>
          <p:nvPr/>
        </p:nvSpPr>
        <p:spPr>
          <a:xfrm>
            <a:off x="1219200" y="3352800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3999" y="3505199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3657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가격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733799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구조적 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3999" y="43434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문제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스탠다드 69.99달러, 국내 79,800원. 출시 시점 메타크리틱 78점과 겹쳐 고가 구매를 망설이게 한 요인으로 보도됨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지역 한정(미국·캐나다·영국) 클라우드 체험판을 콘솔·PC 체험판으로 넓혀 구매 전 확인 경로 확보</a:t>
            </a:r>
          </a:p>
        </p:txBody>
      </p:sp>
      <p:sp>
        <p:nvSpPr>
          <p:cNvPr id="13" name="Barrier Card 02"/>
          <p:cNvSpPr/>
          <p:nvPr/>
        </p:nvSpPr>
        <p:spPr>
          <a:xfrm>
            <a:off x="9296400" y="3352800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505199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657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사양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25600" y="3733799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구조적 장벽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3434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문제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그래픽카드 요구는 무난(최소 GTX 1060)하지만 메모리 16GB·SSD 135GB 필수. 4월 패치 용량만 PC 37GB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음성 언어 팩 선택 설치 등 설치 용량을 나눠 저장 공간 부담 완화</a:t>
            </a:r>
          </a:p>
        </p:txBody>
      </p:sp>
      <p:sp>
        <p:nvSpPr>
          <p:cNvPr id="18" name="Barrier Card 03"/>
          <p:cNvSpPr/>
          <p:nvPr/>
        </p:nvSpPr>
        <p:spPr>
          <a:xfrm>
            <a:off x="1219200" y="5867399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23999" y="601980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8400" y="61722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시스템 설명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624840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일부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3999" y="68580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문제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핵심 시스템을 NPC 쪽지로 설명. 현상금 생포·탈것 치료 방법은 안내 없음(4월 리뷰 기준)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처음 마주치는 순간 짧은 상황형 팁, 언제든 다시 보는 도움말 도감 제공</a:t>
            </a:r>
          </a:p>
        </p:txBody>
      </p:sp>
      <p:sp>
        <p:nvSpPr>
          <p:cNvPr id="23" name="Barrier Card 04"/>
          <p:cNvSpPr/>
          <p:nvPr/>
        </p:nvSpPr>
        <p:spPr>
          <a:xfrm>
            <a:off x="9296400" y="5867399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601980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1722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길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25600" y="624840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일부 개선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8580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문제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목표 지점 사이 이동이 길고, 웨이포인트가 미니맵에만 보이며 위험 지역 경고가 없음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월드 공간 웨이포인트와 권장 전투력·위험 지역 표시 추가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0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게임 분석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UI·게임 시스템·그래픽·사운드 분석</a:t>
            </a:r>
          </a:p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평단·유저 평가와 리텐션 지표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90600" y="1219200"/>
            <a:ext cx="137160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출시 직후 혹평은 조작과 UI에서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05 게임 분석  ·  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5400" y="7239000"/>
            <a:ext cx="41148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8689"/>
              </a:lnSpc>
            </a:pPr>
            <a:r>
              <a:rPr lang="en-US" sz="16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보관함 부족, 분류 기능 없음으로 관리 불편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4600" y="6705600"/>
            <a:ext cx="2971800" cy="457200"/>
          </a:xfrm>
          <a:prstGeom prst="rect">
            <a:avLst/>
          </a:prstGeom>
        </p:spPr>
        <p:txBody>
          <a:bodyPr lIns="0" tIns="3302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인벤토리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6019800"/>
            <a:ext cx="41148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8689"/>
              </a:lnSpc>
            </a:pPr>
            <a:r>
              <a:rPr lang="en-US" sz="16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미니맵 북쪽 고정 불가, 단축키 미지원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14600" y="5486400"/>
            <a:ext cx="2971800" cy="457200"/>
          </a:xfrm>
          <a:prstGeom prst="rect">
            <a:avLst/>
          </a:prstGeom>
        </p:spPr>
        <p:txBody>
          <a:bodyPr lIns="0" tIns="3302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지도 · 단축키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5400" y="4191000"/>
            <a:ext cx="41148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8689"/>
              </a:lnSpc>
            </a:pPr>
            <a:r>
              <a:rPr lang="en-US" sz="16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달리기+점프 시 내려찍기 오발동, 상호작용 키가 E·F·R로 분산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4600" y="3657600"/>
            <a:ext cx="2971800" cy="457200"/>
          </a:xfrm>
          <a:prstGeom prst="rect">
            <a:avLst/>
          </a:prstGeom>
        </p:spPr>
        <p:txBody>
          <a:bodyPr lIns="0" tIns="3302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조작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38800" y="3962400"/>
            <a:ext cx="27432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출시 초기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73000" y="7924800"/>
            <a:ext cx="44196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창고 최대 1,000칸(1.02), 카테고리 탭·잠금·보관함 4종(1.04)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3000" y="7467600"/>
            <a:ext cx="3352800" cy="457200"/>
          </a:xfrm>
          <a:prstGeom prst="rect">
            <a:avLst/>
          </a:prstGeom>
        </p:spPr>
        <p:txBody>
          <a:bodyPr lIns="0" tIns="3302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인벤토리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73000" y="5867400"/>
            <a:ext cx="44196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북쪽 고정 미니맵·단축키 추가(3월), 지도 필터·검색 (1.04)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73000" y="5334000"/>
            <a:ext cx="3352800" cy="457200"/>
          </a:xfrm>
          <a:prstGeom prst="rect">
            <a:avLst/>
          </a:prstGeom>
        </p:spPr>
        <p:txBody>
          <a:bodyPr lIns="0" tIns="3302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지도 · 단축키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73000" y="4419600"/>
            <a:ext cx="44196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조작 프리셋(클래식 포함), 입력 방식 선택, 즉시 상호작용 옵션 (1.04)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73000" y="3962400"/>
            <a:ext cx="3352800" cy="457200"/>
          </a:xfrm>
          <a:prstGeom prst="rect">
            <a:avLst/>
          </a:prstGeom>
        </p:spPr>
        <p:txBody>
          <a:bodyPr lIns="0" tIns="3302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조작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7800" y="3962400"/>
            <a:ext cx="30480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36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패치 이후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16" name="Picture 15" descr="sys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71800"/>
            <a:ext cx="4572000" cy="6324600"/>
          </a:xfrm>
          <a:prstGeom prst="rect">
            <a:avLst/>
          </a:prstGeom>
        </p:spPr>
      </p:pic>
      <p:pic>
        <p:nvPicPr>
          <p:cNvPr id="17" name="Picture 16" descr="sys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0" y="2971800"/>
            <a:ext cx="4572000" cy="632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5867400" y="6096000"/>
            <a:ext cx="66294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66800" y="1219200"/>
            <a:ext cx="13868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난이도는 고르고, 보관은 넓혔다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05 게임 분석  ·  17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8800" y="3733800"/>
            <a:ext cx="5486400" cy="533400"/>
          </a:xfrm>
          <a:prstGeom prst="rect">
            <a:avLst/>
          </a:prstGeom>
        </p:spPr>
        <p:txBody>
          <a:bodyPr lIns="0" tIns="49530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3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전투 · 난이도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38800" y="3505200"/>
            <a:ext cx="3276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59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SYSTEM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38800" y="4343400"/>
            <a:ext cx="6629400" cy="175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7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무기 콤보 + 체술(발차기·잡기) 전투. 초반 보스가 지나치게 어렵다는 지적에 1.04에서 쉬움·보통·어려움 3단계 난이도와 보스 밸런스 조정을 도입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34400" y="7010400"/>
            <a:ext cx="4114800" cy="533400"/>
          </a:xfrm>
          <a:prstGeom prst="rect">
            <a:avLst/>
          </a:prstGeom>
        </p:spPr>
        <p:txBody>
          <a:bodyPr lIns="0" tIns="49530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3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성장 · 보관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0" y="6781800"/>
            <a:ext cx="3276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r">
              <a:lnSpc>
                <a:spcPct val="83000"/>
              </a:lnSpc>
            </a:pPr>
            <a:r>
              <a:rPr lang="en-US" sz="159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SYSTEM 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72200" y="7620000"/>
            <a:ext cx="64770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8689"/>
              </a:lnSpc>
            </a:pPr>
            <a:r>
              <a:rPr lang="en-US" sz="17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어비스 유물로 스킬을 성장. 인핸스드의 '어비스 결속'으로 모든 캐릭터가 유물을 공유하게 됐고, 1.04에서 대용량 보관함 4종을 추가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6705600" y="6096000"/>
            <a:ext cx="48768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954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그래픽은 최고 호평, 음악은 75곡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05 게임 분석  ·  18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1200" y="4572000"/>
            <a:ext cx="5943600" cy="609600"/>
          </a:xfrm>
          <a:prstGeom prst="rect">
            <a:avLst/>
          </a:prstGeom>
        </p:spPr>
        <p:txBody>
          <a:bodyPr lIns="0" tIns="57789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35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블랙스페이스 엔진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1200" y="4267200"/>
            <a:ext cx="3276600" cy="304800"/>
          </a:xfrm>
          <a:prstGeom prst="rect">
            <a:avLst/>
          </a:prstGeom>
        </p:spPr>
        <p:txBody>
          <a:bodyPr lIns="0" tIns="4318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7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GRAPHICS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1200" y="5562600"/>
            <a:ext cx="6324600" cy="266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실시간 조명 + 동적 날씨(비·눈·안개)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FFT 해양·얕은 물 시뮬레이션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평단·유저 공통 최고 호평 요소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AI 생성 2D 에셋 논란 → 사과 후 교체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10800" y="4572000"/>
            <a:ext cx="5943600" cy="609600"/>
          </a:xfrm>
          <a:prstGeom prst="rect">
            <a:avLst/>
          </a:prstGeom>
        </p:spPr>
        <p:txBody>
          <a:bodyPr lIns="0" tIns="57789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35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OST 75곡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10800" y="4267200"/>
            <a:ext cx="3276600" cy="304800"/>
          </a:xfrm>
          <a:prstGeom prst="rect">
            <a:avLst/>
          </a:prstGeom>
        </p:spPr>
        <p:txBody>
          <a:bodyPr lIns="0" tIns="4318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7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SOUND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10800" y="5562600"/>
            <a:ext cx="6324600" cy="266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OST Vol.1 (2026.4.24), 테마·전투·탐험·보스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전투곡: 하이브리드 사운드 + 강한 타악기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풀보이스 3개 언어 → 인핸스드로 8개 언어</a:t>
            </a:r>
          </a:p>
          <a:p>
            <a:pPr marL="342900" lvl="0" indent="-342900" algn="l">
              <a:lnSpc>
                <a:spcPct val="124499"/>
              </a:lnSpc>
              <a:buFont typeface="Arial"/>
              <a:buChar char="•"/>
            </a:pPr>
            <a:r>
              <a:rPr lang="en-US" sz="18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평단 평가 자료 부족 → 플레이 소감으로 보강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19200"/>
            <a:ext cx="137160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평론가 78점, 스팀은 '매우 긍정적'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05 게임 분석  · 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0" y="4953000"/>
            <a:ext cx="4267200" cy="419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호평: 오픈월드 규모·그래픽·탐험 자유도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혹평: 조작·서사·난이도 급변·편의성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스팀: 출시 '복합적' → 3.30 '매우 긍정적'(80%)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10시간 이상 유저 84% 긍정, 30~120시간 플레이 후기 다수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메타크리틱 평론가 78(10월 77) · 유저 88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그래프 점수는 100점 만점으로 환산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11200" y="4343400"/>
            <a:ext cx="40386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5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평가 요약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280160" y="3429000"/>
          <a:ext cx="10607040" cy="539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954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오래 하지만, 끝까지 가는 유저는 적다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05 게임 분석  ·  20</a:t>
            </a:r>
          </a:p>
        </p:txBody>
      </p:sp>
      <p:sp>
        <p:nvSpPr>
          <p:cNvPr id="8" name="Retention Card 01"/>
          <p:cNvSpPr/>
          <p:nvPr/>
        </p:nvSpPr>
        <p:spPr>
          <a:xfrm>
            <a:off x="1219200" y="3352800"/>
            <a:ext cx="5029200" cy="4724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3999" y="3505199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3657600"/>
            <a:ext cx="3505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리텐션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3999" y="4267199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accent6"/>
                </a:solidFill>
                <a:latin typeface="Noto Sans CJK KR Regular"/>
                <a:ea typeface="Noto Sans CJK KR Regular"/>
                <a:cs typeface="Noto Sans CJK KR Regular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3999" y="4724399"/>
            <a:ext cx="4419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동접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스팀 최고 27.6만(3월 말) → 13.4만(4.26) → 약 1.9만(6월 말). 최고치 대비 약 93% 감소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완주율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메인 스토리 완료 업적 스팀 2.3%(4.12) → 9.7%(8월 중순). Xbox 13%, PS 15.2%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참고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싱글 게임은 완주 뒤 떠나는 흐름이 일반적이며, 동접 수치가 곧 리텐션은 아님</a:t>
            </a:r>
          </a:p>
        </p:txBody>
      </p:sp>
      <p:sp>
        <p:nvSpPr>
          <p:cNvPr id="13" name="Retention Card 02"/>
          <p:cNvSpPr/>
          <p:nvPr/>
        </p:nvSpPr>
        <p:spPr>
          <a:xfrm>
            <a:off x="6629400" y="3352800"/>
            <a:ext cx="5029200" cy="4724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4200" y="3505199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8599" y="3657600"/>
            <a:ext cx="3505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이탈 요인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4200" y="4267199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리뷰·커뮤니티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4724399"/>
            <a:ext cx="4419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진입 장벽·서사 공백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가격·사양·시스템 설명·길 안내, 초반 전개(13·14쪽)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반복형 퀘스트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따라가기·가져오기·처치 위주의 목표가 반복됨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진도 부담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업데이트 17회와 DLC 공개 속도를 본편 진도가 따라가지 못함('아직 에르난드인데' 밈)</a:t>
            </a:r>
          </a:p>
        </p:txBody>
      </p:sp>
      <p:sp>
        <p:nvSpPr>
          <p:cNvPr id="18" name="Retention Card 03"/>
          <p:cNvSpPr/>
          <p:nvPr/>
        </p:nvSpPr>
        <p:spPr>
          <a:xfrm>
            <a:off x="12039600" y="3352800"/>
            <a:ext cx="5029200" cy="4724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0" y="3505199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0" y="3657600"/>
            <a:ext cx="3505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유입·복귀 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0" y="4267199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회사 시행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0" y="4724399"/>
            <a:ext cx="4419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가격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약 5개월 정가 유지 후 첫 20% 할인(8.25~9.10). 할인 뒤 스팀 글로벌 매출 7위·국내 1위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DLC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24.99달러. 새 지역보다 기존 월드의 활동을 늘린 설계, 인핸스드 이용자 10% 할인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체험 접점</a:t>
            </a:r>
            <a:br/>
            <a:r>
              <a:rPr sz="13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게임스컴 시연, 트위치 20분 클라우드 체험판(미국·캐나다·영국)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8305799"/>
            <a:ext cx="15849599" cy="38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핵심  </a:t>
            </a:r>
            <a:r>
              <a:rPr sz="14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판매량과 플레이 시간에 비해 메인 스토리 완주율이 낮다. 이탈 구간을 줄이는 개선안은 06 시사점에서 정리한다.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0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시사점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차별화 요소와 SWOT</a:t>
            </a:r>
          </a:p>
          <a:p>
            <a:pPr lvl="0" algn="l">
              <a:lnSpc>
                <a:spcPct val="125329"/>
              </a:lnSpc>
            </a:pPr>
            <a:r>
              <a:rPr lang="en-US" sz="2074" b="0" i="0" u="none" strike="noStrike" spc="-100" dirty="0" err="1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패치 이후 남은 단점과 리텐션 개선 제안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0" y="2971800"/>
            <a:ext cx="5486400" cy="632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2971800"/>
            <a:ext cx="5486400" cy="632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0" y="2971800"/>
            <a:ext cx="5486400" cy="632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685800" y="4953000"/>
            <a:ext cx="54102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6477000" y="4953000"/>
            <a:ext cx="54102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-10800000">
            <a:off x="12192000" y="4953000"/>
            <a:ext cx="5410200" cy="3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90600" y="12192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1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엔진 · 동시 출시 · 글로벌 공략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1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06 시사점  ·  22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2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자체 엔진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2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블랙스페이스 엔진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5715000"/>
            <a:ext cx="40386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상용 엔진 대신 자체 엔진으로 대형 심리스 오픈월드 구현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물리·날씨·물 표현까지 직접 개발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294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동시 출시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104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PS5 · Xbox · PC · Mac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0" y="5715000"/>
            <a:ext cx="40386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콘솔·PC·Mac 글로벌 동시 발매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초기 판매는 PC와 콘솔이 약 절반씩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스위치2판 2027 상반기 목표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206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글로벌 공략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254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자체 퍼블리싱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54000" y="5715000"/>
            <a:ext cx="39624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해외 매출 비중 1분기 94%, 2분기 91%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미국 Circana 연간 누적 판매 2위(5월 기준)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0600" y="12192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강점은 기술, 약점은 사용성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06 시사점  ·  23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0" y="4419600"/>
            <a:ext cx="41148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cap="all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자체 엔진 그래픽·물리, 83일 만에 600만 장 판매, 출시 열흘간 패치 4회의 빠른 대응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72000" y="38100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강점 Strength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0600" y="4419600"/>
            <a:ext cx="41148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cap="all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조작·UI 진입 장벽과 서사 전달력 부족, 2분기 붉은사막 매출 전분기 대비 48.9% 감소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20600" y="38100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약점 Weakness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72000" y="7467600"/>
            <a:ext cx="41148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cap="all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PC 시장 +12%·풀게임 지출 +25%(2025), 스위치2판·유료 DLC·다국어 더빙 확대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2000" y="67818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기회 Opportunity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20600" y="7467600"/>
            <a:ext cx="41148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600" b="0" i="0" u="none" strike="noStrike" cap="all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GTA6 출시(2026.11.19 예정), 메모리 가격 상승, 패키지 가격 부담과 장기 흥행 과제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20600" y="6781800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위협 Threat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429000"/>
            <a:ext cx="2438400" cy="2438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3429000"/>
            <a:ext cx="2438400" cy="2438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6400800"/>
            <a:ext cx="2438400" cy="2438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6400800"/>
            <a:ext cx="2438400" cy="2438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T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90800" y="5486400"/>
            <a:ext cx="14401800" cy="38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087600" y="1676400"/>
            <a:ext cx="19812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66800" y="3581400"/>
            <a:ext cx="160020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9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조작·UI·보관함·난이도는 패치로 개선됐다(16·17쪽). 롱텀 리뷰와 커뮤니티에서 계속 지적되는 단점에 대한 개선안이다.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0" y="4419600"/>
            <a:ext cx="18288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3147" spc="-100" dirty="0">
                <a:solidFill>
                  <a:schemeClr val="tx2">
                    <a:alpha val="60000"/>
                  </a:schemeClr>
                </a:solidFill>
                <a:latin typeface="THEJung110"/>
                <a:ea typeface="THEJung110"/>
                <a:cs typeface="THEJung110"/>
              </a:rPr>
              <a:t>남은 단점</a:t>
            </a:r>
            <a:endParaRPr lang="en-US" sz="3147" b="0" i="0" u="none" strike="noStrike" spc="-100" dirty="0">
              <a:solidFill>
                <a:schemeClr val="tx2">
                  <a:alpha val="60000"/>
                </a:schemeClr>
              </a:solidFill>
              <a:latin typeface="THEJung110"/>
              <a:ea typeface="THEJung110"/>
              <a:cs typeface="THEJung11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438400" y="5867400"/>
            <a:ext cx="18288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3147" spc="-100" dirty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개선 제안</a:t>
            </a:r>
            <a:endParaRPr lang="en-US" sz="3147" b="0" i="0" u="none" strike="noStrike" spc="-100" dirty="0">
              <a:solidFill>
                <a:schemeClr val="tx2"/>
              </a:solidFill>
              <a:latin typeface="THEJung110"/>
              <a:ea typeface="THEJung110"/>
              <a:cs typeface="THEJung11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29200" y="4572000"/>
            <a:ext cx="108204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75082" lvl="1" indent="-275082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>
                <a:solidFill>
                  <a:schemeClr val="tx2">
                    <a:alpha val="60000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조작 체계 자체의 복잡함(9월 롱텀 리뷰) · 9장 주요 NPC 개연성</a:t>
            </a:r>
          </a:p>
          <a:p>
            <a:pPr marL="275082" lvl="1" indent="-275082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0" i="0" u="none" strike="noStrike">
                <a:solidFill>
                  <a:schemeClr val="tx2">
                    <a:alpha val="60000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따라가기·가져오기·처치 위주의 반복형 사이드 퀘스트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0600" y="1219200"/>
            <a:ext cx="124206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패치 이후에도 남은 단점과 개선 제안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06 시사점  ·  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0" y="5943600"/>
            <a:ext cx="10820400" cy="304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75082" lvl="1" indent="-275082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조작: 같은 키가 상황에 맞는 행동을 하도록 상호작용 키를 통합하고, 초반에 조작 연습 구간 제공</a:t>
            </a:r>
          </a:p>
          <a:p>
            <a:pPr marL="275082" lvl="1" indent="-275082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서사: 9장 주요 NPC를 이전 장에 미리 등장시키거나 회상 컷신 추가(인핸스드의 서사 보강 방식 확장)</a:t>
            </a:r>
          </a:p>
          <a:p>
            <a:pPr marL="275082" lvl="1" indent="-275082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퀘스트: 사이드 퀘스트에 선택 결과와 고유 보상을 붙여 반복감 완화</a:t>
            </a:r>
          </a:p>
          <a:p>
            <a:pPr marL="275082" lvl="1" indent="-275082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리텐션·이탈 방지 개선안은 다음 쪽에 정리</a:t>
            </a:r>
            <a:endParaRPr lang="en-US" sz="1800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954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이탈을 줄이기 위한 개선안 네 가지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06 시사점  ·  25</a:t>
            </a:r>
          </a:p>
        </p:txBody>
      </p:sp>
      <p:sp>
        <p:nvSpPr>
          <p:cNvPr id="8" name="Barrier Card 01"/>
          <p:cNvSpPr/>
          <p:nvPr/>
        </p:nvSpPr>
        <p:spPr>
          <a:xfrm>
            <a:off x="1219200" y="3352800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3999" y="3505199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3657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이탈 구간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733799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3999" y="43434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근거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메인 스토리 완료 업적 스팀 9.7%, Xbox 13%, PS 15.2%(8월)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챕터별 업적 달성률로 이탈이 몰리는 장을 찾고, 그 구간의 동선·난이도를 먼저 조정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검증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챕터 간 달성률 낙폭이 줄어드는지 패치 전후 비교</a:t>
            </a:r>
          </a:p>
        </p:txBody>
      </p:sp>
      <p:sp>
        <p:nvSpPr>
          <p:cNvPr id="13" name="Barrier Card 02"/>
          <p:cNvSpPr/>
          <p:nvPr/>
        </p:nvSpPr>
        <p:spPr>
          <a:xfrm>
            <a:off x="9296400" y="3352800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505199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657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진도 부담 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25600" y="3733799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콘텐츠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3434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근거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업데이트 17회, DLC 공개 후 '아직 에르난드인데' 밈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인핸스드 챕터 요약을 활용한 '메인 스토리 집중' 옵션: 사이드 알림을 줄이고 다음 목표를 우선 표시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검증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DLC 출시 전후 메인 스토리 완료율 변화</a:t>
            </a:r>
          </a:p>
        </p:txBody>
      </p:sp>
      <p:sp>
        <p:nvSpPr>
          <p:cNvPr id="18" name="Barrier Card 03"/>
          <p:cNvSpPr/>
          <p:nvPr/>
        </p:nvSpPr>
        <p:spPr>
          <a:xfrm>
            <a:off x="1219200" y="5867399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23999" y="601980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8400" y="61722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복귀 유저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624840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복귀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3999" y="68580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근거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조작 체계가 복잡하고, 업데이트로 시스템이 계속 바뀜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오래 쉬다 실행하면 '지난 이야기' 요약, 조작 연습, 바뀐 시스템 요약을 차례로 제공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검증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복귀 후 첫 플레이 세션의 조기 종료 비율</a:t>
            </a:r>
          </a:p>
        </p:txBody>
      </p:sp>
      <p:sp>
        <p:nvSpPr>
          <p:cNvPr id="23" name="Barrier Card 04"/>
          <p:cNvSpPr/>
          <p:nvPr/>
        </p:nvSpPr>
        <p:spPr>
          <a:xfrm>
            <a:off x="9296400" y="5867399"/>
            <a:ext cx="7772400" cy="2209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601980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1722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엔딩 이후 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25600" y="624840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장기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858000"/>
            <a:ext cx="7162800" cy="106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  <a:latin typeface="Noto Sans CJK KR Regular"/>
                <a:ea typeface="Noto Sans CJK KR Regular"/>
                <a:cs typeface="Noto Sans CJK KR Regular"/>
              </a:rPr>
              <a:t>근거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완주 후 이탈이 일반적. '대서고의 기억'은 메인 스토리+어비스 40곳 클리어 시 해금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개선안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해금 조건·진행률을 메뉴에 상시 표시하고, 보스 재대결·DLC로 다음 목표 안내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chemeClr val="accent2"/>
                </a:solidFill>
                <a:latin typeface="Noto Sans CJK KR Regular"/>
                <a:ea typeface="Noto Sans CJK KR Regular"/>
                <a:cs typeface="Noto Sans CJK KR Regular"/>
              </a:rPr>
              <a:t>검증  </a:t>
            </a:r>
            <a:r>
              <a:rPr sz="1500" b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엔딩 이후 업적 달성률, DLC 구매 전환율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0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게임 시장 동향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글로벌·국내 게임 시장 규모와 트렌드</a:t>
            </a:r>
          </a:p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붉은사막을 둘러싼 향후 시장 변수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16" name="Picture 15" descr="mk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71800"/>
            <a:ext cx="4572000" cy="6324600"/>
          </a:xfrm>
          <a:prstGeom prst="rect">
            <a:avLst/>
          </a:prstGeom>
        </p:spPr>
      </p:pic>
      <p:pic>
        <p:nvPicPr>
          <p:cNvPr id="17" name="Picture 16" descr="mk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0" y="2971800"/>
            <a:ext cx="4572000" cy="632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5867400" y="6096000"/>
            <a:ext cx="66294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66800" y="1219200"/>
            <a:ext cx="13868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2,016억 달러 시장, 한국 콘솔은 5%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07 시장 동향  ·  27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8800" y="3733800"/>
            <a:ext cx="5486400" cy="533400"/>
          </a:xfrm>
          <a:prstGeom prst="rect">
            <a:avLst/>
          </a:prstGeom>
        </p:spPr>
        <p:txBody>
          <a:bodyPr lIns="0" tIns="49530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28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2,016억 달러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38800" y="3505200"/>
            <a:ext cx="3276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59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GLOBAL · 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38800" y="4343400"/>
            <a:ext cx="66294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7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세계 게임 시장이 처음으로 2,000억 달러를 돌파(뉴주). PC +12%, 모바일 +10.7%, 콘솔 +2.8%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77200" y="7010400"/>
            <a:ext cx="4572000" cy="533400"/>
          </a:xfrm>
          <a:prstGeom prst="rect">
            <a:avLst/>
          </a:prstGeom>
        </p:spPr>
        <p:txBody>
          <a:bodyPr lIns="0" tIns="49530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28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23조 8,515억 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0" y="6781800"/>
            <a:ext cx="3276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r">
              <a:lnSpc>
                <a:spcPct val="83000"/>
              </a:lnSpc>
            </a:pPr>
            <a:r>
              <a:rPr lang="en-US" sz="159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KOREA · 2024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72200" y="7620000"/>
            <a:ext cx="64770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8689"/>
              </a:lnSpc>
            </a:pPr>
            <a:r>
              <a:rPr lang="en-US" sz="17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국내 시장 +3.9%(2025 게임백서). 모바일 59.0%, PC 25.2%, 콘솔 5.0%. 세계 점유율 7.2%로 4위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0" y="2971800"/>
            <a:ext cx="5486400" cy="632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2971800"/>
            <a:ext cx="5486400" cy="632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0" y="2971800"/>
            <a:ext cx="5486400" cy="632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685800" y="4953000"/>
            <a:ext cx="54102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0800000">
            <a:off x="6477000" y="4953000"/>
            <a:ext cx="54102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-10800000">
            <a:off x="12192000" y="4953000"/>
            <a:ext cx="5410200" cy="3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90600" y="12192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1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K-콘솔 · 풀게임 · 장기 운영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1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07 시장 동향  ·  28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2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K-콘솔 확장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2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국산 콘솔·PC 게임 흥행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5715000"/>
            <a:ext cx="40386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P의 거짓 300만 장(DLC 포함)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스텔라 블레이드 300만 장 이상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붉은사막 600만 장으로 확장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294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풀게임 구매 증가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104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콘솔·PC 본편 지출 +25%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0" y="5715000"/>
            <a:ext cx="40386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2025년 PC 시장 +12%로 최고 성장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인게임 결제는 4.6% 감소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유럽 +10.7%, 중동·아프리카 +15%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20600" y="3505200"/>
            <a:ext cx="5029200" cy="762000"/>
          </a:xfrm>
          <a:prstGeom prst="rect">
            <a:avLst/>
          </a:prstGeom>
        </p:spPr>
        <p:txBody>
          <a:bodyPr lIns="0" tIns="66036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999" b="1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장기 운영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25400" y="4267200"/>
            <a:ext cx="44196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599" b="1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업데이트·DLC로 수명 연장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54000" y="5715000"/>
            <a:ext cx="39624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무료 패치와 인핸스드 업데이트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유료 DLC '미지의 여정'(27,800원)</a:t>
            </a:r>
          </a:p>
          <a:p>
            <a:pPr marL="254000" lvl="1" indent="-254000" algn="l">
              <a:lnSpc>
                <a:spcPct val="11868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00" b="1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다국어 더빙으로 신규 지역 공략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8600" y="7315200"/>
            <a:ext cx="187452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990600" y="4800600"/>
            <a:ext cx="163068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19200"/>
            <a:ext cx="115062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DLC 다음 GTA6, 그다음 스위치2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07 시장 동향  ·  29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2026.10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26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2026.11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2027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684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2028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40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10월 30일 출시(10.16에서 2주 연기). 바다·수중 탐험과 건설·경영 요소 추가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6019800"/>
            <a:ext cx="34290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DLC '미지의 여정'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50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11월 19일 </a:t>
            </a:r>
            <a:r>
              <a:rPr lang="en-US" sz="16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</a:t>
            </a:r>
            <a:r>
              <a:rPr lang="en-US" sz="1600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예정</a:t>
            </a:r>
            <a:r>
              <a:rPr lang="en-US" sz="1600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. </a:t>
            </a:r>
            <a:r>
              <a:rPr lang="en-US" sz="16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대형</a:t>
            </a:r>
            <a:r>
              <a:rPr lang="en-US" sz="1600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오픈월드</a:t>
            </a:r>
            <a:r>
              <a:rPr lang="en-US" sz="1600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경쟁</a:t>
            </a:r>
            <a:r>
              <a:rPr lang="en-US" sz="1600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심화</a:t>
            </a:r>
            <a:r>
              <a:rPr lang="en-US" sz="1600" b="0" i="0" u="none" strike="noStrike" dirty="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 </a:t>
            </a:r>
            <a:r>
              <a:rPr lang="en-US" sz="1600" b="0" i="0" u="none" strike="noStrike" dirty="0" err="1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변수</a:t>
            </a:r>
            <a:endParaRPr lang="en-US" sz="1600" b="0" i="0" u="none" strike="noStrike" dirty="0">
              <a:solidFill>
                <a:schemeClr val="tx2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715000" y="6019800"/>
            <a:ext cx="33528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GTA6 출시 예정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98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붉은사막 닌텐도 스위치2판 상반기 출시 목표(2분기 실적 발표)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06000" y="6019800"/>
            <a:ext cx="33528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스위치2 버전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208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펄어비스 차기작 '도깨비' 하반기 출시 목표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20800" y="6019800"/>
            <a:ext cx="3581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차기작 '도깨비'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810000" y="-3962400"/>
            <a:ext cx="10591800" cy="1828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143000"/>
            <a:ext cx="2895600" cy="1295400"/>
          </a:xfrm>
          <a:prstGeom prst="rect">
            <a:avLst/>
          </a:prstGeom>
        </p:spPr>
      </p:pic>
      <p:sp>
        <p:nvSpPr>
          <p:cNvPr id="10" name="Divider Numeral"/>
          <p:cNvSpPr txBox="1"/>
          <p:nvPr/>
        </p:nvSpPr>
        <p:spPr>
          <a:xfrm>
            <a:off x="304800" y="3962400"/>
            <a:ext cx="8382000" cy="6934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sz="48000" spc="-1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295400"/>
            <a:ext cx="28194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3600" b="0" i="0" u="none" strike="noStrike" spc="-100">
                <a:solidFill>
                  <a:schemeClr val="bg1"/>
                </a:solidFill>
                <a:latin typeface="Gothic A1 Thin"/>
                <a:ea typeface="Gothic A1 Thin"/>
                <a:cs typeface="Gothic A1 Thin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3810000"/>
            <a:ext cx="8077200" cy="990600"/>
          </a:xfrm>
          <a:prstGeom prst="rect">
            <a:avLst/>
          </a:prstGeom>
        </p:spPr>
        <p:txBody>
          <a:bodyPr lIns="0" tIns="87235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5283" b="0" i="0" u="none" strike="noStrike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총평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6600" y="4876800"/>
            <a:ext cx="960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성과 지표, 출시 전후 재무, 운영 흐름</a:t>
            </a:r>
          </a:p>
          <a:p>
            <a:pPr lvl="0" algn="l">
              <a:lnSpc>
                <a:spcPct val="125329"/>
              </a:lnSpc>
            </a:pPr>
            <a:r>
              <a:rPr lang="en-US" sz="2074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향후 계획과 최종 평가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-838200" y="8382000"/>
            <a:ext cx="2590800" cy="304800"/>
          </a:xfrm>
          <a:prstGeom prst="rect">
            <a:avLst/>
          </a:prstGeom>
        </p:spPr>
        <p:txBody>
          <a:bodyPr lIns="0" tIns="28059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9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4038600" y="4876800"/>
            <a:ext cx="1905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12268200" y="4876800"/>
            <a:ext cx="1905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8153400" y="4876800"/>
            <a:ext cx="19050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90600" y="1219200"/>
            <a:ext cx="124206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83일 만에 600만 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08 총평  ·  31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4419600"/>
            <a:ext cx="3810000" cy="1371600"/>
          </a:xfrm>
          <a:prstGeom prst="rect">
            <a:avLst/>
          </a:prstGeom>
        </p:spPr>
        <p:txBody>
          <a:bodyPr lIns="0" tIns="4889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6000" b="0" i="0" u="none" strike="noStrike" spc="-5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600만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81600" y="4419600"/>
            <a:ext cx="3810000" cy="1371600"/>
          </a:xfrm>
          <a:prstGeom prst="rect">
            <a:avLst/>
          </a:prstGeom>
        </p:spPr>
        <p:txBody>
          <a:bodyPr lIns="0" tIns="4889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6000" b="0" i="0" u="none" strike="noStrike" spc="-1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4,026억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20200" y="4419600"/>
            <a:ext cx="3810000" cy="1371600"/>
          </a:xfrm>
          <a:prstGeom prst="rect">
            <a:avLst/>
          </a:prstGeom>
        </p:spPr>
        <p:txBody>
          <a:bodyPr lIns="0" tIns="4889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6000" b="0" i="0" u="none" strike="noStrike" spc="-1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78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35000" y="4419600"/>
            <a:ext cx="3810000" cy="1371600"/>
          </a:xfrm>
          <a:prstGeom prst="rect">
            <a:avLst/>
          </a:prstGeom>
        </p:spPr>
        <p:txBody>
          <a:bodyPr lIns="0" tIns="4889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6000" b="0" i="0" u="none" strike="noStrike" spc="-100">
                <a:solidFill>
                  <a:schemeClr val="accent1"/>
                </a:solidFill>
                <a:latin typeface="Gothic A1 Thin"/>
                <a:ea typeface="Gothic A1 Thin"/>
                <a:cs typeface="Gothic A1 Thin"/>
              </a:rPr>
              <a:t>27.6만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5400" y="4114800"/>
            <a:ext cx="3276600" cy="381000"/>
          </a:xfrm>
          <a:prstGeom prst="rect">
            <a:avLst/>
          </a:prstGeom>
        </p:spPr>
        <p:txBody>
          <a:bodyPr lIns="0" tIns="1270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20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누적 판매(장)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0" y="4114800"/>
            <a:ext cx="3276600" cy="381000"/>
          </a:xfrm>
          <a:prstGeom prst="rect">
            <a:avLst/>
          </a:prstGeom>
        </p:spPr>
        <p:txBody>
          <a:bodyPr lIns="0" tIns="1270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20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상반기 매출(원)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5000" y="4191000"/>
            <a:ext cx="3276600" cy="381000"/>
          </a:xfrm>
          <a:prstGeom prst="rect">
            <a:avLst/>
          </a:prstGeom>
        </p:spPr>
        <p:txBody>
          <a:bodyPr lIns="0" tIns="1270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20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메타크리틱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39800" y="4114800"/>
            <a:ext cx="3276600" cy="381000"/>
          </a:xfrm>
          <a:prstGeom prst="rect">
            <a:avLst/>
          </a:prstGeom>
        </p:spPr>
        <p:txBody>
          <a:bodyPr lIns="0" tIns="1270" rIns="0" bIns="0" rtlCol="0" anchor="t"/>
          <a:lstStyle/>
          <a:p>
            <a:pPr lvl="0" algn="ctr">
              <a:lnSpc>
                <a:spcPct val="115369"/>
              </a:lnSpc>
            </a:pPr>
            <a:r>
              <a:rPr lang="en-US" sz="20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스팀 최고 동접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0600" y="7010400"/>
            <a:ext cx="3810000" cy="838200"/>
          </a:xfrm>
          <a:prstGeom prst="rect">
            <a:avLst/>
          </a:prstGeom>
        </p:spPr>
        <p:txBody>
          <a:bodyPr lIns="0" tIns="22223" rIns="0" bIns="0" rtlCol="0" anchor="t"/>
          <a:lstStyle/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첫날 200만 장</a:t>
            </a:r>
          </a:p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4일 만에 300만 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0600" y="8001000"/>
            <a:ext cx="38100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599" b="0" i="0" u="none" strike="noStrike" cap="all" spc="-200">
                <a:solidFill>
                  <a:schemeClr val="tx2">
                    <a:alpha val="81961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출처: 펄어비스 발표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5400" y="6400800"/>
            <a:ext cx="3276600" cy="381000"/>
          </a:xfrm>
          <a:prstGeom prst="rect">
            <a:avLst/>
          </a:prstGeom>
        </p:spPr>
        <p:txBody>
          <a:bodyPr lIns="0" tIns="7621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20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 83일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81600" y="7010400"/>
            <a:ext cx="3810000" cy="838200"/>
          </a:xfrm>
          <a:prstGeom prst="rect">
            <a:avLst/>
          </a:prstGeom>
        </p:spPr>
        <p:txBody>
          <a:bodyPr lIns="0" tIns="22223" rIns="0" bIns="0" rtlCol="0" anchor="t"/>
          <a:lstStyle/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회사 매출의 77.3%</a:t>
            </a:r>
          </a:p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1Q 2,665억 + 2Q 1,361억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81600" y="8001000"/>
            <a:ext cx="38100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599" b="0" i="0" u="none" strike="noStrike" cap="all" spc="-200">
                <a:solidFill>
                  <a:schemeClr val="tx2">
                    <a:alpha val="81961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출처: 펄어비스 실적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86400" y="6400800"/>
            <a:ext cx="3276600" cy="381000"/>
          </a:xfrm>
          <a:prstGeom prst="rect">
            <a:avLst/>
          </a:prstGeom>
        </p:spPr>
        <p:txBody>
          <a:bodyPr lIns="0" tIns="7621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20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2026 상반기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20200" y="7010400"/>
            <a:ext cx="3810000" cy="838200"/>
          </a:xfrm>
          <a:prstGeom prst="rect">
            <a:avLst/>
          </a:prstGeom>
        </p:spPr>
        <p:txBody>
          <a:bodyPr lIns="0" tIns="22223" rIns="0" bIns="0" rtlCol="0" anchor="t"/>
          <a:lstStyle/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82개 리뷰 기준</a:t>
            </a:r>
          </a:p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10월 기사 기준 77점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0200" y="8001000"/>
            <a:ext cx="38100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599" b="0" i="0" u="none" strike="noStrike" cap="all" spc="-200">
                <a:solidFill>
                  <a:schemeClr val="tx2">
                    <a:alpha val="81961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출처: Metacritic 보도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25000" y="6400800"/>
            <a:ext cx="3276600" cy="381000"/>
          </a:xfrm>
          <a:prstGeom prst="rect">
            <a:avLst/>
          </a:prstGeom>
        </p:spPr>
        <p:txBody>
          <a:bodyPr lIns="0" tIns="7621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20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 시점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35000" y="7010400"/>
            <a:ext cx="3810000" cy="838200"/>
          </a:xfrm>
          <a:prstGeom prst="rect">
            <a:avLst/>
          </a:prstGeom>
        </p:spPr>
        <p:txBody>
          <a:bodyPr lIns="0" tIns="22223" rIns="0" bIns="0" rtlCol="0" anchor="t"/>
          <a:lstStyle/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스팀DB 기준</a:t>
            </a:r>
          </a:p>
          <a:p>
            <a:pPr lvl="0" algn="ctr">
              <a:lnSpc>
                <a:spcPct val="104580"/>
              </a:lnSpc>
            </a:pPr>
            <a:r>
              <a:rPr lang="en-US" sz="18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 첫 주 24.8만에서 경신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35000" y="8001000"/>
            <a:ext cx="38100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599" b="0" i="0" u="none" strike="noStrike" cap="all" spc="-200">
                <a:solidFill>
                  <a:schemeClr val="tx2">
                    <a:alpha val="81961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출처: 바이라인네트워크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39800" y="6400800"/>
            <a:ext cx="3276600" cy="381000"/>
          </a:xfrm>
          <a:prstGeom prst="rect">
            <a:avLst/>
          </a:prstGeom>
        </p:spPr>
        <p:txBody>
          <a:bodyPr lIns="0" tIns="7621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2000" b="0" i="0" u="none" strike="noStrike" cap="all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2026.03.30 보도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19200"/>
            <a:ext cx="124206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1분기 사상 최대, 2분기 매출 -41%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08 총평  ·  32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3352800"/>
            <a:ext cx="150876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7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1분기 사상 최대 실적 이후, 2분기는 출시 효과가 약해지며 붉은사막 매출이 전분기 대비 48.9% 감소. 연간 붉은사막 매출 가이던스도 6,441~7,348억 → 4,689~4,973억 원으로 하향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463040" y="4617720"/>
          <a:ext cx="150876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6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19200"/>
            <a:ext cx="137160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bg1"/>
                </a:solidFill>
                <a:latin typeface="THEJung110"/>
                <a:ea typeface="THEJung110"/>
                <a:cs typeface="THEJung110"/>
              </a:rPr>
              <a:t>영업손실 148억 → 영업이익 2,121억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08 총평  ·  33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0" y="4953000"/>
            <a:ext cx="4267200" cy="419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2025 연간: 매출 3,656억, 영업손실 148억, 순손실 76억 (신작 없이 적자)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2026 1분기: 순이익 1,700억, 분기 사상 최대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1분기 광고선전비 +500%, 지급수수료 +224%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연간 매출 가이던스 7,098~7,438억으로 하향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자사주 소각·1,000억 매입, 첫 배당 예정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단위: 억 원 · 연결 기준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11200" y="4343400"/>
            <a:ext cx="40386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5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출시 전 vs 후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280160" y="3429000"/>
          <a:ext cx="10789920" cy="539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288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971800"/>
            <a:ext cx="170688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990600" y="4800600"/>
            <a:ext cx="163068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600" y="1219200"/>
            <a:ext cx="137160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혹평 → 개선 → 확장의 7개월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08 총평  ·  34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3월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26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3~5월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6~8월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68400" y="3810000"/>
            <a:ext cx="3276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24499"/>
              </a:lnSpc>
            </a:pPr>
            <a:r>
              <a:rPr lang="en-US" sz="3400" b="0" i="0" u="none" strike="noStrike" spc="-400">
                <a:solidFill>
                  <a:schemeClr val="tx2"/>
                </a:solidFill>
                <a:latin typeface="Gothic A1 Thin"/>
                <a:ea typeface="Gothic A1 Thin"/>
                <a:cs typeface="Gothic A1 Thin"/>
              </a:rPr>
              <a:t>9~10월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40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메타크리틱 78, 조작·UI 혹평. 출시 직후 스팀 '복합적'(약 60% 긍정)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6019800"/>
            <a:ext cx="34290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출시와 혹평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50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조작·창고·난이도·보스 재대결·거점 재봉쇄 개선. 스팀 '매우 긍정적' 회복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15000" y="6019800"/>
            <a:ext cx="33528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긴급 개선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98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8.18 기준 업데이트 17회. 크로스세이브, 무료 '인핸스드'로 스토리 개편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06000" y="6019800"/>
            <a:ext cx="33528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로드맵 이행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20800" y="6477000"/>
            <a:ext cx="32004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9.3 DLC '미지의 여정' 공개(27,800원). 안정성 확보를 위해 10.30으로 연기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20800" y="6019800"/>
            <a:ext cx="3581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199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첫 DLC 준비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315200"/>
            <a:ext cx="183642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19200"/>
            <a:ext cx="17068800" cy="129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2971800"/>
            <a:ext cx="16992600" cy="632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3810000" y="6096000"/>
            <a:ext cx="4953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0" y="4114800"/>
            <a:ext cx="8534400" cy="525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-8632049">
            <a:off x="10439400" y="5486400"/>
            <a:ext cx="12192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258800" y="8077200"/>
            <a:ext cx="3429000" cy="83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335000" y="7696200"/>
            <a:ext cx="914400" cy="457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20000" y="4876800"/>
            <a:ext cx="2743200" cy="838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96400" y="4572000"/>
            <a:ext cx="990600" cy="457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-2632601">
            <a:off x="14478000" y="4114800"/>
            <a:ext cx="685800" cy="7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058400" y="8458200"/>
            <a:ext cx="2819400" cy="76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5316200" y="3810000"/>
            <a:ext cx="1905000" cy="152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392400" y="3429000"/>
            <a:ext cx="990600" cy="457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90600" y="1219200"/>
            <a:ext cx="14325600" cy="1143000"/>
          </a:xfrm>
          <a:prstGeom prst="rect">
            <a:avLst/>
          </a:prstGeom>
        </p:spPr>
        <p:txBody>
          <a:bodyPr lIns="0" tIns="104694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4800" b="0" i="0" u="none" strike="noStrike" spc="-2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DLC · 스위치2 · 도깨비로 잇는다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11200" y="7772400"/>
            <a:ext cx="838200" cy="304800"/>
          </a:xfrm>
          <a:prstGeom prst="rect">
            <a:avLst/>
          </a:prstGeom>
        </p:spPr>
        <p:txBody>
          <a:bodyPr lIns="0" tIns="228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30200" y="1676400"/>
            <a:ext cx="4038600" cy="381000"/>
          </a:xfrm>
          <a:prstGeom prst="rect">
            <a:avLst/>
          </a:prstGeom>
        </p:spPr>
        <p:txBody>
          <a:bodyPr lIns="0" tIns="32628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976" b="0" i="0" u="none" strike="noStrike" spc="-2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08 총평  ·  35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0200" y="4114800"/>
            <a:ext cx="4724400" cy="533400"/>
          </a:xfrm>
          <a:prstGeom prst="rect">
            <a:avLst/>
          </a:prstGeom>
        </p:spPr>
        <p:txBody>
          <a:bodyPr lIns="0" tIns="49530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sz="3000" b="0" i="0" u="none" strike="noStrike" spc="-100">
                <a:solidFill>
                  <a:schemeClr val="tx2"/>
                </a:solidFill>
                <a:latin typeface="THEJung110"/>
                <a:ea typeface="THEJung110"/>
                <a:cs typeface="THEJung110"/>
              </a:rPr>
              <a:t>회사가 밝힌 방향성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11200" y="8229600"/>
            <a:ext cx="3200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3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10.30 첫 DLC '미지의 여정'</a:t>
            </a:r>
          </a:p>
          <a:p>
            <a:pPr lvl="0" algn="l">
              <a:lnSpc>
                <a:spcPct val="118689"/>
              </a:lnSpc>
            </a:pPr>
            <a:r>
              <a:rPr lang="en-US" sz="13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바다·수중 탐험, 건설·경영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0200" y="5181600"/>
            <a:ext cx="4724400" cy="304800"/>
          </a:xfrm>
          <a:prstGeom prst="rect">
            <a:avLst/>
          </a:prstGeom>
        </p:spPr>
        <p:txBody>
          <a:bodyPr lIns="0" tIns="40634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59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지속 업데이트 + DLC + 플랫폼 확장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0200" y="6019800"/>
            <a:ext cx="4495800" cy="289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업데이트로 구매자 만족·신규 판매 확대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DLC·플랫폼 확장으로 게임 수명 연장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로드맵 초점은 게임플레이와 서사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2~3년 주기 신작 출시 사이클 유지</a:t>
            </a:r>
          </a:p>
          <a:p>
            <a:pPr marL="342900" lvl="1" indent="-342900" algn="l">
              <a:lnSpc>
                <a:spcPct val="124499"/>
              </a:lnSpc>
              <a:buFont typeface="Arial"/>
              <a:buChar char="•"/>
            </a:pPr>
            <a:r>
              <a:rPr lang="en-US" sz="1500" b="0" i="0" u="none" strike="noStrike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그 이후 추가 DLC는 아직 미발표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96400" y="4572000"/>
            <a:ext cx="838200" cy="304800"/>
          </a:xfrm>
          <a:prstGeom prst="rect">
            <a:avLst/>
          </a:prstGeom>
        </p:spPr>
        <p:txBody>
          <a:bodyPr lIns="0" tIns="228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0000" y="5105400"/>
            <a:ext cx="25908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8689"/>
              </a:lnSpc>
            </a:pPr>
            <a:r>
              <a:rPr lang="en-US" sz="13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상반기 닌텐도</a:t>
            </a:r>
          </a:p>
          <a:p>
            <a:pPr lvl="0" algn="r">
              <a:lnSpc>
                <a:spcPct val="118689"/>
              </a:lnSpc>
            </a:pPr>
            <a:r>
              <a:rPr lang="en-US" sz="13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스위치2 버전 출시 목표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44800" y="3505200"/>
            <a:ext cx="838200" cy="304800"/>
          </a:xfrm>
          <a:prstGeom prst="rect">
            <a:avLst/>
          </a:prstGeom>
        </p:spPr>
        <p:txBody>
          <a:bodyPr lIns="0" tIns="228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2028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468600" y="4038600"/>
            <a:ext cx="1828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en-US" sz="14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하반기 차기작</a:t>
            </a:r>
          </a:p>
          <a:p>
            <a:pPr lvl="0" algn="l">
              <a:lnSpc>
                <a:spcPct val="118689"/>
              </a:lnSpc>
            </a:pPr>
            <a:r>
              <a:rPr lang="en-US" sz="1400" b="0" i="0" u="none" strike="noStrike">
                <a:solidFill>
                  <a:schemeClr val="tx2">
                    <a:alpha val="90196"/>
                  </a:schemeClr>
                </a:solidFill>
                <a:latin typeface="Noto Sans CJK KR Regular"/>
                <a:ea typeface="Noto Sans CJK KR Regular"/>
                <a:cs typeface="Noto Sans CJK KR Regular"/>
              </a:rPr>
              <a:t>'도깨비' 출시 목표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2900" y="3581400"/>
            <a:ext cx="10287000" cy="312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7391400"/>
            <a:ext cx="107442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 rot="5400000">
            <a:off x="16383000" y="8382000"/>
            <a:ext cx="2590800" cy="304800"/>
          </a:xfrm>
          <a:prstGeom prst="rect">
            <a:avLst/>
          </a:prstGeom>
        </p:spPr>
        <p:txBody>
          <a:bodyPr lIns="0" tIns="28046" rIns="0" bIns="0" rtlCol="0" anchor="t"/>
          <a:lstStyle/>
          <a:p>
            <a:pPr lvl="0" algn="r">
              <a:lnSpc>
                <a:spcPct val="94619"/>
              </a:lnSpc>
            </a:pPr>
            <a:r>
              <a:rPr lang="en-US" sz="1698" b="0" i="0" u="none" strike="noStrike" spc="-100">
                <a:solidFill>
                  <a:schemeClr val="bg1"/>
                </a:solidFill>
                <a:latin typeface="Noto Sans CJK KR Regular"/>
                <a:ea typeface="Noto Sans CJK KR Regular"/>
                <a:cs typeface="Noto Sans CJK KR Regular"/>
              </a:rPr>
              <a:t>CRIMSON DESERT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858000"/>
            <a:ext cx="6400800" cy="381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129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붉은사막 게임분석서 · 2026. 10. 14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8382000"/>
            <a:ext cx="17526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09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작성</a:t>
            </a:r>
          </a:p>
          <a:p>
            <a:pPr lvl="0" algn="l">
              <a:lnSpc>
                <a:spcPct val="124499"/>
              </a:lnSpc>
            </a:pPr>
            <a:r>
              <a:rPr lang="en-US" sz="2090" b="0" i="0" u="none" strike="noStrike" spc="-100">
                <a:solidFill>
                  <a:schemeClr val="tx2"/>
                </a:solidFill>
                <a:latin typeface="Noto Sans CJK KR Regular"/>
                <a:ea typeface="Noto Sans CJK KR Regular"/>
                <a:cs typeface="Noto Sans CJK KR Regular"/>
              </a:rPr>
              <a:t>이경민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Crimson Desert">
      <a:dk1>
        <a:srgbClr val="1B1918"/>
      </a:dk1>
      <a:lt1>
        <a:srgbClr val="F6F1EA"/>
      </a:lt1>
      <a:dk2>
        <a:srgbClr val="2B2624"/>
      </a:dk2>
      <a:lt2>
        <a:srgbClr val="E6DED2"/>
      </a:lt2>
      <a:accent1>
        <a:srgbClr val="9E1B20"/>
      </a:accent1>
      <a:accent2>
        <a:srgbClr val="C08A3E"/>
      </a:accent2>
      <a:accent3>
        <a:srgbClr val="7A5230"/>
      </a:accent3>
      <a:accent4>
        <a:srgbClr val="C8A77A"/>
      </a:accent4>
      <a:accent5>
        <a:srgbClr val="5C1014"/>
      </a:accent5>
      <a:accent6>
        <a:srgbClr val="7A6E64"/>
      </a:accent6>
      <a:hlink>
        <a:srgbClr val="9E1B20"/>
      </a:hlink>
      <a:folHlink>
        <a:srgbClr val="7A5230"/>
      </a:folHlink>
    </a:clrScheme>
    <a:fontScheme name="Office">
      <a:majorFont>
        <a:latin typeface="THEJung110"/>
        <a:ea typeface="THEJung110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Noto Sans CJK KR Regular"/>
        <a:ea typeface="Noto Sans CJK KR Regula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2661</Words>
  <Application>Microsoft Office PowerPoint</Application>
  <PresentationFormat>사용자 지정</PresentationFormat>
  <Paragraphs>430</Paragraphs>
  <Slides>36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2" baseType="lpstr">
      <vt:lpstr>THEJung110</vt:lpstr>
      <vt:lpstr>Noto Sans CJK KR Regular</vt:lpstr>
      <vt:lpstr>맑은 고딕</vt:lpstr>
      <vt:lpstr>Arial</vt:lpstr>
      <vt:lpstr>Gothic A1 Thin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이경민</dc:creator>
  <cp:lastModifiedBy>경민 이</cp:lastModifiedBy>
  <cp:revision>9</cp:revision>
  <dcterms:created xsi:type="dcterms:W3CDTF">2006-08-16T00:00:00Z</dcterms:created>
  <dcterms:modified xsi:type="dcterms:W3CDTF">2026-10-19T18:48:27Z</dcterms:modified>
</cp:coreProperties>
</file>