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embeddedFontLst>
    <p:embeddedFont>
      <p:font typeface="Pretendard Bold" panose="020B0600000101010101" charset="-127"/>
      <p:bold r:id="rId11"/>
    </p:embeddedFont>
    <p:embeddedFont>
      <p:font typeface="Pretendard Light" panose="020B0600000101010101" charset="-127"/>
      <p:regular r:id="rId12"/>
    </p:embeddedFont>
    <p:embeddedFont>
      <p:font typeface="Pretendard Medium" panose="020B0600000101010101" charset="-127"/>
      <p:bold r:id="rId13"/>
    </p:embeddedFont>
    <p:embeddedFont>
      <p:font typeface="Pretendard Regular" panose="020B0600000101010101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691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경민 이" userId="dc253d44485ee1b0" providerId="LiveId" clId="{07276B1C-9E2C-4DDE-8C28-CAC4024F7BB3}"/>
    <pc:docChg chg="undo custSel modSld modMainMaster">
      <pc:chgData name="경민 이" userId="dc253d44485ee1b0" providerId="LiveId" clId="{07276B1C-9E2C-4DDE-8C28-CAC4024F7BB3}" dt="2026-02-04T12:53:55.732" v="98" actId="20577"/>
      <pc:docMkLst>
        <pc:docMk/>
      </pc:docMkLst>
      <pc:sldChg chg="modSp mod">
        <pc:chgData name="경민 이" userId="dc253d44485ee1b0" providerId="LiveId" clId="{07276B1C-9E2C-4DDE-8C28-CAC4024F7BB3}" dt="2026-02-04T12:53:55.732" v="98" actId="20577"/>
        <pc:sldMkLst>
          <pc:docMk/>
          <pc:sldMk cId="0" sldId="262"/>
        </pc:sldMkLst>
        <pc:spChg chg="mod">
          <ac:chgData name="경민 이" userId="dc253d44485ee1b0" providerId="LiveId" clId="{07276B1C-9E2C-4DDE-8C28-CAC4024F7BB3}" dt="2026-02-04T12:53:55.732" v="98" actId="20577"/>
          <ac:spMkLst>
            <pc:docMk/>
            <pc:sldMk cId="0" sldId="262"/>
            <ac:spMk id="12" creationId="{00000000-0000-0000-0000-000000000000}"/>
          </ac:spMkLst>
        </pc:spChg>
      </pc:sldChg>
      <pc:sldMasterChg chg="modSp mod modSldLayout">
        <pc:chgData name="경민 이" userId="dc253d44485ee1b0" providerId="LiveId" clId="{07276B1C-9E2C-4DDE-8C28-CAC4024F7BB3}" dt="2026-02-04T12:53:29.982" v="96"/>
        <pc:sldMasterMkLst>
          <pc:docMk/>
          <pc:sldMasterMk cId="0" sldId="2147483648"/>
        </pc:sldMasterMkLst>
        <pc:spChg chg="mod">
          <ac:chgData name="경민 이" userId="dc253d44485ee1b0" providerId="LiveId" clId="{07276B1C-9E2C-4DDE-8C28-CAC4024F7BB3}" dt="2026-02-04T12:53:29.982" v="96"/>
          <ac:spMkLst>
            <pc:docMk/>
            <pc:sldMasterMk cId="0" sldId="2147483648"/>
            <ac:spMk id="6" creationId="{00000000-0000-0000-0000-000000000000}"/>
          </ac:spMkLst>
        </pc:spChg>
        <pc:sldLayoutChg chg="modSp mod">
          <pc:chgData name="경민 이" userId="dc253d44485ee1b0" providerId="LiveId" clId="{07276B1C-9E2C-4DDE-8C28-CAC4024F7BB3}" dt="2026-02-04T12:53:27.262" v="95"/>
          <pc:sldLayoutMkLst>
            <pc:docMk/>
            <pc:sldMasterMk cId="0" sldId="2147483648"/>
            <pc:sldLayoutMk cId="0" sldId="2147483649"/>
          </pc:sldLayoutMkLst>
          <pc:spChg chg="mod">
            <ac:chgData name="경민 이" userId="dc253d44485ee1b0" providerId="LiveId" clId="{07276B1C-9E2C-4DDE-8C28-CAC4024F7BB3}" dt="2026-02-04T12:53:27.262" v="95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3:25.222" v="94"/>
          <pc:sldLayoutMkLst>
            <pc:docMk/>
            <pc:sldMasterMk cId="0" sldId="2147483648"/>
            <pc:sldLayoutMk cId="0" sldId="2147483650"/>
          </pc:sldLayoutMkLst>
          <pc:spChg chg="mod">
            <ac:chgData name="경민 이" userId="dc253d44485ee1b0" providerId="LiveId" clId="{07276B1C-9E2C-4DDE-8C28-CAC4024F7BB3}" dt="2026-02-04T12:53:25.222" v="94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3:22.982" v="93"/>
          <pc:sldLayoutMkLst>
            <pc:docMk/>
            <pc:sldMasterMk cId="0" sldId="2147483648"/>
            <pc:sldLayoutMk cId="0" sldId="2147483651"/>
          </pc:sldLayoutMkLst>
          <pc:spChg chg="mod">
            <ac:chgData name="경민 이" userId="dc253d44485ee1b0" providerId="LiveId" clId="{07276B1C-9E2C-4DDE-8C28-CAC4024F7BB3}" dt="2026-02-04T12:53:22.982" v="93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3:19.792" v="90"/>
          <pc:sldLayoutMkLst>
            <pc:docMk/>
            <pc:sldMasterMk cId="0" sldId="2147483648"/>
            <pc:sldLayoutMk cId="0" sldId="2147483652"/>
          </pc:sldLayoutMkLst>
          <pc:spChg chg="mod">
            <ac:chgData name="경민 이" userId="dc253d44485ee1b0" providerId="LiveId" clId="{07276B1C-9E2C-4DDE-8C28-CAC4024F7BB3}" dt="2026-02-04T12:53:19.792" v="90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3:16.757" v="89"/>
          <pc:sldLayoutMkLst>
            <pc:docMk/>
            <pc:sldMasterMk cId="0" sldId="2147483648"/>
            <pc:sldLayoutMk cId="0" sldId="2147483653"/>
          </pc:sldLayoutMkLst>
          <pc:spChg chg="mod">
            <ac:chgData name="경민 이" userId="dc253d44485ee1b0" providerId="LiveId" clId="{07276B1C-9E2C-4DDE-8C28-CAC4024F7BB3}" dt="2026-02-04T12:53:16.757" v="89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3:14.372" v="88"/>
          <pc:sldLayoutMkLst>
            <pc:docMk/>
            <pc:sldMasterMk cId="0" sldId="2147483648"/>
            <pc:sldLayoutMk cId="0" sldId="2147483654"/>
          </pc:sldLayoutMkLst>
          <pc:spChg chg="mod">
            <ac:chgData name="경민 이" userId="dc253d44485ee1b0" providerId="LiveId" clId="{07276B1C-9E2C-4DDE-8C28-CAC4024F7BB3}" dt="2026-02-04T12:53:14.372" v="8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2:29.037" v="81" actId="20577"/>
          <pc:sldLayoutMkLst>
            <pc:docMk/>
            <pc:sldMasterMk cId="0" sldId="2147483648"/>
            <pc:sldLayoutMk cId="0" sldId="2147483655"/>
          </pc:sldLayoutMkLst>
          <pc:spChg chg="mod">
            <ac:chgData name="경민 이" userId="dc253d44485ee1b0" providerId="LiveId" clId="{07276B1C-9E2C-4DDE-8C28-CAC4024F7BB3}" dt="2026-02-04T12:52:29.037" v="81" actId="20577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3:09.846" v="87"/>
          <pc:sldLayoutMkLst>
            <pc:docMk/>
            <pc:sldMasterMk cId="0" sldId="2147483648"/>
            <pc:sldLayoutMk cId="0" sldId="2147483656"/>
          </pc:sldLayoutMkLst>
          <pc:spChg chg="mod">
            <ac:chgData name="경민 이" userId="dc253d44485ee1b0" providerId="LiveId" clId="{07276B1C-9E2C-4DDE-8C28-CAC4024F7BB3}" dt="2026-02-04T12:53:09.846" v="87"/>
            <ac:spMkLst>
              <pc:docMk/>
              <pc:sldMasterMk cId="0" sldId="2147483648"/>
              <pc:sldLayoutMk cId="0" sldId="2147483656"/>
              <ac:spMk id="7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3:08.070" v="86"/>
          <pc:sldLayoutMkLst>
            <pc:docMk/>
            <pc:sldMasterMk cId="0" sldId="2147483648"/>
            <pc:sldLayoutMk cId="0" sldId="2147483657"/>
          </pc:sldLayoutMkLst>
          <pc:spChg chg="mod">
            <ac:chgData name="경민 이" userId="dc253d44485ee1b0" providerId="LiveId" clId="{07276B1C-9E2C-4DDE-8C28-CAC4024F7BB3}" dt="2026-02-04T12:53:08.070" v="86"/>
            <ac:spMkLst>
              <pc:docMk/>
              <pc:sldMasterMk cId="0" sldId="2147483648"/>
              <pc:sldLayoutMk cId="0" sldId="2147483657"/>
              <ac:spMk id="7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3:01.272" v="83"/>
          <pc:sldLayoutMkLst>
            <pc:docMk/>
            <pc:sldMasterMk cId="0" sldId="2147483648"/>
            <pc:sldLayoutMk cId="0" sldId="2147483658"/>
          </pc:sldLayoutMkLst>
          <pc:spChg chg="mod">
            <ac:chgData name="경민 이" userId="dc253d44485ee1b0" providerId="LiveId" clId="{07276B1C-9E2C-4DDE-8C28-CAC4024F7BB3}" dt="2026-02-04T12:53:01.272" v="83"/>
            <ac:spMkLst>
              <pc:docMk/>
              <pc:sldMasterMk cId="0" sldId="2147483648"/>
              <pc:sldLayoutMk cId="0" sldId="2147483658"/>
              <ac:spMk id="6" creationId="{00000000-0000-0000-0000-000000000000}"/>
            </ac:spMkLst>
          </pc:spChg>
        </pc:sldLayoutChg>
        <pc:sldLayoutChg chg="modSp mod">
          <pc:chgData name="경민 이" userId="dc253d44485ee1b0" providerId="LiveId" clId="{07276B1C-9E2C-4DDE-8C28-CAC4024F7BB3}" dt="2026-02-04T12:52:58.999" v="82"/>
          <pc:sldLayoutMkLst>
            <pc:docMk/>
            <pc:sldMasterMk cId="0" sldId="2147483648"/>
            <pc:sldLayoutMk cId="0" sldId="2147483659"/>
          </pc:sldLayoutMkLst>
          <pc:spChg chg="mod">
            <ac:chgData name="경민 이" userId="dc253d44485ee1b0" providerId="LiveId" clId="{07276B1C-9E2C-4DDE-8C28-CAC4024F7BB3}" dt="2026-02-04T12:52:58.999" v="82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89A0-1152-47D0-B477-42D99A3B35D9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15AC6-2F6E-42D4-BD66-A1C8152857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16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15AC6-2F6E-42D4-BD66-A1C81528574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67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A856-1F85-4076-8D57-D71AA134A56C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8F7F-6266-4E67-A1FC-42D94614EEEE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39C35-6CEF-4DEA-85A4-96073C02D501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1DA1-A663-4788-ACC2-7C6F36E086ED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2AE7-B05E-43AD-AEEE-0BAF138E1C25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D798-28F4-4123-8D78-A650AE3B8680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BE4AF-1DD3-4F34-A855-D45DD28E9388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&lt;#&gt; / 8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728B5-D453-475C-A364-F6EC7A52FA46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6F6A-624C-4DCC-97C1-AB0675160868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89C9-4A0C-493A-BD52-88856C4AEB30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CBAF-55A7-4190-A401-5C180BE25914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&lt;#&gt; / 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C800A-8CCA-49D1-A747-28E48BBC57DC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9400" y="13182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&lt;#&gt; /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1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5.png"/><Relationship Id="rId5" Type="http://schemas.openxmlformats.org/officeDocument/2006/relationships/image" Target="../media/image70.png"/><Relationship Id="rId10" Type="http://schemas.openxmlformats.org/officeDocument/2006/relationships/image" Target="../media/image74.png"/><Relationship Id="rId4" Type="http://schemas.openxmlformats.org/officeDocument/2006/relationships/image" Target="../media/image69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9800" y="8470900"/>
            <a:ext cx="1600200" cy="1600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7300" y="8470900"/>
            <a:ext cx="1574800" cy="157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90600" y="9309100"/>
            <a:ext cx="901700" cy="800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19400" y="8648700"/>
            <a:ext cx="12192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3100" y="9042400"/>
            <a:ext cx="1333500" cy="1333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endParaRPr lang="en-US" sz="2666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000500" y="4800600"/>
            <a:ext cx="16383000" cy="13208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운빨존많겜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86200" y="5740400"/>
            <a:ext cx="16611600" cy="2641600"/>
          </a:xfrm>
          <a:prstGeom prst="rect">
            <a:avLst/>
          </a:prstGeom>
        </p:spPr>
        <p:txBody>
          <a:bodyPr lIns="0" tIns="152400" rIns="0" bIns="152400" rtlCol="0" anchor="ctr"/>
          <a:lstStyle/>
          <a:p>
            <a:pPr lvl="0" algn="ctr">
              <a:lnSpc>
                <a:spcPct val="99600"/>
              </a:lnSpc>
            </a:pPr>
            <a:r>
              <a:rPr lang="en-US" sz="12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FUN QA - 재미 분석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58000" y="11874500"/>
            <a:ext cx="4051300" cy="965200"/>
          </a:xfrm>
          <a:prstGeom prst="rect">
            <a:avLst/>
          </a:prstGeom>
        </p:spPr>
        <p:txBody>
          <a:bodyPr lIns="0" tIns="55797" rIns="0" bIns="55797" rtlCol="0" anchor="ctr"/>
          <a:lstStyle/>
          <a:p>
            <a:pPr lvl="0" algn="ctr">
              <a:lnSpc>
                <a:spcPct val="99600"/>
              </a:lnSpc>
            </a:pPr>
            <a:r>
              <a:rPr lang="en-US" sz="439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작성자 : 이경민</a:t>
            </a: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967531C9-32F2-E9FB-D1CA-03C5CECE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r>
              <a:rPr lang="en-US" dirty="0"/>
              <a:t>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46100"/>
            <a:ext cx="231521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10795000"/>
            <a:ext cx="1346200" cy="1181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algn="ctr">
              <a:lnSpc>
                <a:spcPct val="99600"/>
              </a:lnSpc>
            </a:pPr>
            <a:endParaRPr lang="en-US" altLang="ko-KR" sz="2666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80400" y="41021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 dirty="0">
                <a:solidFill>
                  <a:srgbClr val="242629"/>
                </a:solidFill>
                <a:latin typeface="Pretendard Bold"/>
                <a:ea typeface="Pretendard Bold"/>
                <a:cs typeface="Pretendard Bold"/>
              </a:rPr>
              <a:t>목차1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45900" y="4013200"/>
            <a:ext cx="11772900" cy="9398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80400" y="56007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242629"/>
                </a:solidFill>
                <a:latin typeface="Pretendard Bold"/>
                <a:ea typeface="Pretendard Bold"/>
                <a:cs typeface="Pretendard Bold"/>
              </a:rPr>
              <a:t>목차2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45900" y="5511800"/>
            <a:ext cx="11772900" cy="9398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재미와 몰입의 원천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80400" y="70866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242629"/>
                </a:solidFill>
                <a:latin typeface="Pretendard Bold"/>
                <a:ea typeface="Pretendard Bold"/>
                <a:cs typeface="Pretendard Bold"/>
              </a:rPr>
              <a:t>목차3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45900" y="6997700"/>
            <a:ext cx="11772900" cy="9398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재미의 지속성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80400" y="85852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242629"/>
                </a:solidFill>
                <a:latin typeface="Pretendard Bold"/>
                <a:ea typeface="Pretendard Bold"/>
                <a:cs typeface="Pretendard Bold"/>
              </a:rPr>
              <a:t>목차4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45900" y="8496300"/>
            <a:ext cx="11772900" cy="9398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이탈 발생 요인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80400" y="100838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242629"/>
                </a:solidFill>
                <a:latin typeface="Pretendard Bold"/>
                <a:ea typeface="Pretendard Bold"/>
                <a:cs typeface="Pretendard Bold"/>
              </a:rPr>
              <a:t>목차5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45900" y="9994900"/>
            <a:ext cx="11772900" cy="9398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개선 및 발전 제안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5300" y="2438400"/>
            <a:ext cx="5232400" cy="21336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0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목차</a:t>
            </a:r>
            <a:endParaRPr lang="en-US" sz="120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E60D561C-04A7-B58F-92F8-A4D5C331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869400" y="131826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/>
              <a:t>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53300" cy="7353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" y="533400"/>
            <a:ext cx="23152100" cy="1206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78700" y="10350500"/>
            <a:ext cx="2540000" cy="2070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62700" y="9182100"/>
            <a:ext cx="3048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62700" y="11087100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43900" y="9182100"/>
            <a:ext cx="304800" cy="304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06800" y="8737600"/>
            <a:ext cx="3492500" cy="1181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endParaRPr lang="en-US" sz="2666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92300" y="1778000"/>
            <a:ext cx="12052300" cy="21336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개요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16100" y="4292600"/>
            <a:ext cx="12077700" cy="61976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게임  명 : 운빨존많겜 (111PERCENT)</a:t>
            </a: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장르 :  전략 타워디펜스</a:t>
            </a: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선정 이유 :  </a:t>
            </a: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기존의 랜덤 타워 디펜스 장르가 개인의 라인 방어에 치중했던 것과 달리 운빨존많겜은 유저 간 라인 간섭이 가능한 차별화된 구조를 통해 협동의 비중을 극대화한 타이틀로 현재 스토어 기준으로도 상위권에 유지하고 있으며 재밌게 플레이를 하고 있는 유저이기에 선택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78000" y="3670300"/>
            <a:ext cx="8140700" cy="4572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930400" y="11315700"/>
            <a:ext cx="16941800" cy="711200"/>
          </a:xfrm>
          <a:prstGeom prst="rect">
            <a:avLst/>
          </a:prstGeom>
        </p:spPr>
        <p:txBody>
          <a:bodyPr lIns="0" tIns="50717" rIns="0" bIns="50717" rtlCol="0" anchor="ctr"/>
          <a:lstStyle/>
          <a:p>
            <a:pPr lvl="0" algn="ctr">
              <a:lnSpc>
                <a:spcPct val="99600"/>
              </a:lnSpc>
            </a:pPr>
            <a:r>
              <a:rPr lang="en-US" sz="399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 목적 :  핵심 재미 요소를 구조적으로 파악하고, 이탈 요인을 분석하여 방안을 제시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605B4600-FF3F-1DCB-1D7C-73410198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/>
              <a:t>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11315700" cy="12573000"/>
          </a:xfrm>
          <a:prstGeom prst="rect">
            <a:avLst/>
          </a:prstGeom>
          <a:effectLst>
            <a:outerShdw blurRad="565757" dist="4351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0" y="533400"/>
            <a:ext cx="11315700" cy="12573000"/>
          </a:xfrm>
          <a:prstGeom prst="rect">
            <a:avLst/>
          </a:prstGeom>
          <a:effectLst>
            <a:outerShdw blurRad="565757" dist="4351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700" y="533400"/>
            <a:ext cx="113157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3700" y="1028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63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589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1016000"/>
            <a:ext cx="10414000" cy="11671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506700" y="939800"/>
            <a:ext cx="52070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endParaRPr lang="en-US" sz="2666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411200" y="2781300"/>
            <a:ext cx="9677400" cy="11684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3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재미와 몰입의 원천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11200" y="4330700"/>
            <a:ext cx="9626600" cy="8763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>
              <a:lnSpc>
                <a:spcPct val="99600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1. </a:t>
            </a:r>
            <a:r>
              <a:rPr lang="en-US" altLang="ko-KR" sz="4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확률에</a:t>
            </a:r>
            <a:r>
              <a:rPr lang="en-US" altLang="ko-KR" sz="4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4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의한</a:t>
            </a:r>
            <a:r>
              <a:rPr lang="en-US" altLang="ko-KR" sz="4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4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잭팟</a:t>
            </a:r>
            <a:r>
              <a:rPr lang="en-US" altLang="ko-KR" sz="4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4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경험</a:t>
            </a:r>
            <a:endParaRPr lang="en-US" sz="40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411200" y="5207000"/>
            <a:ext cx="9613900" cy="12954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동일한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재화를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소비해도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결과가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다른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비대칭적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보상</a:t>
            </a:r>
            <a:endParaRPr lang="en-US" altLang="ko-KR" sz="3466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>
              <a:lnSpc>
                <a:spcPct val="99600"/>
              </a:lnSpc>
            </a:pP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낮은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확률을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뚫고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영웅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/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전설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획득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강렬한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  <a:p>
            <a:pPr lvl="0">
              <a:lnSpc>
                <a:spcPct val="99600"/>
              </a:lnSpc>
            </a:pP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성취감과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도파민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충족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초반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약한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필드가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강력한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유닛으로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채워지며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적을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삭제시키는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쾌감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lang="en-US" sz="34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487400" y="7759700"/>
            <a:ext cx="9626600" cy="8763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>
              <a:lnSpc>
                <a:spcPct val="99600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2. </a:t>
            </a:r>
            <a:r>
              <a:rPr lang="en-US" altLang="ko-KR" sz="4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협동</a:t>
            </a:r>
            <a:r>
              <a:rPr lang="en-US" altLang="ko-KR" sz="4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4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플레이의</a:t>
            </a:r>
            <a:r>
              <a:rPr lang="en-US" altLang="ko-KR" sz="4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4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차별화</a:t>
            </a:r>
            <a:endParaRPr lang="en-US" sz="40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665200" y="8788400"/>
            <a:ext cx="9613900" cy="23495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경쟁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중심의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타워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디펜스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장르에서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탈피하여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파트너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와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공동의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목표를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가지고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wave를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클리어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해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나아가는</a:t>
            </a:r>
            <a:r>
              <a:rPr lang="en-US" altLang="ko-KR" sz="3466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466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</a:t>
            </a:r>
            <a:endParaRPr lang="en-US" sz="34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F90FCF04-A9B9-7060-42E9-95360A3C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/>
              <a:t>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6718300" y="1206500"/>
            <a:ext cx="10947400" cy="9525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3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목표를 설명하는 인포그래픽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235200"/>
            <a:ext cx="7061200" cy="10121900"/>
          </a:xfrm>
          <a:prstGeom prst="rect">
            <a:avLst/>
          </a:prstGeom>
          <a:effectLst>
            <a:outerShdw blurRad="352976" dist="271520" dir="4020000">
              <a:srgbClr val="000000">
                <a:alpha val="3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2235200"/>
            <a:ext cx="14312900" cy="5092700"/>
          </a:xfrm>
          <a:prstGeom prst="rect">
            <a:avLst/>
          </a:prstGeom>
          <a:effectLst>
            <a:outerShdw blurRad="348234" dist="178581" dir="4020000">
              <a:srgbClr val="000000">
                <a:alpha val="2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3800" y="7696200"/>
            <a:ext cx="14312900" cy="4648200"/>
          </a:xfrm>
          <a:prstGeom prst="rect">
            <a:avLst/>
          </a:prstGeom>
          <a:effectLst>
            <a:outerShdw blurRad="349088" dist="179019" dir="4020000">
              <a:srgbClr val="000000">
                <a:alpha val="2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0" y="6934200"/>
            <a:ext cx="10414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33400"/>
            <a:ext cx="23190200" cy="1206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1000" y="3213100"/>
            <a:ext cx="762000" cy="762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endParaRPr lang="en-US" sz="2666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82800" y="3200400"/>
            <a:ext cx="5600700" cy="10287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재미의</a:t>
            </a:r>
            <a:r>
              <a:rPr 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지속성</a:t>
            </a:r>
            <a:endParaRPr lang="en-US" sz="4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082800" y="4025900"/>
            <a:ext cx="5575300" cy="16383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EEEEEE"/>
                </a:solidFill>
                <a:latin typeface="Pretendard Medium"/>
                <a:ea typeface="Pretendard Medium"/>
                <a:cs typeface="Pretendard Medium"/>
              </a:rPr>
              <a:t>무작위성을 극복하는 </a:t>
            </a: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EEEEEE"/>
                </a:solidFill>
                <a:latin typeface="Pretendard Medium"/>
                <a:ea typeface="Pretendard Medium"/>
                <a:cs typeface="Pretendard Medium"/>
              </a:rPr>
              <a:t>전략적 유연성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82800" y="6083300"/>
            <a:ext cx="5537200" cy="546100"/>
          </a:xfrm>
          <a:prstGeom prst="rect">
            <a:avLst/>
          </a:prstGeom>
        </p:spPr>
        <p:txBody>
          <a:bodyPr lIns="0" tIns="3894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1.  시스템적 긴장감 조성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67078" y="2430884"/>
            <a:ext cx="13144500" cy="10287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2. </a:t>
            </a:r>
            <a:r>
              <a:rPr lang="en-US" sz="4666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학습에</a:t>
            </a:r>
            <a:r>
              <a:rPr lang="en-US" sz="4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666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따른</a:t>
            </a:r>
            <a:r>
              <a:rPr lang="en-US" sz="4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666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숙련도</a:t>
            </a:r>
            <a:endParaRPr lang="en-US" sz="4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791700" y="3251200"/>
            <a:ext cx="13106400" cy="393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단순 운빨을 넘어, 지식으로 확률을 통제하는 쾌감</a:t>
            </a:r>
          </a:p>
          <a:p>
            <a:pPr marL="342900" lvl="1" indent="-3429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 비대칭의 극복  -&gt; 오로지 유닛의 등급 과 공격력만 보고 판단하는게 아닌</a:t>
            </a:r>
          </a:p>
          <a:p>
            <a:pPr lvl="0" algn="l">
              <a:lnSpc>
                <a:spcPct val="166000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유닛의 타입을 파악하여 시너지나 밸런스 있는 조합을 구성</a:t>
            </a:r>
          </a:p>
          <a:p>
            <a:pPr marL="342900" lvl="1" indent="-3429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낮은 등급 유닛의 재발견 -&gt; 낮은 등급이더라도 CC기를 보유한 캐릭터를 이용하여</a:t>
            </a:r>
          </a:p>
          <a:p>
            <a:pPr lvl="0" algn="l">
              <a:lnSpc>
                <a:spcPct val="166000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몬스터를 묶어두어 팀 타임을 늘려 파트너와 함께 딜 타이밍을 벌어주는 플레이 가능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4400" y="8318500"/>
            <a:ext cx="13144500" cy="10287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상황별 역할 스위칭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4400" y="9296400"/>
            <a:ext cx="13385800" cy="210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좋아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높은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등급의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딜러를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많이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뽑았을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파트너를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재미</a:t>
            </a:r>
            <a:endParaRPr lang="en-US" sz="30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좋지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않아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딜이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부족할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때 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혹은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팀원의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필드가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강력할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때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CC기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혹은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시너지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유닛을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배치하여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몬스터를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묶어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나와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파트너의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딜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타임을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벌어주며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기여하는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또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재미</a:t>
            </a:r>
            <a:endParaRPr lang="en-US" sz="30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993900" y="7137400"/>
            <a:ext cx="5727700" cy="1485900"/>
          </a:xfrm>
          <a:prstGeom prst="rect">
            <a:avLst/>
          </a:prstGeom>
        </p:spPr>
        <p:txBody>
          <a:bodyPr lIns="0" tIns="38947" rIns="0" bIns="0" rtlCol="0" anchor="t"/>
          <a:lstStyle/>
          <a:p>
            <a:pPr marL="342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소환 비용의 점진적 증가 시스템이 매 순간 소환 vs 강화의 선택을 강요하여 긴장감 유지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2800" y="9156700"/>
            <a:ext cx="5537200" cy="1485900"/>
          </a:xfrm>
          <a:prstGeom prst="rect">
            <a:avLst/>
          </a:prstGeom>
        </p:spPr>
        <p:txBody>
          <a:bodyPr lIns="0" tIns="38947" rIns="0" bIns="0" rtlCol="0" anchor="t"/>
          <a:lstStyle/>
          <a:p>
            <a:pPr marL="342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합성이 항상 전력 상승을 보장하지 않는 랜덤 결과로 안정적 유지 vs 도박적 합성 사이의 갈등 유발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B378A017-9B6C-4B8E-2C1F-FB49E4E1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/>
              <a:t>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33400"/>
            <a:ext cx="231521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5207000"/>
            <a:ext cx="21869400" cy="7137400"/>
          </a:xfrm>
          <a:prstGeom prst="rect">
            <a:avLst/>
          </a:prstGeom>
          <a:effectLst>
            <a:outerShdw blurRad="513945" dist="263562" dir="4020000">
              <a:srgbClr val="000000">
                <a:alpha val="2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endParaRPr lang="en-US" sz="2666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073900" y="2781300"/>
            <a:ext cx="10223500" cy="11684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3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이탈 발생 요인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7150" y="3995057"/>
            <a:ext cx="21717000" cy="8763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dirty="0" err="1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통제</a:t>
            </a:r>
            <a:r>
              <a:rPr lang="en-US" sz="4000" b="0" i="0" u="none" strike="noStrike" dirty="0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4000" b="0" i="0" u="none" strike="noStrike" dirty="0" err="1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불가능한</a:t>
            </a:r>
            <a:r>
              <a:rPr lang="en-US" sz="4000" b="0" i="0" u="none" strike="noStrike" dirty="0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4000" b="0" i="0" u="none" strike="noStrike" dirty="0" err="1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리스크와</a:t>
            </a:r>
            <a:r>
              <a:rPr lang="en-US" sz="4000" b="0" i="0" u="none" strike="noStrike" dirty="0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4000" b="0" i="0" u="none" strike="noStrike" dirty="0" err="1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연대</a:t>
            </a:r>
            <a:r>
              <a:rPr lang="en-US" sz="4000" b="0" i="0" u="none" strike="noStrike" dirty="0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4000" b="0" i="0" u="none" strike="noStrike" dirty="0" err="1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책임의</a:t>
            </a:r>
            <a:r>
              <a:rPr lang="en-US" sz="4000" b="0" i="0" u="none" strike="noStrike" dirty="0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4000" b="0" i="0" u="none" strike="noStrike" dirty="0" err="1">
                <a:solidFill>
                  <a:srgbClr val="494A4E"/>
                </a:solidFill>
                <a:latin typeface="Pretendard Medium"/>
                <a:ea typeface="Pretendard Medium"/>
                <a:cs typeface="Pretendard Medium"/>
              </a:rPr>
              <a:t>불합리함</a:t>
            </a:r>
            <a:endParaRPr lang="en-US" sz="4000" b="0" i="0" u="none" strike="noStrike" dirty="0">
              <a:solidFill>
                <a:srgbClr val="494A4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44700" y="5486400"/>
            <a:ext cx="20523200" cy="61087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불가항력적인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패배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
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파트너의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이탈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(AFK/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강제종료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시,남은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1인이 2인분의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웨이브를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감당해야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함
 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개인의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실력으로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극복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불가능한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구조적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불합리함이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허무함과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즉각적인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이탈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2.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매칭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불균형에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따른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피로도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
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나의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성장과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무관하게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파트너의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미숙함이나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트롤링으로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터지는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역캐리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전략적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협동이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필수적이나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채팅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이모티콘을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무시하는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파트너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 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한판당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긴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플레이타임이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피로도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3.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통곡의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벽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스펙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격차</a:t>
            </a:r>
            <a:endParaRPr lang="en-US" sz="29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244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: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보통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난이도에는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전략으로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깰 수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있었지만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난이도가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올라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갈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수록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유닛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유물</a:t>
            </a:r>
            <a:endParaRPr lang="en-US" sz="29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펫 등 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등급이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낮으면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클리어하기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어려운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구간이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빠르게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찾아옵니다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550C3EB6-A6F0-6208-A3F3-7DFBAD4F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/>
              <a:t>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" y="533400"/>
            <a:ext cx="231521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100" y="5613400"/>
            <a:ext cx="5270500" cy="2400300"/>
          </a:xfrm>
          <a:prstGeom prst="rect">
            <a:avLst/>
          </a:prstGeom>
          <a:effectLst>
            <a:outerShdw blurRad="239903" dist="92271" dir="4020000">
              <a:srgbClr val="000000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3000" y="4965700"/>
            <a:ext cx="1333500" cy="133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3100" y="5613400"/>
            <a:ext cx="5270500" cy="2400300"/>
          </a:xfrm>
          <a:prstGeom prst="rect">
            <a:avLst/>
          </a:prstGeom>
          <a:effectLst>
            <a:outerShdw blurRad="239903" dist="92271" dir="4020000">
              <a:srgbClr val="000000">
                <a:alpha val="2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7302500" y="9969500"/>
            <a:ext cx="4813300" cy="298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혼자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남은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유저에게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재화나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공격력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/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공속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대폭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증가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등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버프를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해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위기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상황을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기회로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바꿀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기회를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lang="en-US" sz="32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90400" y="5613400"/>
            <a:ext cx="5270500" cy="2400300"/>
          </a:xfrm>
          <a:prstGeom prst="rect">
            <a:avLst/>
          </a:prstGeom>
          <a:effectLst>
            <a:outerShdw blurRad="239903" dist="92271" dir="4020000">
              <a:srgbClr val="000000">
                <a:alpha val="20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70400" y="5613400"/>
            <a:ext cx="5270500" cy="2400300"/>
          </a:xfrm>
          <a:prstGeom prst="rect">
            <a:avLst/>
          </a:prstGeom>
          <a:effectLst>
            <a:outerShdw blurRad="239903" dist="92271" dir="4020000">
              <a:srgbClr val="000000">
                <a:alpha val="20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11900" y="6019800"/>
            <a:ext cx="1600200" cy="1600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64600" y="6019800"/>
            <a:ext cx="1574800" cy="1574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62400" y="6210300"/>
            <a:ext cx="1219200" cy="1219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46200" y="6134100"/>
            <a:ext cx="1358900" cy="1358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91400" y="4965700"/>
            <a:ext cx="1333500" cy="1333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560300" y="4965700"/>
            <a:ext cx="1333500" cy="1333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640300" y="4953000"/>
            <a:ext cx="1333500" cy="1333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endParaRPr lang="en-US" sz="2666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374900" y="5156200"/>
            <a:ext cx="1397000" cy="9525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3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53300" y="5156200"/>
            <a:ext cx="1397000" cy="9525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3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34900" y="5156200"/>
            <a:ext cx="1397000" cy="9525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3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602200" y="5143500"/>
            <a:ext cx="1397000" cy="9525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3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35200" y="9042400"/>
            <a:ext cx="4864100" cy="8255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1단계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08245" y="9969500"/>
            <a:ext cx="48133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파트너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끊킴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감지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몬스터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체력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생성량을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1인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기준으로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하양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조정하여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물리적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클리어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가능성을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lang="en-US" sz="32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315200" y="9042400"/>
            <a:ext cx="4864100" cy="8255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2단계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95200" y="9042400"/>
            <a:ext cx="4864100" cy="8255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3단계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50750" y="9969500"/>
            <a:ext cx="4876800" cy="176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해금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어려운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신화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해금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완화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수급처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증가</a:t>
            </a:r>
            <a:endParaRPr lang="en-US" sz="32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7462500" y="9042400"/>
            <a:ext cx="4864100" cy="8255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4단계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462500" y="9969500"/>
            <a:ext cx="48133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복귀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나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유저들을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위한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자동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혹은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기간제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유닛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도입으로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진입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장벽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완화</a:t>
            </a:r>
            <a:endParaRPr lang="en-US" sz="32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073900" y="2781300"/>
            <a:ext cx="10223500" cy="11684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3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개선 및 발전 제안</a:t>
            </a:r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F8A2C528-6DBF-4117-000D-3FA00A4C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/>
              <a:t> / 8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33400"/>
            <a:ext cx="231521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9800" y="8470900"/>
            <a:ext cx="1600200" cy="1600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17300" y="8470900"/>
            <a:ext cx="1574800" cy="157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90600" y="9309100"/>
            <a:ext cx="901700" cy="800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19400" y="8648700"/>
            <a:ext cx="12192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3100" y="9042400"/>
            <a:ext cx="1333500" cy="1333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endParaRPr lang="en-US" sz="2666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886200" y="5740400"/>
            <a:ext cx="16611600" cy="2641600"/>
          </a:xfrm>
          <a:prstGeom prst="rect">
            <a:avLst/>
          </a:prstGeom>
        </p:spPr>
        <p:txBody>
          <a:bodyPr lIns="0" tIns="152400" rIns="0" bIns="152400" rtlCol="0" anchor="ctr"/>
          <a:lstStyle/>
          <a:p>
            <a:pPr lvl="0" algn="ctr">
              <a:lnSpc>
                <a:spcPct val="99600"/>
              </a:lnSpc>
            </a:pPr>
            <a:r>
              <a:rPr lang="en-US" sz="12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감사합니다!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47DB0428-E0CC-8231-039A-B674DC6D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/>
              <a:t>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543</Words>
  <Application>Microsoft Office PowerPoint</Application>
  <PresentationFormat>사용자 지정</PresentationFormat>
  <Paragraphs>71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Pretendard Bold</vt:lpstr>
      <vt:lpstr>Pretendard Regular</vt:lpstr>
      <vt:lpstr>Calibri</vt:lpstr>
      <vt:lpstr>맑은 고딕</vt:lpstr>
      <vt:lpstr>Pretendard Light</vt:lpstr>
      <vt:lpstr>Arial</vt:lpstr>
      <vt:lpstr>Pretendard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경민 이</cp:lastModifiedBy>
  <cp:revision>8</cp:revision>
  <dcterms:created xsi:type="dcterms:W3CDTF">2006-08-16T00:00:00Z</dcterms:created>
  <dcterms:modified xsi:type="dcterms:W3CDTF">2026-09-16T07:17:38Z</dcterms:modified>
</cp:coreProperties>
</file>