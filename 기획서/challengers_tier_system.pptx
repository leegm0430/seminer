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요구 포인트</c:v>
                </c:pt>
              </c:strCache>
            </c:strRef>
          </c:tx>
          <c:spPr>
            <a:solidFill>
              <a:srgbClr val="F0B42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브론즈</c:v>
                  </c:pt>
                  <c:pt idx="1">
                    <c:v>실버</c:v>
                  </c:pt>
                  <c:pt idx="2">
                    <c:v>골드</c:v>
                  </c:pt>
                  <c:pt idx="3">
                    <c:v>플래티넘</c:v>
                  </c:pt>
                  <c:pt idx="4">
                    <c:v>에메랄드</c:v>
                  </c:pt>
                  <c:pt idx="5">
                    <c:v>사파이어</c:v>
                  </c:pt>
                  <c:pt idx="6">
                    <c:v>다이아</c:v>
                  </c:pt>
                  <c:pt idx="7">
                    <c:v>마스터</c:v>
                  </c:pt>
                  <c:pt idx="8">
                    <c:v>챌린저/슈챌</c:v>
                  </c:pt>
                  <c:pt idx="9">
                    <c:v>시즌 최대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5000</c:v>
                </c:pt>
                <c:pt idx="1">
                  <c:v>10000</c:v>
                </c:pt>
                <c:pt idx="2">
                  <c:v>15000</c:v>
                </c:pt>
                <c:pt idx="3">
                  <c:v>20000</c:v>
                </c:pt>
                <c:pt idx="4">
                  <c:v>30000</c:v>
                </c:pt>
                <c:pt idx="5">
                  <c:v>40000</c:v>
                </c:pt>
                <c:pt idx="6">
                  <c:v>50000</c:v>
                </c:pt>
                <c:pt idx="7">
                  <c:v>70000</c:v>
                </c:pt>
                <c:pt idx="8">
                  <c:v>90000</c:v>
                </c:pt>
                <c:pt idx="9">
                  <c:v>138000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AA6CF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3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AA6C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2142"/>
        </a:solidFill>
        <a:ln>
          <a:noFill/>
        </a:ln>
        <a:effectLst/>
      </c:spPr>
    </c:plotArea>
    <c:plotVisOnly val="1"/>
    <c:dispBlanksAs val="span"/>
  </c:chart>
  <c:spPr>
    <a:solidFill>
      <a:srgbClr val="1B21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201168" cy="201168"/>
          </a:xfrm>
          <a:prstGeom prst="ellipse">
            <a:avLst/>
          </a:prstGeom>
          <a:solidFill>
            <a:srgbClr val="C98A4B"/>
          </a:solidFill>
          <a:ln/>
        </p:spPr>
      </p:sp>
      <p:sp>
        <p:nvSpPr>
          <p:cNvPr id="3" name="Shape 1"/>
          <p:cNvSpPr/>
          <p:nvPr/>
        </p:nvSpPr>
        <p:spPr>
          <a:xfrm>
            <a:off x="1609344" y="777240"/>
            <a:ext cx="213970" cy="213970"/>
          </a:xfrm>
          <a:prstGeom prst="ellipse">
            <a:avLst/>
          </a:prstGeom>
          <a:solidFill>
            <a:srgbClr val="C9CFDD"/>
          </a:solidFill>
          <a:ln/>
        </p:spPr>
      </p:sp>
      <p:sp>
        <p:nvSpPr>
          <p:cNvPr id="4" name="Shape 2"/>
          <p:cNvSpPr/>
          <p:nvPr/>
        </p:nvSpPr>
        <p:spPr>
          <a:xfrm>
            <a:off x="2395728" y="777240"/>
            <a:ext cx="226771" cy="226771"/>
          </a:xfrm>
          <a:prstGeom prst="ellipse">
            <a:avLst/>
          </a:prstGeom>
          <a:solidFill>
            <a:srgbClr val="F5C542"/>
          </a:solidFill>
          <a:ln/>
        </p:spPr>
      </p:sp>
      <p:sp>
        <p:nvSpPr>
          <p:cNvPr id="5" name="Shape 3"/>
          <p:cNvSpPr/>
          <p:nvPr/>
        </p:nvSpPr>
        <p:spPr>
          <a:xfrm>
            <a:off x="3182112" y="777240"/>
            <a:ext cx="239573" cy="239573"/>
          </a:xfrm>
          <a:prstGeom prst="ellipse">
            <a:avLst/>
          </a:prstGeom>
          <a:solidFill>
            <a:srgbClr val="8FE3D0"/>
          </a:solidFill>
          <a:ln/>
        </p:spPr>
      </p:sp>
      <p:sp>
        <p:nvSpPr>
          <p:cNvPr id="6" name="Shape 4"/>
          <p:cNvSpPr/>
          <p:nvPr/>
        </p:nvSpPr>
        <p:spPr>
          <a:xfrm>
            <a:off x="3968496" y="777240"/>
            <a:ext cx="252374" cy="252374"/>
          </a:xfrm>
          <a:prstGeom prst="ellipse">
            <a:avLst/>
          </a:prstGeom>
          <a:solidFill>
            <a:srgbClr val="3DD68C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777240"/>
            <a:ext cx="265176" cy="265176"/>
          </a:xfrm>
          <a:prstGeom prst="ellipse">
            <a:avLst/>
          </a:prstGeom>
          <a:solidFill>
            <a:srgbClr val="4D8DF7"/>
          </a:solidFill>
          <a:ln/>
        </p:spPr>
      </p:sp>
      <p:sp>
        <p:nvSpPr>
          <p:cNvPr id="8" name="Shape 6"/>
          <p:cNvSpPr/>
          <p:nvPr/>
        </p:nvSpPr>
        <p:spPr>
          <a:xfrm>
            <a:off x="5541264" y="777240"/>
            <a:ext cx="277978" cy="277978"/>
          </a:xfrm>
          <a:prstGeom prst="ellipse">
            <a:avLst/>
          </a:prstGeom>
          <a:solidFill>
            <a:srgbClr val="9AD8FF"/>
          </a:solidFill>
          <a:ln/>
        </p:spPr>
      </p:sp>
      <p:sp>
        <p:nvSpPr>
          <p:cNvPr id="9" name="Shape 7"/>
          <p:cNvSpPr/>
          <p:nvPr/>
        </p:nvSpPr>
        <p:spPr>
          <a:xfrm>
            <a:off x="6327648" y="777240"/>
            <a:ext cx="290779" cy="290779"/>
          </a:xfrm>
          <a:prstGeom prst="ellipse">
            <a:avLst/>
          </a:prstGeom>
          <a:solidFill>
            <a:srgbClr val="B57BFF"/>
          </a:solidFill>
          <a:ln/>
        </p:spPr>
      </p:sp>
      <p:sp>
        <p:nvSpPr>
          <p:cNvPr id="10" name="Shape 8"/>
          <p:cNvSpPr/>
          <p:nvPr/>
        </p:nvSpPr>
        <p:spPr>
          <a:xfrm>
            <a:off x="7114032" y="777240"/>
            <a:ext cx="303581" cy="303581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1" name="Shape 9"/>
          <p:cNvSpPr/>
          <p:nvPr/>
        </p:nvSpPr>
        <p:spPr>
          <a:xfrm>
            <a:off x="7900416" y="777240"/>
            <a:ext cx="316382" cy="316382"/>
          </a:xfrm>
          <a:prstGeom prst="ellipse">
            <a:avLst/>
          </a:prstGeom>
          <a:solidFill>
            <a:srgbClr val="FF5D5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4173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DESIGN DOCUMENT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178308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챌린저스 월드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티어 시스템 역기획서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2960" y="3429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메이플스토리 챌린저스 월드 시즌4 (OVERDRIVE) 기준  |  2026.06.18 – 09.17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977640"/>
            <a:ext cx="950976" cy="384048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77640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명세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938528" y="39776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18" name="Text 16"/>
          <p:cNvSpPr/>
          <p:nvPr/>
        </p:nvSpPr>
        <p:spPr>
          <a:xfrm>
            <a:off x="1938528" y="3977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테이블 정의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0" y="3977640"/>
            <a:ext cx="1687068" cy="384048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3977640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UI/UX · 예외 처리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26380" y="3977640"/>
            <a:ext cx="2423160" cy="384048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22" name="Text 20"/>
          <p:cNvSpPr/>
          <p:nvPr/>
        </p:nvSpPr>
        <p:spPr>
          <a:xfrm>
            <a:off x="5326380" y="39776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연계: 시즌4 콘텐츠 분석서 v2.0</a:t>
            </a:r>
            <a:endParaRPr lang="en-US" sz="10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818120" y="411480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개요 및 분석 범위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문서는 티어 시스템을 개발·QA가 참조 가능한 수준으로 명세하는 것을 목표로 한다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31920" cy="3520440"/>
          </a:xfrm>
          <a:prstGeom prst="roundRect">
            <a:avLst>
              <a:gd name="adj" fmla="val 2078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정보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시스템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1783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챌린저스 티어 시스템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350008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버전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23500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시즌4 (OVERDRIVE)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916936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귀속 단위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291693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메이플ID × 챌린저스 월드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483864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표기 원칙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348386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사양은 평서, 미확인 내부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규칙은 ※추정으로 구분 표기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1188720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371600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230368" y="1353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범위 — 포함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230368" y="1719072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 획득 규칙 · 티어 산정/승급 · 관문 보스 연동 · 슈퍼챌린저 랭킹 · 패시브/결계/보상 연동 · 반지 분기 · UI/UX · 예외 처리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617720" y="3017520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20040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30368" y="3182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범위 — 제외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230368" y="3547872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미션·시즌 미션 (코인 전용, 티어 미관여)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챌린저스 코인샵 · 챌린저스 패스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아이템 버닝 (별도 역기획서에서 다룸)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정의와 기획 목표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성장과 격파 성과를 포인트로 수치화해 10단계 티어를 부여하는 월드 단위 진행도·경쟁 시스템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69080" cy="1627632"/>
          </a:xfrm>
          <a:prstGeom prst="roundRect">
            <a:avLst>
              <a:gd name="adj" fmla="val 4494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453896"/>
            <a:ext cx="475488" cy="475488"/>
          </a:xfrm>
          <a:prstGeom prst="ellipse">
            <a:avLst/>
          </a:prstGeom>
          <a:solidFill>
            <a:srgbClr val="232B5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568196"/>
            <a:ext cx="246888" cy="24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4356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A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01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325880" y="16733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성장의 수치화·목표화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21031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"다음에 뭘 해야 하는가"를 포인트라는 단일 지표로 환원, 시즌 전 기간 목표를 상시 제공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17720" y="1234440"/>
            <a:ext cx="4069080" cy="1627632"/>
          </a:xfrm>
          <a:prstGeom prst="roundRect">
            <a:avLst>
              <a:gd name="adj" fmla="val 4494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1453896"/>
            <a:ext cx="475488" cy="475488"/>
          </a:xfrm>
          <a:prstGeom prst="ellipse">
            <a:avLst/>
          </a:prstGeom>
          <a:solidFill>
            <a:srgbClr val="232B5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56819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14356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A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02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486400" y="16733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경쟁과 육성의 결합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873752" y="21031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티어 상승 = 패시브·결계 강화. 경쟁 참여가 곧 육성 효율로 직결되는 단일 루프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7200" y="2999232"/>
            <a:ext cx="4069080" cy="1627632"/>
          </a:xfrm>
          <a:prstGeom prst="roundRect">
            <a:avLst>
              <a:gd name="adj" fmla="val 4494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85800" y="3218688"/>
            <a:ext cx="475488" cy="475488"/>
          </a:xfrm>
          <a:prstGeom prst="ellipse">
            <a:avLst/>
          </a:prstGeom>
          <a:solidFill>
            <a:srgbClr val="232B5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332988"/>
            <a:ext cx="246888" cy="2468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25880" y="32004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A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03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325880" y="34381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+ 실력의 이원 검증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713232" y="386791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티어에 포인트(시간)와 관문 보스 격파(실력)를 동시 요구해 랭킹 권위 확보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617720" y="2999232"/>
            <a:ext cx="4069080" cy="1627632"/>
          </a:xfrm>
          <a:prstGeom prst="roundRect">
            <a:avLst>
              <a:gd name="adj" fmla="val 4494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846320" y="3218688"/>
            <a:ext cx="475488" cy="475488"/>
          </a:xfrm>
          <a:prstGeom prst="ellipse">
            <a:avLst/>
          </a:prstGeom>
          <a:solidFill>
            <a:srgbClr val="232B57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620" y="3332988"/>
            <a:ext cx="246888" cy="2468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86400" y="32004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A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04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5486400" y="34381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서버 환류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4873752" y="386791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티어 보상을 정착 예정 월드에서 수령 가능하게 해 시즌 성취를 장기 리텐션 자산화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입력(미션) → 포인트 누적 → 티어 판정 → 4개 하위 시스템 연동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600200" cy="640080"/>
          </a:xfrm>
          <a:prstGeom prst="roundRect">
            <a:avLst>
              <a:gd name="adj" fmla="val 10000"/>
            </a:avLst>
          </a:prstGeom>
          <a:solidFill>
            <a:srgbClr val="232B57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17320"/>
            <a:ext cx="1600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 미션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(36,700P)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1600200" cy="640080"/>
          </a:xfrm>
          <a:prstGeom prst="roundRect">
            <a:avLst>
              <a:gd name="adj" fmla="val 10000"/>
            </a:avLst>
          </a:prstGeom>
          <a:solidFill>
            <a:srgbClr val="232B57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보스 미션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(101,300P)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057400" y="1737360"/>
            <a:ext cx="502920" cy="502920"/>
          </a:xfrm>
          <a:prstGeom prst="line">
            <a:avLst/>
          </a:prstGeom>
          <a:noFill/>
          <a:ln w="25400">
            <a:solidFill>
              <a:srgbClr val="9AA6C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057400" y="2834640"/>
            <a:ext cx="502920" cy="-502920"/>
          </a:xfrm>
          <a:prstGeom prst="line">
            <a:avLst/>
          </a:prstGeom>
          <a:noFill/>
          <a:ln w="25400">
            <a:solidFill>
              <a:srgbClr val="9AA6C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60320" y="1965960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1965960"/>
            <a:ext cx="18288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챌린저스 포인트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(ID 귀속)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2354580"/>
            <a:ext cx="457200" cy="0"/>
          </a:xfrm>
          <a:prstGeom prst="line">
            <a:avLst/>
          </a:prstGeom>
          <a:noFill/>
          <a:ln w="25400">
            <a:solidFill>
              <a:srgbClr val="9AA6C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46320" y="1783080"/>
            <a:ext cx="1691640" cy="1143000"/>
          </a:xfrm>
          <a:prstGeom prst="roundRect">
            <a:avLst>
              <a:gd name="adj" fmla="val 5600"/>
            </a:avLst>
          </a:prstGeom>
          <a:solidFill>
            <a:srgbClr val="F0B429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1783080"/>
            <a:ext cx="169164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01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티어 판정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01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(10단계)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26280" y="3657600"/>
            <a:ext cx="2331720" cy="548640"/>
          </a:xfrm>
          <a:prstGeom prst="roundRect">
            <a:avLst>
              <a:gd name="adj" fmla="val 11667"/>
            </a:avLst>
          </a:prstGeom>
          <a:solidFill>
            <a:srgbClr val="232B57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26280" y="3657600"/>
            <a:ext cx="23317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관문 보스 격파 여부 (메이린)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26280" y="4343400"/>
            <a:ext cx="2331720" cy="548640"/>
          </a:xfrm>
          <a:prstGeom prst="roundRect">
            <a:avLst>
              <a:gd name="adj" fmla="val 11667"/>
            </a:avLst>
          </a:prstGeom>
          <a:solidFill>
            <a:srgbClr val="232B57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26280" y="4343400"/>
            <a:ext cx="23317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슈퍼챌린저 랭킹 정원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3657600"/>
            <a:ext cx="0" cy="-713232"/>
          </a:xfrm>
          <a:prstGeom prst="line">
            <a:avLst/>
          </a:prstGeom>
          <a:noFill/>
          <a:ln w="25400">
            <a:solidFill>
              <a:srgbClr val="9AA6C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669280" y="4343400"/>
            <a:ext cx="0" cy="-118872"/>
          </a:xfrm>
          <a:prstGeom prst="line">
            <a:avLst/>
          </a:prstGeom>
          <a:noFill/>
          <a:ln w="25400">
            <a:solidFill>
              <a:srgbClr val="9AA6C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178040" y="1234440"/>
            <a:ext cx="1600200" cy="658368"/>
          </a:xfrm>
          <a:prstGeom prst="roundRect">
            <a:avLst>
              <a:gd name="adj" fmla="val 9722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78040" y="1234440"/>
            <a:ext cx="16002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챌린저스 패시브 강화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37960" y="2354580"/>
            <a:ext cx="621792" cy="-790956"/>
          </a:xfrm>
          <a:prstGeom prst="line">
            <a:avLst/>
          </a:prstGeom>
          <a:noFill/>
          <a:ln w="25400">
            <a:solidFill>
              <a:srgbClr val="9AA6C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178040" y="2130552"/>
            <a:ext cx="1600200" cy="658368"/>
          </a:xfrm>
          <a:prstGeom prst="roundRect">
            <a:avLst>
              <a:gd name="adj" fmla="val 9722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178040" y="2130552"/>
            <a:ext cx="16002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의문의 결계 해금 단계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37960" y="2354580"/>
            <a:ext cx="621792" cy="105156"/>
          </a:xfrm>
          <a:prstGeom prst="line">
            <a:avLst/>
          </a:prstGeom>
          <a:noFill/>
          <a:ln w="25400">
            <a:solidFill>
              <a:srgbClr val="9AA6C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178040" y="3026664"/>
            <a:ext cx="1600200" cy="658368"/>
          </a:xfrm>
          <a:prstGeom prst="roundRect">
            <a:avLst>
              <a:gd name="adj" fmla="val 9722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78040" y="3026664"/>
            <a:ext cx="16002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티어별 보상 지급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37960" y="2354580"/>
            <a:ext cx="621792" cy="1001268"/>
          </a:xfrm>
          <a:prstGeom prst="line">
            <a:avLst/>
          </a:prstGeom>
          <a:noFill/>
          <a:ln w="25400">
            <a:solidFill>
              <a:srgbClr val="9AA6C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178040" y="3922776"/>
            <a:ext cx="1600200" cy="658368"/>
          </a:xfrm>
          <a:prstGeom prst="roundRect">
            <a:avLst>
              <a:gd name="adj" fmla="val 9722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178040" y="3922776"/>
            <a:ext cx="16002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훈장 · 랭킹 표시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537960" y="2354580"/>
            <a:ext cx="621792" cy="1897380"/>
          </a:xfrm>
          <a:prstGeom prst="line">
            <a:avLst/>
          </a:prstGeom>
          <a:noFill/>
          <a:ln w="25400">
            <a:solidFill>
              <a:srgbClr val="9AA6CF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 획득 규칙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티어 포인트는 레벨 미션과 보스 미션에서만 발생한다 — 접속 일수가 아닌 성장 성과 중심 설계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2624328" cy="1051560"/>
          </a:xfrm>
          <a:prstGeom prst="roundRect">
            <a:avLst>
              <a:gd name="adj" fmla="val 6957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16736"/>
            <a:ext cx="262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138,000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최대 포인트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1207008"/>
            <a:ext cx="2624328" cy="1051560"/>
          </a:xfrm>
          <a:prstGeom prst="roundRect">
            <a:avLst>
              <a:gd name="adj" fmla="val 6957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64408" y="1316736"/>
            <a:ext cx="262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36,700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64408" y="18745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 미션 누계 (260~290)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71616" y="1207008"/>
            <a:ext cx="2624328" cy="1051560"/>
          </a:xfrm>
          <a:prstGeom prst="roundRect">
            <a:avLst>
              <a:gd name="adj" fmla="val 6957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71616" y="1316736"/>
            <a:ext cx="262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101,300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71616" y="18745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보스 미션 누계 (1인 격파)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87168"/>
            <a:ext cx="5029200" cy="2240280"/>
          </a:xfrm>
          <a:prstGeom prst="roundRect">
            <a:avLst>
              <a:gd name="adj" fmla="val 3265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" y="26517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판정 규칙 (발췌)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" y="301752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R-06  파티원 1인 상태로 마지막 페이즈 처치 시 완료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R-07  연습 모드 클리어도 인정 — 주간 결정석 경제와 티어 경쟁을 분리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R-08  상위 난이도 격파 시 하위 미션 일괄 완료·보상 누적 지급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R-04  포인트는 차감·소멸되지 않으며 티어는 하락하지 않는다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15000" y="2487168"/>
            <a:ext cx="2971800" cy="2240280"/>
          </a:xfrm>
          <a:prstGeom prst="roundRect">
            <a:avLst>
              <a:gd name="adj" fmla="val 3265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0" y="26517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보스 배점 구간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0" y="2999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(카자쿰~카파풀)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699248" y="2999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100~300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33284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중위 (노스우~노듄켈)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699248" y="33284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400~1,000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(하드~카오스)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699248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1,500~3,000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39867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최상위 (검마~카링)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99248" y="3986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6,000~9,000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43159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보스 메이린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699248" y="43159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/ 9,000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티어 산정 규칙 — 티어 래더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 컷 + 관문 조건. 승급 판정은 충족 순서와 무관하며 즉시 수행된다 (R-10~12)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749808" cy="914400"/>
          </a:xfrm>
          <a:prstGeom prst="roundRect">
            <a:avLst>
              <a:gd name="adj" fmla="val 6098"/>
            </a:avLst>
          </a:prstGeom>
          <a:solidFill>
            <a:srgbClr val="C98A4B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2336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3364992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브론즈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298448" y="2249424"/>
            <a:ext cx="749808" cy="1042416"/>
          </a:xfrm>
          <a:prstGeom prst="roundRect">
            <a:avLst>
              <a:gd name="adj" fmla="val 6098"/>
            </a:avLst>
          </a:prstGeom>
          <a:solidFill>
            <a:srgbClr val="C9CFD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43584" y="195681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07008" y="3364992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실버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139696" y="2121408"/>
            <a:ext cx="749808" cy="1170432"/>
          </a:xfrm>
          <a:prstGeom prst="roundRect">
            <a:avLst>
              <a:gd name="adj" fmla="val 6098"/>
            </a:avLst>
          </a:prstGeom>
          <a:solidFill>
            <a:srgbClr val="F5C5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84832" y="1828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15,000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048256" y="3364992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골드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980944" y="1993392"/>
            <a:ext cx="749808" cy="1298448"/>
          </a:xfrm>
          <a:prstGeom prst="roundRect">
            <a:avLst>
              <a:gd name="adj" fmla="val 6098"/>
            </a:avLst>
          </a:prstGeom>
          <a:solidFill>
            <a:srgbClr val="8FE3D0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26080" y="17007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889504" y="3364992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플래티넘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22192" y="1865376"/>
            <a:ext cx="749808" cy="1426464"/>
          </a:xfrm>
          <a:prstGeom prst="roundRect">
            <a:avLst>
              <a:gd name="adj" fmla="val 6098"/>
            </a:avLst>
          </a:prstGeom>
          <a:solidFill>
            <a:srgbClr val="3DD68C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67328" y="15727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730752" y="3364992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에메랄드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1737360"/>
            <a:ext cx="749808" cy="1554480"/>
          </a:xfrm>
          <a:prstGeom prst="roundRect">
            <a:avLst>
              <a:gd name="adj" fmla="val 6098"/>
            </a:avLst>
          </a:prstGeom>
          <a:solidFill>
            <a:srgbClr val="4D8DF7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08576" y="14447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40,000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0" y="3364992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사파이어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504688" y="1609344"/>
            <a:ext cx="749808" cy="1682496"/>
          </a:xfrm>
          <a:prstGeom prst="roundRect">
            <a:avLst>
              <a:gd name="adj" fmla="val 6098"/>
            </a:avLst>
          </a:prstGeom>
          <a:solidFill>
            <a:srgbClr val="9AD8FF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49824" y="131673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13248" y="3364992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다이아몬드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345936" y="1481328"/>
            <a:ext cx="749808" cy="1810512"/>
          </a:xfrm>
          <a:prstGeom prst="roundRect">
            <a:avLst>
              <a:gd name="adj" fmla="val 6098"/>
            </a:avLst>
          </a:prstGeom>
          <a:solidFill>
            <a:srgbClr val="B57BFF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91072" y="11887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70,000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54496" y="3364992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마스터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187184" y="1353312"/>
            <a:ext cx="749808" cy="1938528"/>
          </a:xfrm>
          <a:prstGeom prst="roundRect">
            <a:avLst>
              <a:gd name="adj" fmla="val 6098"/>
            </a:avLst>
          </a:prstGeom>
          <a:solidFill>
            <a:srgbClr val="F0B429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132320" y="106070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90,000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095744" y="3364992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챌린저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028432" y="1225296"/>
            <a:ext cx="749808" cy="2066544"/>
          </a:xfrm>
          <a:prstGeom prst="roundRect">
            <a:avLst>
              <a:gd name="adj" fmla="val 6098"/>
            </a:avLst>
          </a:prstGeom>
          <a:solidFill>
            <a:srgbClr val="FF5D5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973568" y="93268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90,000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936992" y="3364992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슈퍼챌린저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61888" y="3913632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961888" y="39136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관문: 메이린 노멀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534656" y="3913632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534656" y="39136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관문: 메이린 하드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슈퍼챌린저 = 90,000P + 하드 메이린 격파 + 랭킹 999등 이내 선착순 (1,000등부터는 챌린저 티어)   |   챌린저스4 월드는 정원 50등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슈퍼챌린저 랭킹 규칙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조건 충족 시각의 선착순 — 시즌 개막 초반 최상위권 레이스를 만드는 장치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173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999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챌린저스 1~3 월드별 정원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1280160"/>
            <a:ext cx="4069080" cy="1737360"/>
          </a:xfrm>
          <a:prstGeom prst="roundRect">
            <a:avLst>
              <a:gd name="adj" fmla="val 4211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4173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617720" y="23774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챌린저스4 정원 (에오스/핼리오스 리프 전용, 약 5% 스케일)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8229600" cy="1481328"/>
          </a:xfrm>
          <a:prstGeom prst="roundRect">
            <a:avLst>
              <a:gd name="adj" fmla="val 4938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" y="3456432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R-14  순위 = 슈퍼챌린저 조건(90,000P + 하드 메이린) 최종 충족 시각의 선착순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R-15  정원 초과 이후 충족자는 챌린저 티어 유지 — 결원 승계 없음 (※추정)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R-16  1~10위 전용 훈장(1st~10th) 부여, 챌린저 훈장에는 달성 순위 각인 — 과시 위계의 시각화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티어 연동 효과 — 챌린저스 패시브 (전 티어)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승급 즉시 월드 내 전 캐릭터의 패시브가 갱신된다 (R-17) · 다이아몬드에서 전 효과 개방 (R-18)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60704"/>
                <a:gridCol w="1060704"/>
                <a:gridCol w="1060704"/>
                <a:gridCol w="1060704"/>
                <a:gridCol w="1060704"/>
                <a:gridCol w="1097280"/>
              </a:tblGrid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비기너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브론즈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골드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플래티넘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에메랄드+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경험치 획득량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공격력 / 마력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+60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+70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+80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몬스터 데미지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+100%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+150%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+150%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+150%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+150%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+150%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보스 몬스터 데미지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+40%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+60%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+70%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방어율 무시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+40%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+60%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+70%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버프 지속 시간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+60%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크리티컬 데미지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+35%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+40%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올스탯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+60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+70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+90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+100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HP / MP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+2,500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+2,500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+3,000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+3,500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+4,500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+5,000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메소 획득 / 드롭률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+20%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5902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티어 공통: 크리티컬 확률 +30% · 스탠스 +100% · 소환수 지속 +10% · 쿨타임 5% 감소 · 길드 기여도 2배 · 해방된 룬 지속 +50%   |   메소/드롭 +20%는 사파이어~다이아몬드 구간에서 추가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티어 연동 효과 — 결계 해금 단계별 핵 등장 확률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티어가 오르면 하위 핵이 등장 테이블에서 제거되어 기대값이 구조적으로 상승한다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914400"/>
                <a:gridCol w="1737360"/>
                <a:gridCol w="969264"/>
                <a:gridCol w="969264"/>
                <a:gridCol w="969264"/>
                <a:gridCol w="969264"/>
                <a:gridCol w="969264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결계 등급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해제 가능 티어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에픽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유니크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레전드리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1단계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초소형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골드 미만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67.49%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30.45%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2.03%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0.023%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0.007%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2단계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골드 이상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52.60%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31.40%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15.70%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0.25%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0.05%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3단계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에메랄드 이상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49.95%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29.95%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14.95%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5.05%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4단계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사파이어 이상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29.95%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62.88%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6.65%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0.52%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5단계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초대형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다이아몬드 이상 (최종)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91.85%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7.10%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1.05%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886200"/>
            <a:ext cx="4005072" cy="914400"/>
          </a:xfrm>
          <a:prstGeom prst="roundRect">
            <a:avLst>
              <a:gd name="adj" fmla="val 7000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8368" y="3995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핵의 단계적 제거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426110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4단계(사파이어)부터 노멀 핵, 5단계(다이아몬드)부터 레어 핵까지 제거 — 최소 등급이 에픽으로 상승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681728" y="3886200"/>
            <a:ext cx="4005072" cy="914400"/>
          </a:xfrm>
          <a:prstGeom prst="roundRect">
            <a:avLst>
              <a:gd name="adj" fmla="val 7000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82896" y="3995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다이아몬드 = 결계의 종점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82896" y="426110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5단계가 최종. 마스터~슈챌 승급은 결계 기대값에 영향 없음 — 결계 동기는 다이아까지, 이후는 관문 보스로 목표 전환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지급 규칙 — 수령 범위의 이원화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티어 구간에 따라 보상의 '경제적 성격'이 전환된다 (R-20~23)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69080" cy="2011680"/>
          </a:xfrm>
          <a:prstGeom prst="roundRect">
            <a:avLst>
              <a:gd name="adj" fmla="val 3636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브론즈 ~ 플래티넘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CHALLENGERS_ONLY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13232" y="2084832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챌린저스 월드 전용 수령. 특수 스킬 반지·성장템 등 시즌 내 소모형 — 월드 내 육성 가속에 소비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4069080" cy="2011680"/>
          </a:xfrm>
          <a:prstGeom prst="roundRect">
            <a:avLst>
              <a:gd name="adj" fmla="val 3636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73752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에메랄드 ~ 슈퍼챌린저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73752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D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LEAP_TARGET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73752" y="2084832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리프 가능 월드군에서 선택 수령. 카르마 큐브·잠재 스크롤·솔 야누스 강화권 등 — 본 서버 정착 자산으로 환류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" y="35661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R-23  반지 선택권 상호 배타 분기 (상태 머신)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02336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미선택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54680" y="3913632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34406E"/>
          </a:solidFill>
          <a:ln/>
        </p:spPr>
      </p:sp>
      <p:sp>
        <p:nvSpPr>
          <p:cNvPr id="19" name="Text 17"/>
          <p:cNvSpPr/>
          <p:nvPr/>
        </p:nvSpPr>
        <p:spPr>
          <a:xfrm>
            <a:off x="3154680" y="39136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3렙 리스트레인트 선택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54680" y="4443984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34406E"/>
          </a:solidFill>
          <a:ln/>
        </p:spPr>
      </p:sp>
      <p:sp>
        <p:nvSpPr>
          <p:cNvPr id="21" name="Text 19"/>
          <p:cNvSpPr/>
          <p:nvPr/>
        </p:nvSpPr>
        <p:spPr>
          <a:xfrm>
            <a:off x="3154680" y="44439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3렙 컨티뉴어스 선택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72200" y="3913632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2B3A2F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39136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D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4렙 = 컨티뉴어스 고정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72200" y="4443984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2B3A2F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44439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D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4렙 = 리스트레인트 고정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40280" y="4251960"/>
            <a:ext cx="914400" cy="-109728"/>
          </a:xfrm>
          <a:prstGeom prst="line">
            <a:avLst/>
          </a:prstGeom>
          <a:noFill/>
          <a:ln w="22225">
            <a:solidFill>
              <a:srgbClr val="9AA6C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240280" y="4251960"/>
            <a:ext cx="914400" cy="420624"/>
          </a:xfrm>
          <a:prstGeom prst="line">
            <a:avLst/>
          </a:prstGeom>
          <a:noFill/>
          <a:ln w="22225">
            <a:solidFill>
              <a:srgbClr val="9AA6C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257800" y="4142232"/>
            <a:ext cx="914400" cy="0"/>
          </a:xfrm>
          <a:prstGeom prst="line">
            <a:avLst/>
          </a:prstGeom>
          <a:noFill/>
          <a:ln w="22225">
            <a:solidFill>
              <a:srgbClr val="9AA6C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257800" y="4672584"/>
            <a:ext cx="914400" cy="0"/>
          </a:xfrm>
          <a:prstGeom prst="line">
            <a:avLst/>
          </a:prstGeom>
          <a:noFill/>
          <a:ln w="22225">
            <a:solidFill>
              <a:srgbClr val="9AA6CF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승급 판정 플로우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 변동 또는 관문 보스 격파 이벤트마다 수행 — 조건 충족 순서 무관, 즉시 승급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737360" cy="731520"/>
          </a:xfrm>
          <a:prstGeom prst="roundRect">
            <a:avLst>
              <a:gd name="adj" fmla="val 8750"/>
            </a:avLst>
          </a:prstGeom>
          <a:solidFill>
            <a:srgbClr val="232B57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71600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 변동 /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관문 격파 이벤트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94560" y="1737360"/>
            <a:ext cx="457200" cy="0"/>
          </a:xfrm>
          <a:prstGeom prst="line">
            <a:avLst/>
          </a:prstGeom>
          <a:noFill/>
          <a:ln w="25400">
            <a:solidFill>
              <a:srgbClr val="9AA6C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51760" y="1371600"/>
            <a:ext cx="1737360" cy="731520"/>
          </a:xfrm>
          <a:prstGeom prst="roundRect">
            <a:avLst>
              <a:gd name="adj" fmla="val 8750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371600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 포인트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충족?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737360"/>
            <a:ext cx="457200" cy="0"/>
          </a:xfrm>
          <a:prstGeom prst="line">
            <a:avLst/>
          </a:prstGeom>
          <a:noFill/>
          <a:ln w="25400">
            <a:solidFill>
              <a:srgbClr val="9AA6CF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297680" y="14813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846320" y="1371600"/>
            <a:ext cx="1737360" cy="731520"/>
          </a:xfrm>
          <a:prstGeom prst="roundRect">
            <a:avLst>
              <a:gd name="adj" fmla="val 8750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371600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관문 보스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격파 기록?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1737360"/>
            <a:ext cx="457200" cy="0"/>
          </a:xfrm>
          <a:prstGeom prst="line">
            <a:avLst/>
          </a:prstGeom>
          <a:noFill/>
          <a:ln w="25400">
            <a:solidFill>
              <a:srgbClr val="9AA6CF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492240" y="14813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040880" y="1371600"/>
            <a:ext cx="1645920" cy="731520"/>
          </a:xfrm>
          <a:prstGeom prst="roundRect">
            <a:avLst>
              <a:gd name="adj" fmla="val 8750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40880" y="1371600"/>
            <a:ext cx="16459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슈퍼챌린저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20440" y="2103120"/>
            <a:ext cx="0" cy="640080"/>
          </a:xfrm>
          <a:prstGeom prst="line">
            <a:avLst/>
          </a:prstGeom>
          <a:noFill/>
          <a:ln w="25400">
            <a:solidFill>
              <a:srgbClr val="9AA6CF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200400" y="21671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아니오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51760" y="2743200"/>
            <a:ext cx="1737360" cy="548640"/>
          </a:xfrm>
          <a:prstGeom prst="roundRect">
            <a:avLst>
              <a:gd name="adj" fmla="val 11667"/>
            </a:avLst>
          </a:prstGeom>
          <a:solidFill>
            <a:srgbClr val="3A2430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651760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티어 유지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15000" y="2103120"/>
            <a:ext cx="0" cy="640080"/>
          </a:xfrm>
          <a:prstGeom prst="line">
            <a:avLst/>
          </a:prstGeom>
          <a:noFill/>
          <a:ln w="25400">
            <a:solidFill>
              <a:srgbClr val="9AA6CF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394960" y="21671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아니오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46320" y="2743200"/>
            <a:ext cx="1737360" cy="548640"/>
          </a:xfrm>
          <a:prstGeom prst="roundRect">
            <a:avLst>
              <a:gd name="adj" fmla="val 11667"/>
            </a:avLst>
          </a:prstGeom>
          <a:solidFill>
            <a:srgbClr val="3A2430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승급 보류: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관문 필요 표시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863840" y="2103120"/>
            <a:ext cx="0" cy="640080"/>
          </a:xfrm>
          <a:prstGeom prst="line">
            <a:avLst/>
          </a:prstGeom>
          <a:noFill/>
          <a:ln w="25400">
            <a:solidFill>
              <a:srgbClr val="9AA6CF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7543800" y="21671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040880" y="274320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232B57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040880" y="2743200"/>
            <a:ext cx="1645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랭킹 정원 잔여?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순위 부여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아니오: 챌린저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863840" y="3383280"/>
            <a:ext cx="0" cy="502920"/>
          </a:xfrm>
          <a:prstGeom prst="line">
            <a:avLst/>
          </a:prstGeom>
          <a:noFill/>
          <a:ln w="25400">
            <a:solidFill>
              <a:srgbClr val="9AA6C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852160" y="3886200"/>
            <a:ext cx="2834640" cy="777240"/>
          </a:xfrm>
          <a:prstGeom prst="roundRect">
            <a:avLst>
              <a:gd name="adj" fmla="val 8235"/>
            </a:avLst>
          </a:prstGeom>
          <a:solidFill>
            <a:srgbClr val="F0B429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852160" y="3886200"/>
            <a:ext cx="283464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01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승급 확정 → 패시브 갱신 · 결계 해금 · 보상 활성화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52160" y="4274820"/>
            <a:ext cx="-1188720" cy="0"/>
          </a:xfrm>
          <a:prstGeom prst="line">
            <a:avLst/>
          </a:prstGeom>
          <a:noFill/>
          <a:ln w="25400">
            <a:solidFill>
              <a:srgbClr val="9AA6C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651760" y="3886200"/>
            <a:ext cx="2011680" cy="777240"/>
          </a:xfrm>
          <a:prstGeom prst="roundRect">
            <a:avLst>
              <a:gd name="adj" fmla="val 8235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651760" y="3886200"/>
            <a:ext cx="201168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승급 조건 충족 시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반복 (다단계 일괄 승급)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UI/UX 명세 — 챌린저스 메인 UI (실측 반영)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인게임 캡처 기준 재작성 · 탭 3종 / 랭킹 탭 없음 / 좌측 패널은 연출 없이 즉시 갱신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8229600" cy="3913632"/>
          </a:xfrm>
          <a:prstGeom prst="roundRect">
            <a:avLst>
              <a:gd name="adj" fmla="val 1168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371600"/>
            <a:ext cx="1828800" cy="3584448"/>
          </a:xfrm>
          <a:prstGeom prst="roundRect">
            <a:avLst>
              <a:gd name="adj" fmla="val 2500"/>
            </a:avLst>
          </a:prstGeom>
          <a:solidFill>
            <a:srgbClr val="141935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1554480"/>
            <a:ext cx="868680" cy="868680"/>
          </a:xfrm>
          <a:prstGeom prst="ellipse">
            <a:avLst/>
          </a:prstGeom>
          <a:solidFill>
            <a:srgbClr val="9AD8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78308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DIAMOND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1792" y="27706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69,000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3200400"/>
            <a:ext cx="1508760" cy="0"/>
          </a:xfrm>
          <a:prstGeom prst="line">
            <a:avLst/>
          </a:prstGeom>
          <a:noFill/>
          <a:ln w="12700">
            <a:solidFill>
              <a:srgbClr val="232B5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310128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24128" y="3310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챌린저스 코인 560</a:t>
            </a:r>
            <a:endParaRPr lang="en-US" sz="8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47872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4128" y="3547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상급 코인 10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777240" y="3840480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/>
        </p:spPr>
      </p:sp>
      <p:sp>
        <p:nvSpPr>
          <p:cNvPr id="18" name="Text 13"/>
          <p:cNvSpPr/>
          <p:nvPr/>
        </p:nvSpPr>
        <p:spPr>
          <a:xfrm>
            <a:off x="777240" y="38404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상점 열기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621792" y="4297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S0 잠금 ↔ S1 티어 엠블럼</a:t>
            </a:r>
            <a:endParaRPr lang="en-US" sz="7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(전환 시 연출 없음)</a:t>
            </a:r>
            <a:endParaRPr lang="en-US" sz="750" dirty="0"/>
          </a:p>
        </p:txBody>
      </p:sp>
      <p:sp>
        <p:nvSpPr>
          <p:cNvPr id="20" name="Shape 15"/>
          <p:cNvSpPr/>
          <p:nvPr/>
        </p:nvSpPr>
        <p:spPr>
          <a:xfrm>
            <a:off x="2606040" y="1371600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F0B429"/>
          </a:solidFill>
          <a:ln/>
        </p:spPr>
      </p:sp>
      <p:sp>
        <p:nvSpPr>
          <p:cNvPr id="21" name="Text 16"/>
          <p:cNvSpPr/>
          <p:nvPr/>
        </p:nvSpPr>
        <p:spPr>
          <a:xfrm>
            <a:off x="2606040" y="1371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1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547872" y="1371600"/>
            <a:ext cx="1691640" cy="365760"/>
          </a:xfrm>
          <a:prstGeom prst="roundRect">
            <a:avLst>
              <a:gd name="adj" fmla="val 12500"/>
            </a:avLst>
          </a:prstGeom>
          <a:solidFill>
            <a:srgbClr val="141935"/>
          </a:solidFill>
          <a:ln/>
        </p:spPr>
      </p:sp>
      <p:sp>
        <p:nvSpPr>
          <p:cNvPr id="23" name="Text 18"/>
          <p:cNvSpPr/>
          <p:nvPr/>
        </p:nvSpPr>
        <p:spPr>
          <a:xfrm>
            <a:off x="3547872" y="1371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보스·레벨미션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312664" y="1371600"/>
            <a:ext cx="1691640" cy="365760"/>
          </a:xfrm>
          <a:prstGeom prst="roundRect">
            <a:avLst>
              <a:gd name="adj" fmla="val 12500"/>
            </a:avLst>
          </a:prstGeom>
          <a:solidFill>
            <a:srgbClr val="141935"/>
          </a:solidFill>
          <a:ln/>
        </p:spPr>
      </p:sp>
      <p:sp>
        <p:nvSpPr>
          <p:cNvPr id="25" name="Text 20"/>
          <p:cNvSpPr/>
          <p:nvPr/>
        </p:nvSpPr>
        <p:spPr>
          <a:xfrm>
            <a:off x="5312664" y="1371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주간·시즌미션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2606040" y="1828800"/>
            <a:ext cx="2286000" cy="1371600"/>
          </a:xfrm>
          <a:prstGeom prst="roundRect">
            <a:avLst>
              <a:gd name="adj" fmla="val 3333"/>
            </a:avLst>
          </a:prstGeom>
          <a:solidFill>
            <a:srgbClr val="141935"/>
          </a:solidFill>
          <a:ln/>
        </p:spPr>
      </p:sp>
      <p:sp>
        <p:nvSpPr>
          <p:cNvPr id="27" name="Shape 22"/>
          <p:cNvSpPr/>
          <p:nvPr/>
        </p:nvSpPr>
        <p:spPr>
          <a:xfrm>
            <a:off x="2734056" y="1920240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F0B429"/>
          </a:solidFill>
          <a:ln/>
        </p:spPr>
      </p:sp>
      <p:sp>
        <p:nvSpPr>
          <p:cNvPr id="28" name="Text 23"/>
          <p:cNvSpPr/>
          <p:nvPr/>
        </p:nvSpPr>
        <p:spPr>
          <a:xfrm>
            <a:off x="2734056" y="19202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1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2734056" y="2157984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챌린저스 다이아 버프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2734056" y="237744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68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경험치 획득량 50% 증가</a:t>
            </a:r>
            <a:endParaRPr lang="en-US" sz="6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8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공격력/마력 80 증가</a:t>
            </a:r>
            <a:endParaRPr lang="en-US" sz="6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8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몬스터 데미지 150%</a:t>
            </a:r>
            <a:endParaRPr lang="en-US" sz="6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8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보스 몬스터 데미지 70%</a:t>
            </a:r>
            <a:endParaRPr lang="en-US" sz="6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8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방어율 무시 70% 증가</a:t>
            </a:r>
            <a:endParaRPr lang="en-US" sz="6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8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올스탯 100 · HP/MP 5000</a:t>
            </a:r>
            <a:endParaRPr lang="en-US" sz="680" dirty="0"/>
          </a:p>
        </p:txBody>
      </p:sp>
      <p:sp>
        <p:nvSpPr>
          <p:cNvPr id="31" name="Shape 26"/>
          <p:cNvSpPr/>
          <p:nvPr/>
        </p:nvSpPr>
        <p:spPr>
          <a:xfrm>
            <a:off x="2606040" y="3273552"/>
            <a:ext cx="2286000" cy="932688"/>
          </a:xfrm>
          <a:prstGeom prst="roundRect">
            <a:avLst>
              <a:gd name="adj" fmla="val 4902"/>
            </a:avLst>
          </a:prstGeom>
          <a:solidFill>
            <a:srgbClr val="2A2445"/>
          </a:solidFill>
          <a:ln/>
        </p:spPr>
      </p:sp>
      <p:sp>
        <p:nvSpPr>
          <p:cNvPr id="32" name="Text 27"/>
          <p:cNvSpPr/>
          <p:nvPr/>
        </p:nvSpPr>
        <p:spPr>
          <a:xfrm>
            <a:off x="2606040" y="3273552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버프 효과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획득!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5029200" y="1828800"/>
            <a:ext cx="3520440" cy="2377440"/>
          </a:xfrm>
          <a:prstGeom prst="roundRect">
            <a:avLst>
              <a:gd name="adj" fmla="val 1923"/>
            </a:avLst>
          </a:prstGeom>
          <a:solidFill>
            <a:srgbClr val="141935"/>
          </a:solidFill>
          <a:ln/>
        </p:spPr>
      </p:sp>
      <p:sp>
        <p:nvSpPr>
          <p:cNvPr id="34" name="Text 29"/>
          <p:cNvSpPr/>
          <p:nvPr/>
        </p:nvSpPr>
        <p:spPr>
          <a:xfrm>
            <a:off x="5166360" y="188366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등급별 보상 — 물품별 개별 수령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5138928" y="2121408"/>
            <a:ext cx="3300984" cy="658368"/>
          </a:xfrm>
          <a:prstGeom prst="roundRect">
            <a:avLst>
              <a:gd name="adj" fmla="val 6944"/>
            </a:avLst>
          </a:prstGeom>
          <a:solidFill>
            <a:srgbClr val="0F1330"/>
          </a:solidFill>
          <a:ln/>
        </p:spPr>
      </p:sp>
      <p:sp>
        <p:nvSpPr>
          <p:cNvPr id="36" name="Shape 31"/>
          <p:cNvSpPr/>
          <p:nvPr/>
        </p:nvSpPr>
        <p:spPr>
          <a:xfrm>
            <a:off x="5248656" y="2194560"/>
            <a:ext cx="219456" cy="219456"/>
          </a:xfrm>
          <a:prstGeom prst="ellipse">
            <a:avLst/>
          </a:prstGeom>
          <a:solidFill>
            <a:srgbClr val="C98A4B"/>
          </a:solidFill>
          <a:ln/>
        </p:spPr>
      </p:sp>
      <p:sp>
        <p:nvSpPr>
          <p:cNvPr id="37" name="Text 32"/>
          <p:cNvSpPr/>
          <p:nvPr/>
        </p:nvSpPr>
        <p:spPr>
          <a:xfrm>
            <a:off x="5532120" y="21579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5532120" y="23500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 5,000</a:t>
            </a:r>
            <a:endParaRPr lang="en-US" sz="750" dirty="0"/>
          </a:p>
        </p:txBody>
      </p:sp>
      <p:sp>
        <p:nvSpPr>
          <p:cNvPr id="39" name="Shape 34"/>
          <p:cNvSpPr/>
          <p:nvPr/>
        </p:nvSpPr>
        <p:spPr>
          <a:xfrm>
            <a:off x="6647688" y="23774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32B57"/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450592"/>
            <a:ext cx="219456" cy="219456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7086600" y="23774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32B57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2450592"/>
            <a:ext cx="219456" cy="219456"/>
          </a:xfrm>
          <a:prstGeom prst="rect">
            <a:avLst/>
          </a:prstGeom>
        </p:spPr>
      </p:pic>
      <p:sp>
        <p:nvSpPr>
          <p:cNvPr id="43" name="Shape 36"/>
          <p:cNvSpPr/>
          <p:nvPr/>
        </p:nvSpPr>
        <p:spPr>
          <a:xfrm>
            <a:off x="7525512" y="23774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32B57"/>
          </a:solidFill>
          <a:ln/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8664" y="2450592"/>
            <a:ext cx="219456" cy="219456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7964424" y="23774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32B57"/>
          </a:solidFill>
          <a:ln/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7576" y="2450592"/>
            <a:ext cx="219456" cy="219456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5138928" y="2871216"/>
            <a:ext cx="3300984" cy="658368"/>
          </a:xfrm>
          <a:prstGeom prst="roundRect">
            <a:avLst>
              <a:gd name="adj" fmla="val 6944"/>
            </a:avLst>
          </a:prstGeom>
          <a:solidFill>
            <a:srgbClr val="0F1330"/>
          </a:solidFill>
          <a:ln/>
        </p:spPr>
      </p:sp>
      <p:sp>
        <p:nvSpPr>
          <p:cNvPr id="48" name="Shape 39"/>
          <p:cNvSpPr/>
          <p:nvPr/>
        </p:nvSpPr>
        <p:spPr>
          <a:xfrm>
            <a:off x="5248656" y="2944368"/>
            <a:ext cx="219456" cy="219456"/>
          </a:xfrm>
          <a:prstGeom prst="ellipse">
            <a:avLst/>
          </a:prstGeom>
          <a:solidFill>
            <a:srgbClr val="C9CFDD"/>
          </a:solidFill>
          <a:ln/>
        </p:spPr>
      </p:sp>
      <p:sp>
        <p:nvSpPr>
          <p:cNvPr id="49" name="Text 40"/>
          <p:cNvSpPr/>
          <p:nvPr/>
        </p:nvSpPr>
        <p:spPr>
          <a:xfrm>
            <a:off x="5532120" y="29077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950" dirty="0"/>
          </a:p>
        </p:txBody>
      </p:sp>
      <p:sp>
        <p:nvSpPr>
          <p:cNvPr id="50" name="Text 41"/>
          <p:cNvSpPr/>
          <p:nvPr/>
        </p:nvSpPr>
        <p:spPr>
          <a:xfrm>
            <a:off x="5532120" y="309981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 10,000</a:t>
            </a:r>
            <a:endParaRPr lang="en-US" sz="750" dirty="0"/>
          </a:p>
        </p:txBody>
      </p:sp>
      <p:sp>
        <p:nvSpPr>
          <p:cNvPr id="51" name="Shape 42"/>
          <p:cNvSpPr/>
          <p:nvPr/>
        </p:nvSpPr>
        <p:spPr>
          <a:xfrm>
            <a:off x="6647688" y="312724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32B57"/>
          </a:solidFill>
          <a:ln/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0" y="3200400"/>
            <a:ext cx="219456" cy="219456"/>
          </a:xfrm>
          <a:prstGeom prst="rect">
            <a:avLst/>
          </a:prstGeom>
        </p:spPr>
      </p:pic>
      <p:sp>
        <p:nvSpPr>
          <p:cNvPr id="53" name="Shape 43"/>
          <p:cNvSpPr/>
          <p:nvPr/>
        </p:nvSpPr>
        <p:spPr>
          <a:xfrm>
            <a:off x="7086600" y="312724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32B57"/>
          </a:solidFill>
          <a:ln/>
        </p:spPr>
      </p:sp>
      <p:pic>
        <p:nvPicPr>
          <p:cNvPr id="5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9752" y="3200400"/>
            <a:ext cx="219456" cy="219456"/>
          </a:xfrm>
          <a:prstGeom prst="rect">
            <a:avLst/>
          </a:prstGeom>
        </p:spPr>
      </p:pic>
      <p:sp>
        <p:nvSpPr>
          <p:cNvPr id="55" name="Shape 44"/>
          <p:cNvSpPr/>
          <p:nvPr/>
        </p:nvSpPr>
        <p:spPr>
          <a:xfrm>
            <a:off x="7525512" y="312724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0B429"/>
          </a:solidFill>
          <a:ln/>
        </p:spPr>
      </p:sp>
      <p:sp>
        <p:nvSpPr>
          <p:cNvPr id="56" name="Text 45"/>
          <p:cNvSpPr/>
          <p:nvPr/>
        </p:nvSpPr>
        <p:spPr>
          <a:xfrm>
            <a:off x="7525512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1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받기</a:t>
            </a:r>
            <a:endParaRPr lang="en-US" sz="650" dirty="0"/>
          </a:p>
        </p:txBody>
      </p:sp>
      <p:sp>
        <p:nvSpPr>
          <p:cNvPr id="57" name="Shape 46"/>
          <p:cNvSpPr/>
          <p:nvPr/>
        </p:nvSpPr>
        <p:spPr>
          <a:xfrm>
            <a:off x="7964424" y="312724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0B429"/>
          </a:solidFill>
          <a:ln/>
        </p:spPr>
      </p:sp>
      <p:sp>
        <p:nvSpPr>
          <p:cNvPr id="58" name="Text 47"/>
          <p:cNvSpPr/>
          <p:nvPr/>
        </p:nvSpPr>
        <p:spPr>
          <a:xfrm>
            <a:off x="7964424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1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받기</a:t>
            </a:r>
            <a:endParaRPr lang="en-US" sz="650" dirty="0"/>
          </a:p>
        </p:txBody>
      </p:sp>
      <p:sp>
        <p:nvSpPr>
          <p:cNvPr id="59" name="Shape 48"/>
          <p:cNvSpPr/>
          <p:nvPr/>
        </p:nvSpPr>
        <p:spPr>
          <a:xfrm>
            <a:off x="5138928" y="3621024"/>
            <a:ext cx="3300984" cy="658368"/>
          </a:xfrm>
          <a:prstGeom prst="roundRect">
            <a:avLst>
              <a:gd name="adj" fmla="val 6944"/>
            </a:avLst>
          </a:prstGeom>
          <a:solidFill>
            <a:srgbClr val="0F1330"/>
          </a:solidFill>
          <a:ln/>
        </p:spPr>
      </p:sp>
      <p:sp>
        <p:nvSpPr>
          <p:cNvPr id="60" name="Shape 49"/>
          <p:cNvSpPr/>
          <p:nvPr/>
        </p:nvSpPr>
        <p:spPr>
          <a:xfrm>
            <a:off x="5248656" y="3694176"/>
            <a:ext cx="219456" cy="219456"/>
          </a:xfrm>
          <a:prstGeom prst="ellipse">
            <a:avLst/>
          </a:prstGeom>
          <a:solidFill>
            <a:srgbClr val="F5C542"/>
          </a:solidFill>
          <a:ln/>
        </p:spPr>
      </p:sp>
      <p:sp>
        <p:nvSpPr>
          <p:cNvPr id="61" name="Text 50"/>
          <p:cNvSpPr/>
          <p:nvPr/>
        </p:nvSpPr>
        <p:spPr>
          <a:xfrm>
            <a:off x="5532120" y="36576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950" dirty="0"/>
          </a:p>
        </p:txBody>
      </p:sp>
      <p:sp>
        <p:nvSpPr>
          <p:cNvPr id="62" name="Text 51"/>
          <p:cNvSpPr/>
          <p:nvPr/>
        </p:nvSpPr>
        <p:spPr>
          <a:xfrm>
            <a:off x="5532120" y="384962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 15,000</a:t>
            </a:r>
            <a:endParaRPr lang="en-US" sz="750" dirty="0"/>
          </a:p>
        </p:txBody>
      </p:sp>
      <p:sp>
        <p:nvSpPr>
          <p:cNvPr id="63" name="Shape 52"/>
          <p:cNvSpPr/>
          <p:nvPr/>
        </p:nvSpPr>
        <p:spPr>
          <a:xfrm>
            <a:off x="6647688" y="387705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32B57"/>
          </a:solidFill>
          <a:ln/>
        </p:spPr>
      </p:sp>
      <p:pic>
        <p:nvPicPr>
          <p:cNvPr id="64" name="Image 9" descr="preencoded.png">    </p:cNvPr>
          <p:cNvPicPr>
            <a:picLocks noChangeAspect="1"/>
          </p:cNvPicPr>
          <p:nvPr/>
        </p:nvPicPr>
        <p:blipFill>
          <a:blip r:embed="rId10">
            <a:alphaModFix amt="55000"/>
          </a:blip>
          <a:stretch>
            <a:fillRect/>
          </a:stretch>
        </p:blipFill>
        <p:spPr>
          <a:xfrm>
            <a:off x="6739128" y="3959352"/>
            <a:ext cx="182880" cy="182880"/>
          </a:xfrm>
          <a:prstGeom prst="rect">
            <a:avLst/>
          </a:prstGeom>
        </p:spPr>
      </p:pic>
      <p:sp>
        <p:nvSpPr>
          <p:cNvPr id="65" name="Shape 53"/>
          <p:cNvSpPr/>
          <p:nvPr/>
        </p:nvSpPr>
        <p:spPr>
          <a:xfrm>
            <a:off x="7086600" y="387705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32B57"/>
          </a:solidFill>
          <a:ln/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>
            <a:alphaModFix amt="55000"/>
          </a:blip>
          <a:stretch>
            <a:fillRect/>
          </a:stretch>
        </p:blipFill>
        <p:spPr>
          <a:xfrm>
            <a:off x="7178040" y="3959352"/>
            <a:ext cx="182880" cy="182880"/>
          </a:xfrm>
          <a:prstGeom prst="rect">
            <a:avLst/>
          </a:prstGeom>
        </p:spPr>
      </p:pic>
      <p:sp>
        <p:nvSpPr>
          <p:cNvPr id="67" name="Shape 54"/>
          <p:cNvSpPr/>
          <p:nvPr/>
        </p:nvSpPr>
        <p:spPr>
          <a:xfrm>
            <a:off x="7525512" y="387705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32B57"/>
          </a:solidFill>
          <a:ln/>
        </p:spPr>
      </p:sp>
      <p:pic>
        <p:nvPicPr>
          <p:cNvPr id="68" name="Image 11" descr="preencoded.png">    </p:cNvPr>
          <p:cNvPicPr>
            <a:picLocks noChangeAspect="1"/>
          </p:cNvPicPr>
          <p:nvPr/>
        </p:nvPicPr>
        <p:blipFill>
          <a:blip r:embed="rId12">
            <a:alphaModFix amt="55000"/>
          </a:blip>
          <a:stretch>
            <a:fillRect/>
          </a:stretch>
        </p:blipFill>
        <p:spPr>
          <a:xfrm>
            <a:off x="7616952" y="3959352"/>
            <a:ext cx="182880" cy="182880"/>
          </a:xfrm>
          <a:prstGeom prst="rect">
            <a:avLst/>
          </a:prstGeom>
        </p:spPr>
      </p:pic>
      <p:sp>
        <p:nvSpPr>
          <p:cNvPr id="69" name="Shape 55"/>
          <p:cNvSpPr/>
          <p:nvPr/>
        </p:nvSpPr>
        <p:spPr>
          <a:xfrm>
            <a:off x="7964424" y="387705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32B57"/>
          </a:solidFill>
          <a:ln/>
        </p:spPr>
      </p:sp>
      <p:pic>
        <p:nvPicPr>
          <p:cNvPr id="70" name="Image 12" descr="preencoded.png">    </p:cNvPr>
          <p:cNvPicPr>
            <a:picLocks noChangeAspect="1"/>
          </p:cNvPicPr>
          <p:nvPr/>
        </p:nvPicPr>
        <p:blipFill>
          <a:blip r:embed="rId13">
            <a:alphaModFix amt="55000"/>
          </a:blip>
          <a:stretch>
            <a:fillRect/>
          </a:stretch>
        </p:blipFill>
        <p:spPr>
          <a:xfrm>
            <a:off x="8055864" y="3959352"/>
            <a:ext cx="182880" cy="182880"/>
          </a:xfrm>
          <a:prstGeom prst="rect">
            <a:avLst/>
          </a:prstGeom>
        </p:spPr>
      </p:pic>
      <p:sp>
        <p:nvSpPr>
          <p:cNvPr id="71" name="Shape 56"/>
          <p:cNvSpPr/>
          <p:nvPr/>
        </p:nvSpPr>
        <p:spPr>
          <a:xfrm>
            <a:off x="2606040" y="4297680"/>
            <a:ext cx="5943600" cy="457200"/>
          </a:xfrm>
          <a:prstGeom prst="roundRect">
            <a:avLst>
              <a:gd name="adj" fmla="val 10000"/>
            </a:avLst>
          </a:prstGeom>
          <a:solidFill>
            <a:srgbClr val="141935"/>
          </a:solidFill>
          <a:ln/>
        </p:spPr>
      </p:sp>
      <p:sp>
        <p:nvSpPr>
          <p:cNvPr id="72" name="Text 57"/>
          <p:cNvSpPr/>
          <p:nvPr/>
        </p:nvSpPr>
        <p:spPr>
          <a:xfrm>
            <a:off x="2715768" y="4297680"/>
            <a:ext cx="572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마스터: 70,000P + 메이린(노멀)  ·  챌린저: 90,000P + 메이린(하드) + 1,000등부터  ·  슈퍼챌린저: 999등까지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UI/UX 명세 — 보상 수령 팝업 플로우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스택형 보상(수량 배지)만 수량 입력 팝업을 거치고, 모든 수령은 확인 팝업을 반드시 거친다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298448"/>
            <a:ext cx="1572768" cy="1051560"/>
          </a:xfrm>
          <a:prstGeom prst="roundRect">
            <a:avLst>
              <a:gd name="adj" fmla="val 5217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98448"/>
            <a:ext cx="1572768" cy="329184"/>
          </a:xfrm>
          <a:prstGeom prst="roundRect">
            <a:avLst>
              <a:gd name="adj" fmla="val 16667"/>
            </a:avLst>
          </a:prstGeom>
          <a:solidFill>
            <a:srgbClr val="F0B429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29844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받기 클릭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1208" y="17373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브론즈 x100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슬롯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[받기] 버튼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상태에서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75104" y="1824228"/>
            <a:ext cx="91440" cy="0"/>
          </a:xfrm>
          <a:prstGeom prst="line">
            <a:avLst/>
          </a:prstGeom>
          <a:noFill/>
          <a:ln w="25400">
            <a:solidFill>
              <a:srgbClr val="9AA6C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084832" y="1298448"/>
            <a:ext cx="1572768" cy="1051560"/>
          </a:xfrm>
          <a:prstGeom prst="roundRect">
            <a:avLst>
              <a:gd name="adj" fmla="val 5217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84832" y="1298448"/>
            <a:ext cx="1572768" cy="329184"/>
          </a:xfrm>
          <a:prstGeom prst="roundRect">
            <a:avLst>
              <a:gd name="adj" fmla="val 16667"/>
            </a:avLst>
          </a:prstGeom>
          <a:solidFill>
            <a:srgbClr val="F0B429"/>
          </a:solidFill>
          <a:ln/>
        </p:spPr>
      </p:sp>
      <p:sp>
        <p:nvSpPr>
          <p:cNvPr id="13" name="Text 11"/>
          <p:cNvSpPr/>
          <p:nvPr/>
        </p:nvSpPr>
        <p:spPr>
          <a:xfrm>
            <a:off x="2084832" y="129844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분기 판정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21992" y="17373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 배지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존재?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예→수량입력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아니오→확인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75888" y="1824228"/>
            <a:ext cx="91440" cy="0"/>
          </a:xfrm>
          <a:prstGeom prst="line">
            <a:avLst/>
          </a:prstGeom>
          <a:noFill/>
          <a:ln w="25400">
            <a:solidFill>
              <a:srgbClr val="9AA6C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85616" y="1298448"/>
            <a:ext cx="1572768" cy="1051560"/>
          </a:xfrm>
          <a:prstGeom prst="roundRect">
            <a:avLst>
              <a:gd name="adj" fmla="val 5217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85616" y="1298448"/>
            <a:ext cx="1572768" cy="329184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/>
        </p:spPr>
      </p:sp>
      <p:sp>
        <p:nvSpPr>
          <p:cNvPr id="18" name="Text 16"/>
          <p:cNvSpPr/>
          <p:nvPr/>
        </p:nvSpPr>
        <p:spPr>
          <a:xfrm>
            <a:off x="3785616" y="129844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수량 입력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22776" y="17373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"몇 개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받으시겠습니까?"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(스택형만 노출)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숫자입력 [확인]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376672" y="1824228"/>
            <a:ext cx="91440" cy="0"/>
          </a:xfrm>
          <a:prstGeom prst="line">
            <a:avLst/>
          </a:prstGeom>
          <a:noFill/>
          <a:ln w="25400">
            <a:solidFill>
              <a:srgbClr val="9AA6C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86400" y="1298448"/>
            <a:ext cx="1572768" cy="1051560"/>
          </a:xfrm>
          <a:prstGeom prst="roundRect">
            <a:avLst>
              <a:gd name="adj" fmla="val 5217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1298448"/>
            <a:ext cx="1572768" cy="329184"/>
          </a:xfrm>
          <a:prstGeom prst="roundRect">
            <a:avLst>
              <a:gd name="adj" fmla="val 16667"/>
            </a:avLst>
          </a:prstGeom>
          <a:solidFill>
            <a:srgbClr val="3DD68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129844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확인 팝업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23560" y="17373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단일: "받으시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겠습니까?"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스택: "OO개를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받으시겠습니까?"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077456" y="1824228"/>
            <a:ext cx="91440" cy="0"/>
          </a:xfrm>
          <a:prstGeom prst="line">
            <a:avLst/>
          </a:prstGeom>
          <a:noFill/>
          <a:ln w="25400">
            <a:solidFill>
              <a:srgbClr val="9AA6C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187184" y="1298448"/>
            <a:ext cx="1572768" cy="1051560"/>
          </a:xfrm>
          <a:prstGeom prst="roundRect">
            <a:avLst>
              <a:gd name="adj" fmla="val 5217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87184" y="1298448"/>
            <a:ext cx="1572768" cy="329184"/>
          </a:xfrm>
          <a:prstGeom prst="roundRect">
            <a:avLst>
              <a:gd name="adj" fmla="val 16667"/>
            </a:avLst>
          </a:prstGeom>
          <a:solidFill>
            <a:srgbClr val="3DD68C"/>
          </a:solidFill>
          <a:ln/>
        </p:spPr>
      </p:sp>
      <p:sp>
        <p:nvSpPr>
          <p:cNvPr id="28" name="Text 26"/>
          <p:cNvSpPr/>
          <p:nvPr/>
        </p:nvSpPr>
        <p:spPr>
          <a:xfrm>
            <a:off x="7187184" y="129844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지급 처리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24344" y="17373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지급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잔여 0→체크(✓)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잔여&gt;0→'받기'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유지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2606040"/>
            <a:ext cx="8595360" cy="1783080"/>
          </a:xfrm>
          <a:prstGeom prst="roundRect">
            <a:avLst>
              <a:gd name="adj" fmla="val 3590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9436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원칙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" y="3090672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수령 보상(배지 없음)은 ②에서 바로 ④ 확인 팝업으로 직행 — ③ 수량 입력 단계를 건너뛴다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스택형 보상은 ③에서 개수를 먼저 정하고, 그 값이 ④ 확인 팝업 문구에 반영됨 ("OO개를 받으시겠습니까?")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수령 가능 — 잔여 수량이 남아있는 한 '받기' 버튼은 계속 유지되며, 완전히 소진된 슬롯만 체크마크로 전환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티어 승급 자체에는 연출이 없다 — 좌측 패널 표시만 조용히 갱신되고, 보상은 반드시 이 팝업 플로우를 통해 별도로 수령해야 한다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UI/UX 명세 — 보스·레벨미션 탭 (실측 반영)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격파 시 초상화에 체크마크 오버레이 · 상위 난이도 격파 시 하위 자동 완료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8229600" cy="3913632"/>
          </a:xfrm>
          <a:prstGeom prst="roundRect">
            <a:avLst>
              <a:gd name="adj" fmla="val 1168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371600"/>
            <a:ext cx="1828800" cy="3584448"/>
          </a:xfrm>
          <a:prstGeom prst="roundRect">
            <a:avLst>
              <a:gd name="adj" fmla="val 2500"/>
            </a:avLst>
          </a:prstGeom>
          <a:solidFill>
            <a:srgbClr val="141935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1554480"/>
            <a:ext cx="868680" cy="868680"/>
          </a:xfrm>
          <a:prstGeom prst="ellipse">
            <a:avLst/>
          </a:prstGeom>
          <a:solidFill>
            <a:srgbClr val="9AD8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78308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DIAMOND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1792" y="27706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69,000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3200400"/>
            <a:ext cx="1508760" cy="0"/>
          </a:xfrm>
          <a:prstGeom prst="line">
            <a:avLst/>
          </a:prstGeom>
          <a:noFill/>
          <a:ln w="12700">
            <a:solidFill>
              <a:srgbClr val="232B5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310128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24128" y="3310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챌린저스 코인 560</a:t>
            </a:r>
            <a:endParaRPr lang="en-US" sz="8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47872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4128" y="3547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상급 코인 10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777240" y="3840480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/>
        </p:spPr>
      </p:sp>
      <p:sp>
        <p:nvSpPr>
          <p:cNvPr id="18" name="Text 13"/>
          <p:cNvSpPr/>
          <p:nvPr/>
        </p:nvSpPr>
        <p:spPr>
          <a:xfrm>
            <a:off x="777240" y="38404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상점 열기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2606040" y="1371600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141935"/>
          </a:solidFill>
          <a:ln/>
        </p:spPr>
      </p:sp>
      <p:sp>
        <p:nvSpPr>
          <p:cNvPr id="20" name="Text 15"/>
          <p:cNvSpPr/>
          <p:nvPr/>
        </p:nvSpPr>
        <p:spPr>
          <a:xfrm>
            <a:off x="2606040" y="1371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547872" y="1371600"/>
            <a:ext cx="1691640" cy="365760"/>
          </a:xfrm>
          <a:prstGeom prst="roundRect">
            <a:avLst>
              <a:gd name="adj" fmla="val 12500"/>
            </a:avLst>
          </a:prstGeom>
          <a:solidFill>
            <a:srgbClr val="F0B429"/>
          </a:solidFill>
          <a:ln/>
        </p:spPr>
      </p:sp>
      <p:sp>
        <p:nvSpPr>
          <p:cNvPr id="22" name="Text 17"/>
          <p:cNvSpPr/>
          <p:nvPr/>
        </p:nvSpPr>
        <p:spPr>
          <a:xfrm>
            <a:off x="3547872" y="1371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1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보스·레벨미션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312664" y="1371600"/>
            <a:ext cx="1691640" cy="365760"/>
          </a:xfrm>
          <a:prstGeom prst="roundRect">
            <a:avLst>
              <a:gd name="adj" fmla="val 12500"/>
            </a:avLst>
          </a:prstGeom>
          <a:solidFill>
            <a:srgbClr val="141935"/>
          </a:solidFill>
          <a:ln/>
        </p:spPr>
      </p:sp>
      <p:sp>
        <p:nvSpPr>
          <p:cNvPr id="24" name="Text 19"/>
          <p:cNvSpPr/>
          <p:nvPr/>
        </p:nvSpPr>
        <p:spPr>
          <a:xfrm>
            <a:off x="5312664" y="1371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주간·시즌미션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2606040" y="18288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클리어 난이도 이하 자동 완료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2606040" y="21031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34406E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192" y="2176272"/>
            <a:ext cx="219456" cy="219456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3063240" y="21031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34406E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6392" y="2176272"/>
            <a:ext cx="219456" cy="219456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3520440" y="21031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34406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3592" y="2176272"/>
            <a:ext cx="219456" cy="219456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3977640" y="21031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34406E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0792" y="2176272"/>
            <a:ext cx="219456" cy="219456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4434840" y="21031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34406E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7992" y="2176272"/>
            <a:ext cx="219456" cy="219456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2606040" y="25603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34406E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79192" y="2633472"/>
            <a:ext cx="219456" cy="219456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3063240" y="25603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34406E"/>
          </a:solidFill>
          <a:ln/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36392" y="2633472"/>
            <a:ext cx="219456" cy="219456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3520440" y="25603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34406E"/>
          </a:solidFill>
          <a:ln/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93592" y="2633472"/>
            <a:ext cx="219456" cy="219456"/>
          </a:xfrm>
          <a:prstGeom prst="rect">
            <a:avLst/>
          </a:prstGeom>
        </p:spPr>
      </p:pic>
      <p:sp>
        <p:nvSpPr>
          <p:cNvPr id="42" name="Shape 29"/>
          <p:cNvSpPr/>
          <p:nvPr/>
        </p:nvSpPr>
        <p:spPr>
          <a:xfrm>
            <a:off x="3977640" y="25603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34406E"/>
          </a:solidFill>
          <a:ln/>
        </p:spPr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50792" y="2633472"/>
            <a:ext cx="219456" cy="219456"/>
          </a:xfrm>
          <a:prstGeom prst="rect">
            <a:avLst/>
          </a:prstGeom>
        </p:spPr>
      </p:pic>
      <p:sp>
        <p:nvSpPr>
          <p:cNvPr id="44" name="Shape 30"/>
          <p:cNvSpPr/>
          <p:nvPr/>
        </p:nvSpPr>
        <p:spPr>
          <a:xfrm>
            <a:off x="4434840" y="25603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34406E"/>
          </a:solidFill>
          <a:ln/>
        </p:spPr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07992" y="2633472"/>
            <a:ext cx="219456" cy="219456"/>
          </a:xfrm>
          <a:prstGeom prst="rect">
            <a:avLst/>
          </a:prstGeom>
        </p:spPr>
      </p:pic>
      <p:sp>
        <p:nvSpPr>
          <p:cNvPr id="46" name="Shape 31"/>
          <p:cNvSpPr/>
          <p:nvPr/>
        </p:nvSpPr>
        <p:spPr>
          <a:xfrm>
            <a:off x="2606040" y="30175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34406E"/>
          </a:solidFill>
          <a:ln/>
        </p:spPr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79192" y="3090672"/>
            <a:ext cx="219456" cy="219456"/>
          </a:xfrm>
          <a:prstGeom prst="rect">
            <a:avLst/>
          </a:prstGeom>
        </p:spPr>
      </p:pic>
      <p:sp>
        <p:nvSpPr>
          <p:cNvPr id="48" name="Shape 32"/>
          <p:cNvSpPr/>
          <p:nvPr/>
        </p:nvSpPr>
        <p:spPr>
          <a:xfrm>
            <a:off x="3063240" y="30175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34406E"/>
          </a:solidFill>
          <a:ln/>
        </p:spPr>
      </p:sp>
      <p:pic>
        <p:nvPicPr>
          <p:cNvPr id="4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36392" y="3090672"/>
            <a:ext cx="219456" cy="219456"/>
          </a:xfrm>
          <a:prstGeom prst="rect">
            <a:avLst/>
          </a:prstGeom>
        </p:spPr>
      </p:pic>
      <p:sp>
        <p:nvSpPr>
          <p:cNvPr id="50" name="Shape 33"/>
          <p:cNvSpPr/>
          <p:nvPr/>
        </p:nvSpPr>
        <p:spPr>
          <a:xfrm>
            <a:off x="3520440" y="30175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F1330"/>
          </a:solidFill>
          <a:ln/>
        </p:spPr>
      </p:sp>
      <p:sp>
        <p:nvSpPr>
          <p:cNvPr id="51" name="Shape 34"/>
          <p:cNvSpPr/>
          <p:nvPr/>
        </p:nvSpPr>
        <p:spPr>
          <a:xfrm>
            <a:off x="3977640" y="30175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F1330"/>
          </a:solidFill>
          <a:ln/>
        </p:spPr>
      </p:sp>
      <p:sp>
        <p:nvSpPr>
          <p:cNvPr id="52" name="Shape 35"/>
          <p:cNvSpPr/>
          <p:nvPr/>
        </p:nvSpPr>
        <p:spPr>
          <a:xfrm>
            <a:off x="4434840" y="30175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F1330"/>
          </a:solidFill>
          <a:ln/>
        </p:spPr>
      </p:sp>
      <p:sp>
        <p:nvSpPr>
          <p:cNvPr id="53" name="Shape 36"/>
          <p:cNvSpPr/>
          <p:nvPr/>
        </p:nvSpPr>
        <p:spPr>
          <a:xfrm>
            <a:off x="5029200" y="2103120"/>
            <a:ext cx="960120" cy="1280160"/>
          </a:xfrm>
          <a:prstGeom prst="roundRect">
            <a:avLst>
              <a:gd name="adj" fmla="val 5714"/>
            </a:avLst>
          </a:prstGeom>
          <a:solidFill>
            <a:srgbClr val="2A2445"/>
          </a:solidFill>
          <a:ln/>
        </p:spPr>
      </p:sp>
      <p:pic>
        <p:nvPicPr>
          <p:cNvPr id="5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21808" y="2331720"/>
            <a:ext cx="365760" cy="365760"/>
          </a:xfrm>
          <a:prstGeom prst="rect">
            <a:avLst/>
          </a:prstGeom>
        </p:spPr>
      </p:pic>
      <p:sp>
        <p:nvSpPr>
          <p:cNvPr id="55" name="Shape 37"/>
          <p:cNvSpPr/>
          <p:nvPr/>
        </p:nvSpPr>
        <p:spPr>
          <a:xfrm>
            <a:off x="5102352" y="2971800"/>
            <a:ext cx="813816" cy="219456"/>
          </a:xfrm>
          <a:prstGeom prst="roundRect">
            <a:avLst>
              <a:gd name="adj" fmla="val 16667"/>
            </a:avLst>
          </a:prstGeom>
          <a:solidFill>
            <a:srgbClr val="F0B429"/>
          </a:solidFill>
          <a:ln/>
        </p:spPr>
      </p:sp>
      <p:sp>
        <p:nvSpPr>
          <p:cNvPr id="56" name="Text 38"/>
          <p:cNvSpPr/>
          <p:nvPr/>
        </p:nvSpPr>
        <p:spPr>
          <a:xfrm>
            <a:off x="5102352" y="2971800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50" b="1" dirty="0">
                <a:solidFill>
                  <a:srgbClr val="101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</a:t>
            </a:r>
            <a:endParaRPr lang="en-US" sz="5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550" b="1" dirty="0">
                <a:solidFill>
                  <a:srgbClr val="101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</a:t>
            </a:r>
            <a:endParaRPr lang="en-US" sz="550" dirty="0"/>
          </a:p>
        </p:txBody>
      </p:sp>
      <p:sp>
        <p:nvSpPr>
          <p:cNvPr id="57" name="Shape 39"/>
          <p:cNvSpPr/>
          <p:nvPr/>
        </p:nvSpPr>
        <p:spPr>
          <a:xfrm>
            <a:off x="6126480" y="2103120"/>
            <a:ext cx="2423160" cy="1280160"/>
          </a:xfrm>
          <a:prstGeom prst="roundRect">
            <a:avLst>
              <a:gd name="adj" fmla="val 4286"/>
            </a:avLst>
          </a:prstGeom>
          <a:solidFill>
            <a:srgbClr val="141935"/>
          </a:solidFill>
          <a:ln/>
        </p:spPr>
      </p:sp>
      <p:sp>
        <p:nvSpPr>
          <p:cNvPr id="58" name="Text 40"/>
          <p:cNvSpPr/>
          <p:nvPr/>
        </p:nvSpPr>
        <p:spPr>
          <a:xfrm>
            <a:off x="6309360" y="24688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미션을 클릭하면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 정보를 확인할 수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있습니다.</a:t>
            </a:r>
            <a:endParaRPr lang="en-US" sz="850" dirty="0"/>
          </a:p>
        </p:txBody>
      </p:sp>
      <p:sp>
        <p:nvSpPr>
          <p:cNvPr id="59" name="Shape 41"/>
          <p:cNvSpPr/>
          <p:nvPr/>
        </p:nvSpPr>
        <p:spPr>
          <a:xfrm>
            <a:off x="2606040" y="3611880"/>
            <a:ext cx="5943600" cy="1005840"/>
          </a:xfrm>
          <a:prstGeom prst="roundRect">
            <a:avLst>
              <a:gd name="adj" fmla="val 4545"/>
            </a:avLst>
          </a:prstGeom>
          <a:solidFill>
            <a:srgbClr val="141935"/>
          </a:solidFill>
          <a:ln/>
        </p:spPr>
      </p:sp>
      <p:sp>
        <p:nvSpPr>
          <p:cNvPr id="60" name="Text 42"/>
          <p:cNvSpPr/>
          <p:nvPr/>
        </p:nvSpPr>
        <p:spPr>
          <a:xfrm>
            <a:off x="2743200" y="36667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 미션</a:t>
            </a:r>
            <a:endParaRPr lang="en-US" sz="900" dirty="0"/>
          </a:p>
        </p:txBody>
      </p:sp>
      <p:sp>
        <p:nvSpPr>
          <p:cNvPr id="61" name="Text 43"/>
          <p:cNvSpPr/>
          <p:nvPr/>
        </p:nvSpPr>
        <p:spPr>
          <a:xfrm>
            <a:off x="2788920" y="3886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 리스트</a:t>
            </a:r>
            <a:endParaRPr lang="en-US" sz="700" dirty="0"/>
          </a:p>
        </p:txBody>
      </p:sp>
      <p:sp>
        <p:nvSpPr>
          <p:cNvPr id="62" name="Text 44"/>
          <p:cNvSpPr/>
          <p:nvPr/>
        </p:nvSpPr>
        <p:spPr>
          <a:xfrm>
            <a:off x="5349240" y="3886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챌린저스 포인트</a:t>
            </a:r>
            <a:endParaRPr lang="en-US" sz="700" dirty="0"/>
          </a:p>
        </p:txBody>
      </p:sp>
      <p:sp>
        <p:nvSpPr>
          <p:cNvPr id="63" name="Text 45"/>
          <p:cNvSpPr/>
          <p:nvPr/>
        </p:nvSpPr>
        <p:spPr>
          <a:xfrm>
            <a:off x="6812280" y="3886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챌린저스 코인</a:t>
            </a:r>
            <a:endParaRPr lang="en-US" sz="700" dirty="0"/>
          </a:p>
        </p:txBody>
      </p:sp>
      <p:sp>
        <p:nvSpPr>
          <p:cNvPr id="64" name="Text 46"/>
          <p:cNvSpPr/>
          <p:nvPr/>
        </p:nvSpPr>
        <p:spPr>
          <a:xfrm>
            <a:off x="2788920" y="40873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281레벨 달성하기</a:t>
            </a:r>
            <a:endParaRPr lang="en-US" sz="750" dirty="0"/>
          </a:p>
        </p:txBody>
      </p:sp>
      <p:sp>
        <p:nvSpPr>
          <p:cNvPr id="65" name="Text 47"/>
          <p:cNvSpPr/>
          <p:nvPr/>
        </p:nvSpPr>
        <p:spPr>
          <a:xfrm>
            <a:off x="5349240" y="40873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1,500</a:t>
            </a:r>
            <a:endParaRPr lang="en-US" sz="750" dirty="0"/>
          </a:p>
        </p:txBody>
      </p:sp>
      <p:sp>
        <p:nvSpPr>
          <p:cNvPr id="66" name="Text 48"/>
          <p:cNvSpPr/>
          <p:nvPr/>
        </p:nvSpPr>
        <p:spPr>
          <a:xfrm>
            <a:off x="6812280" y="40873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1,200</a:t>
            </a:r>
            <a:endParaRPr lang="en-US" sz="750" dirty="0"/>
          </a:p>
        </p:txBody>
      </p:sp>
      <p:sp>
        <p:nvSpPr>
          <p:cNvPr id="67" name="Text 49"/>
          <p:cNvSpPr/>
          <p:nvPr/>
        </p:nvSpPr>
        <p:spPr>
          <a:xfrm>
            <a:off x="2788920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282레벨 달성하기</a:t>
            </a:r>
            <a:endParaRPr lang="en-US" sz="750" dirty="0"/>
          </a:p>
        </p:txBody>
      </p:sp>
      <p:sp>
        <p:nvSpPr>
          <p:cNvPr id="68" name="Text 50"/>
          <p:cNvSpPr/>
          <p:nvPr/>
        </p:nvSpPr>
        <p:spPr>
          <a:xfrm>
            <a:off x="5349240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1,500</a:t>
            </a:r>
            <a:endParaRPr lang="en-US" sz="750" dirty="0"/>
          </a:p>
        </p:txBody>
      </p:sp>
      <p:sp>
        <p:nvSpPr>
          <p:cNvPr id="69" name="Text 51"/>
          <p:cNvSpPr/>
          <p:nvPr/>
        </p:nvSpPr>
        <p:spPr>
          <a:xfrm>
            <a:off x="6812280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1,200</a:t>
            </a:r>
            <a:endParaRPr lang="en-US" sz="750" dirty="0"/>
          </a:p>
        </p:txBody>
      </p:sp>
      <p:sp>
        <p:nvSpPr>
          <p:cNvPr id="70" name="Text 52"/>
          <p:cNvSpPr/>
          <p:nvPr/>
        </p:nvSpPr>
        <p:spPr>
          <a:xfrm>
            <a:off x="2788920" y="44348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285레벨 달성하기</a:t>
            </a:r>
            <a:endParaRPr lang="en-US" sz="750" dirty="0"/>
          </a:p>
        </p:txBody>
      </p:sp>
      <p:sp>
        <p:nvSpPr>
          <p:cNvPr id="71" name="Text 53"/>
          <p:cNvSpPr/>
          <p:nvPr/>
        </p:nvSpPr>
        <p:spPr>
          <a:xfrm>
            <a:off x="5349240" y="44348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2,000</a:t>
            </a:r>
            <a:endParaRPr lang="en-US" sz="750" dirty="0"/>
          </a:p>
        </p:txBody>
      </p:sp>
      <p:sp>
        <p:nvSpPr>
          <p:cNvPr id="72" name="Text 54"/>
          <p:cNvSpPr/>
          <p:nvPr/>
        </p:nvSpPr>
        <p:spPr>
          <a:xfrm>
            <a:off x="6812280" y="44348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1,500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UI/UX 명세 — 주간·시즌미션 탭 (실측 반영)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성장 미션은 3택1 · 시즌 미션의 달성 비율은 전체 유저 대비 글로벌 통계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8229600" cy="3913632"/>
          </a:xfrm>
          <a:prstGeom prst="roundRect">
            <a:avLst>
              <a:gd name="adj" fmla="val 1168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371600"/>
            <a:ext cx="1828800" cy="3584448"/>
          </a:xfrm>
          <a:prstGeom prst="roundRect">
            <a:avLst>
              <a:gd name="adj" fmla="val 2500"/>
            </a:avLst>
          </a:prstGeom>
          <a:solidFill>
            <a:srgbClr val="141935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1554480"/>
            <a:ext cx="868680" cy="868680"/>
          </a:xfrm>
          <a:prstGeom prst="ellipse">
            <a:avLst/>
          </a:prstGeom>
          <a:solidFill>
            <a:srgbClr val="9AD8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78308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DIAMOND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1792" y="27706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69,000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3200400"/>
            <a:ext cx="1508760" cy="0"/>
          </a:xfrm>
          <a:prstGeom prst="line">
            <a:avLst/>
          </a:prstGeom>
          <a:noFill/>
          <a:ln w="12700">
            <a:solidFill>
              <a:srgbClr val="232B5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310128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24128" y="3310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챌린저스 코인 560</a:t>
            </a:r>
            <a:endParaRPr lang="en-US" sz="8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47872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4128" y="3547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상급 코인 10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777240" y="3840480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/>
        </p:spPr>
      </p:sp>
      <p:sp>
        <p:nvSpPr>
          <p:cNvPr id="18" name="Text 13"/>
          <p:cNvSpPr/>
          <p:nvPr/>
        </p:nvSpPr>
        <p:spPr>
          <a:xfrm>
            <a:off x="777240" y="38404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상점 열기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2606040" y="1371600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141935"/>
          </a:solidFill>
          <a:ln/>
        </p:spPr>
      </p:sp>
      <p:sp>
        <p:nvSpPr>
          <p:cNvPr id="20" name="Text 15"/>
          <p:cNvSpPr/>
          <p:nvPr/>
        </p:nvSpPr>
        <p:spPr>
          <a:xfrm>
            <a:off x="2606040" y="1371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547872" y="1371600"/>
            <a:ext cx="1691640" cy="365760"/>
          </a:xfrm>
          <a:prstGeom prst="roundRect">
            <a:avLst>
              <a:gd name="adj" fmla="val 12500"/>
            </a:avLst>
          </a:prstGeom>
          <a:solidFill>
            <a:srgbClr val="141935"/>
          </a:solidFill>
          <a:ln/>
        </p:spPr>
      </p:sp>
      <p:sp>
        <p:nvSpPr>
          <p:cNvPr id="22" name="Text 17"/>
          <p:cNvSpPr/>
          <p:nvPr/>
        </p:nvSpPr>
        <p:spPr>
          <a:xfrm>
            <a:off x="3547872" y="1371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보스·레벨미션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312664" y="1371600"/>
            <a:ext cx="1691640" cy="365760"/>
          </a:xfrm>
          <a:prstGeom prst="roundRect">
            <a:avLst>
              <a:gd name="adj" fmla="val 12500"/>
            </a:avLst>
          </a:prstGeom>
          <a:solidFill>
            <a:srgbClr val="F0B429"/>
          </a:solidFill>
          <a:ln/>
        </p:spPr>
      </p:sp>
      <p:sp>
        <p:nvSpPr>
          <p:cNvPr id="24" name="Text 19"/>
          <p:cNvSpPr/>
          <p:nvPr/>
        </p:nvSpPr>
        <p:spPr>
          <a:xfrm>
            <a:off x="5312664" y="1371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1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주간·시즌미션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2606040" y="1828800"/>
            <a:ext cx="5943600" cy="1051560"/>
          </a:xfrm>
          <a:prstGeom prst="roundRect">
            <a:avLst>
              <a:gd name="adj" fmla="val 4348"/>
            </a:avLst>
          </a:prstGeom>
          <a:solidFill>
            <a:srgbClr val="141935"/>
          </a:solidFill>
          <a:ln/>
        </p:spPr>
      </p:sp>
      <p:sp>
        <p:nvSpPr>
          <p:cNvPr id="26" name="Text 21"/>
          <p:cNvSpPr/>
          <p:nvPr/>
        </p:nvSpPr>
        <p:spPr>
          <a:xfrm>
            <a:off x="2743200" y="18836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성장 미션</a:t>
            </a:r>
            <a:endParaRPr lang="en-US" sz="9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2121408"/>
            <a:ext cx="182880" cy="1828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971800" y="21031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1,500  ·  주간 최대 1회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6995160" y="1883664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232B57"/>
          </a:solidFill>
          <a:ln/>
        </p:spPr>
      </p:sp>
      <p:sp>
        <p:nvSpPr>
          <p:cNvPr id="30" name="Text 24"/>
          <p:cNvSpPr/>
          <p:nvPr/>
        </p:nvSpPr>
        <p:spPr>
          <a:xfrm>
            <a:off x="6995160" y="18836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심층 패스 0개 [구매]</a:t>
            </a:r>
            <a:endParaRPr lang="en-US" sz="650" dirty="0"/>
          </a:p>
        </p:txBody>
      </p:sp>
      <p:sp>
        <p:nvSpPr>
          <p:cNvPr id="31" name="Text 25"/>
          <p:cNvSpPr/>
          <p:nvPr/>
        </p:nvSpPr>
        <p:spPr>
          <a:xfrm>
            <a:off x="2743200" y="23408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3개의 미션 중 하나만 달성하여도 미션 완료가 가능합니다.</a:t>
            </a:r>
            <a:endParaRPr lang="en-US" sz="680" dirty="0"/>
          </a:p>
        </p:txBody>
      </p:sp>
      <p:sp>
        <p:nvSpPr>
          <p:cNvPr id="32" name="Shape 26"/>
          <p:cNvSpPr/>
          <p:nvPr/>
        </p:nvSpPr>
        <p:spPr>
          <a:xfrm>
            <a:off x="2743200" y="2542032"/>
            <a:ext cx="4206240" cy="256032"/>
          </a:xfrm>
          <a:prstGeom prst="roundRect">
            <a:avLst>
              <a:gd name="adj" fmla="val 17857"/>
            </a:avLst>
          </a:prstGeom>
          <a:solidFill>
            <a:srgbClr val="0F1330"/>
          </a:solidFill>
          <a:ln/>
        </p:spPr>
      </p:sp>
      <p:sp>
        <p:nvSpPr>
          <p:cNvPr id="33" name="Text 27"/>
          <p:cNvSpPr/>
          <p:nvPr/>
        </p:nvSpPr>
        <p:spPr>
          <a:xfrm>
            <a:off x="2743200" y="2542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미션 완료!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7086600" y="2542032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3DD68C"/>
          </a:solidFill>
          <a:ln/>
        </p:spPr>
      </p:sp>
      <p:sp>
        <p:nvSpPr>
          <p:cNvPr id="35" name="Text 29"/>
          <p:cNvSpPr/>
          <p:nvPr/>
        </p:nvSpPr>
        <p:spPr>
          <a:xfrm>
            <a:off x="7086600" y="25420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1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완료하기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2606040" y="3017520"/>
            <a:ext cx="5943600" cy="2148840"/>
          </a:xfrm>
          <a:prstGeom prst="roundRect">
            <a:avLst>
              <a:gd name="adj" fmla="val 2128"/>
            </a:avLst>
          </a:prstGeom>
          <a:solidFill>
            <a:srgbClr val="141935"/>
          </a:solidFill>
          <a:ln/>
        </p:spPr>
      </p:sp>
      <p:sp>
        <p:nvSpPr>
          <p:cNvPr id="37" name="Text 31"/>
          <p:cNvSpPr/>
          <p:nvPr/>
        </p:nvSpPr>
        <p:spPr>
          <a:xfrm>
            <a:off x="2743200" y="30723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미션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6172200" y="309067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달성 비율은 브론즈 티어 달성 이후부터 집계</a:t>
            </a:r>
            <a:endParaRPr lang="en-US" sz="650" dirty="0"/>
          </a:p>
        </p:txBody>
      </p:sp>
      <p:sp>
        <p:nvSpPr>
          <p:cNvPr id="39" name="Text 33"/>
          <p:cNvSpPr/>
          <p:nvPr/>
        </p:nvSpPr>
        <p:spPr>
          <a:xfrm>
            <a:off x="2743200" y="33284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아케인포스</a:t>
            </a:r>
            <a:endParaRPr lang="en-US" sz="750" dirty="0"/>
          </a:p>
        </p:txBody>
      </p:sp>
      <p:sp>
        <p:nvSpPr>
          <p:cNvPr id="40" name="Text 34"/>
          <p:cNvSpPr/>
          <p:nvPr/>
        </p:nvSpPr>
        <p:spPr>
          <a:xfrm>
            <a:off x="3657600" y="33284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이차원심볼 성장 레벨 총합 60레벨 달성</a:t>
            </a:r>
            <a:endParaRPr lang="en-US" sz="75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3346704"/>
            <a:ext cx="146304" cy="146304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8138160" y="33284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750" dirty="0"/>
          </a:p>
        </p:txBody>
      </p:sp>
      <p:sp>
        <p:nvSpPr>
          <p:cNvPr id="43" name="Text 36"/>
          <p:cNvSpPr/>
          <p:nvPr/>
        </p:nvSpPr>
        <p:spPr>
          <a:xfrm>
            <a:off x="8165592" y="33284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24.65%</a:t>
            </a:r>
            <a:endParaRPr lang="en-US" sz="700" dirty="0"/>
          </a:p>
        </p:txBody>
      </p:sp>
      <p:sp>
        <p:nvSpPr>
          <p:cNvPr id="44" name="Text 37"/>
          <p:cNvSpPr/>
          <p:nvPr/>
        </p:nvSpPr>
        <p:spPr>
          <a:xfrm>
            <a:off x="2743200" y="36210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아케인포스</a:t>
            </a:r>
            <a:endParaRPr lang="en-US" sz="750" dirty="0"/>
          </a:p>
        </p:txBody>
      </p:sp>
      <p:sp>
        <p:nvSpPr>
          <p:cNvPr id="45" name="Text 38"/>
          <p:cNvSpPr/>
          <p:nvPr/>
        </p:nvSpPr>
        <p:spPr>
          <a:xfrm>
            <a:off x="3657600" y="362102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이차원심볼 성장 레벨 총합 80레벨 달성</a:t>
            </a:r>
            <a:endParaRPr lang="en-US" sz="750" dirty="0"/>
          </a:p>
        </p:txBody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3639312"/>
            <a:ext cx="146304" cy="14630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8138160" y="36210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750" dirty="0"/>
          </a:p>
        </p:txBody>
      </p:sp>
      <p:sp>
        <p:nvSpPr>
          <p:cNvPr id="48" name="Text 40"/>
          <p:cNvSpPr/>
          <p:nvPr/>
        </p:nvSpPr>
        <p:spPr>
          <a:xfrm>
            <a:off x="8165592" y="36210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13.68%</a:t>
            </a:r>
            <a:endParaRPr lang="en-US" sz="700" dirty="0"/>
          </a:p>
        </p:txBody>
      </p:sp>
      <p:sp>
        <p:nvSpPr>
          <p:cNvPr id="49" name="Text 41"/>
          <p:cNvSpPr/>
          <p:nvPr/>
        </p:nvSpPr>
        <p:spPr>
          <a:xfrm>
            <a:off x="2743200" y="39136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전투력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3657600" y="39136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전투력 7,000만 달성</a:t>
            </a:r>
            <a:endParaRPr lang="en-US" sz="750" dirty="0"/>
          </a:p>
        </p:txBody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0" y="3931920"/>
            <a:ext cx="146304" cy="146304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8138160" y="39136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750" dirty="0"/>
          </a:p>
        </p:txBody>
      </p:sp>
      <p:sp>
        <p:nvSpPr>
          <p:cNvPr id="53" name="Text 44"/>
          <p:cNvSpPr/>
          <p:nvPr/>
        </p:nvSpPr>
        <p:spPr>
          <a:xfrm>
            <a:off x="8165592" y="39136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13.33%</a:t>
            </a:r>
            <a:endParaRPr lang="en-US" sz="700" dirty="0"/>
          </a:p>
        </p:txBody>
      </p:sp>
      <p:sp>
        <p:nvSpPr>
          <p:cNvPr id="54" name="Text 45"/>
          <p:cNvSpPr/>
          <p:nvPr/>
        </p:nvSpPr>
        <p:spPr>
          <a:xfrm>
            <a:off x="2743200" y="4206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무기 해방</a:t>
            </a:r>
            <a:endParaRPr lang="en-US" sz="750" dirty="0"/>
          </a:p>
        </p:txBody>
      </p:sp>
      <p:sp>
        <p:nvSpPr>
          <p:cNvPr id="55" name="Text 46"/>
          <p:cNvSpPr/>
          <p:nvPr/>
        </p:nvSpPr>
        <p:spPr>
          <a:xfrm>
            <a:off x="3657600" y="42062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제네시스 2차 해방하기</a:t>
            </a:r>
            <a:endParaRPr lang="en-US" sz="750" dirty="0"/>
          </a:p>
        </p:txBody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5280" y="4224528"/>
            <a:ext cx="146304" cy="146304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8138160" y="4206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750" dirty="0"/>
          </a:p>
        </p:txBody>
      </p:sp>
      <p:sp>
        <p:nvSpPr>
          <p:cNvPr id="58" name="Text 48"/>
          <p:cNvSpPr/>
          <p:nvPr/>
        </p:nvSpPr>
        <p:spPr>
          <a:xfrm>
            <a:off x="8165592" y="4206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11.95%</a:t>
            </a:r>
            <a:endParaRPr lang="en-US" sz="700" dirty="0"/>
          </a:p>
        </p:txBody>
      </p:sp>
      <p:sp>
        <p:nvSpPr>
          <p:cNvPr id="59" name="Text 49"/>
          <p:cNvSpPr/>
          <p:nvPr/>
        </p:nvSpPr>
        <p:spPr>
          <a:xfrm>
            <a:off x="2743200" y="44988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2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어빌리티</a:t>
            </a:r>
            <a:endParaRPr lang="en-US" sz="750" dirty="0"/>
          </a:p>
        </p:txBody>
      </p:sp>
      <p:sp>
        <p:nvSpPr>
          <p:cNvPr id="60" name="Text 50"/>
          <p:cNvSpPr/>
          <p:nvPr/>
        </p:nvSpPr>
        <p:spPr>
          <a:xfrm>
            <a:off x="3657600" y="44988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2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어빌리티 유니크 등급</a:t>
            </a:r>
            <a:endParaRPr lang="en-US" sz="750" dirty="0"/>
          </a:p>
        </p:txBody>
      </p:sp>
      <p:pic>
        <p:nvPicPr>
          <p:cNvPr id="6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5280" y="4517136"/>
            <a:ext cx="146304" cy="146304"/>
          </a:xfrm>
          <a:prstGeom prst="rect">
            <a:avLst/>
          </a:prstGeom>
        </p:spPr>
      </p:pic>
      <p:sp>
        <p:nvSpPr>
          <p:cNvPr id="62" name="Text 51"/>
          <p:cNvSpPr/>
          <p:nvPr/>
        </p:nvSpPr>
        <p:spPr>
          <a:xfrm>
            <a:off x="8138160" y="44988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750" dirty="0"/>
          </a:p>
        </p:txBody>
      </p:sp>
      <p:sp>
        <p:nvSpPr>
          <p:cNvPr id="63" name="Shape 52"/>
          <p:cNvSpPr/>
          <p:nvPr/>
        </p:nvSpPr>
        <p:spPr>
          <a:xfrm>
            <a:off x="7589520" y="4507992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1F5C3F"/>
          </a:solidFill>
          <a:ln/>
        </p:spPr>
      </p:sp>
      <p:sp>
        <p:nvSpPr>
          <p:cNvPr id="64" name="Text 53"/>
          <p:cNvSpPr/>
          <p:nvPr/>
        </p:nvSpPr>
        <p:spPr>
          <a:xfrm>
            <a:off x="7589520" y="45079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D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650" dirty="0"/>
          </a:p>
        </p:txBody>
      </p:sp>
      <p:sp>
        <p:nvSpPr>
          <p:cNvPr id="65" name="Text 54"/>
          <p:cNvSpPr/>
          <p:nvPr/>
        </p:nvSpPr>
        <p:spPr>
          <a:xfrm>
            <a:off x="8165592" y="44988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98.07%</a:t>
            </a:r>
            <a:endParaRPr lang="en-US" sz="700" dirty="0"/>
          </a:p>
        </p:txBody>
      </p:sp>
      <p:sp>
        <p:nvSpPr>
          <p:cNvPr id="66" name="Text 55"/>
          <p:cNvSpPr/>
          <p:nvPr/>
        </p:nvSpPr>
        <p:spPr>
          <a:xfrm>
            <a:off x="2743200" y="47914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2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어빌리티</a:t>
            </a:r>
            <a:endParaRPr lang="en-US" sz="750" dirty="0"/>
          </a:p>
        </p:txBody>
      </p:sp>
      <p:sp>
        <p:nvSpPr>
          <p:cNvPr id="67" name="Text 56"/>
          <p:cNvSpPr/>
          <p:nvPr/>
        </p:nvSpPr>
        <p:spPr>
          <a:xfrm>
            <a:off x="3657600" y="479145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2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어빌리티 레전드리 등급</a:t>
            </a:r>
            <a:endParaRPr lang="en-US" sz="750" dirty="0"/>
          </a:p>
        </p:txBody>
      </p:sp>
      <p:pic>
        <p:nvPicPr>
          <p:cNvPr id="6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5280" y="4809744"/>
            <a:ext cx="146304" cy="146304"/>
          </a:xfrm>
          <a:prstGeom prst="rect">
            <a:avLst/>
          </a:prstGeom>
        </p:spPr>
      </p:pic>
      <p:sp>
        <p:nvSpPr>
          <p:cNvPr id="69" name="Text 57"/>
          <p:cNvSpPr/>
          <p:nvPr/>
        </p:nvSpPr>
        <p:spPr>
          <a:xfrm>
            <a:off x="8138160" y="47914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750" dirty="0"/>
          </a:p>
        </p:txBody>
      </p:sp>
      <p:sp>
        <p:nvSpPr>
          <p:cNvPr id="70" name="Shape 58"/>
          <p:cNvSpPr/>
          <p:nvPr/>
        </p:nvSpPr>
        <p:spPr>
          <a:xfrm>
            <a:off x="7589520" y="4800600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1F5C3F"/>
          </a:solidFill>
          <a:ln/>
        </p:spPr>
      </p:sp>
      <p:sp>
        <p:nvSpPr>
          <p:cNvPr id="71" name="Text 59"/>
          <p:cNvSpPr/>
          <p:nvPr/>
        </p:nvSpPr>
        <p:spPr>
          <a:xfrm>
            <a:off x="758952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D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650" dirty="0"/>
          </a:p>
        </p:txBody>
      </p:sp>
      <p:sp>
        <p:nvSpPr>
          <p:cNvPr id="72" name="Text 60"/>
          <p:cNvSpPr/>
          <p:nvPr/>
        </p:nvSpPr>
        <p:spPr>
          <a:xfrm>
            <a:off x="8165592" y="47914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96.97%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명세 (발췌)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승급 보류·정원 마감·수령 확정 등 엣지 케이스의 처리 원칙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743200"/>
                <a:gridCol w="48463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케이스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E-01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포인트 충족 + 관문 보스 미격파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승급 보류, UI에 관문 필요 상태 표시 → 격파 즉시 승급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E-03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슈챌 조건 충족 시점에 정원 마감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챌린저 티어 부여, 결원 승계 없음 (※추정)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E-04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대량 포인트로 다단계 동시 충족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최고 티어 일괄 승급, 경유 티어 보상 전부 활성화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E-05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보상 수령 월드 확정 후 변경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 — 수령 확인 팝업에서 사전 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E-08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월드 리프 신청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특수 반지 폐기·길드 탈퇴 검증 통과 필요, 티어는 ID-월드 귀속 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E-10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연습 모드 판정의 시스템 간 충돌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티어는 인정 / 제네시스 패스 PLUS는 불인정 — 시스템별 독립 플래그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밸런스 검증 — 넓은 포인트 문, 좁은 실력 관문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슈퍼챌린저 요구 90,000P는 시즌 최대치의 약 65%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51206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280160"/>
            <a:ext cx="3017520" cy="1042416"/>
          </a:xfrm>
          <a:prstGeom prst="roundRect">
            <a:avLst>
              <a:gd name="adj" fmla="val 6140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70448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65%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870448" y="1664208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슈챌 포인트 컷 / 최대치 — 최상위 보스 없이도 중상위 전체 격파 + 285레벨로 도달 가능한 '넓은 문'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669280" y="2450592"/>
            <a:ext cx="3017520" cy="1042416"/>
          </a:xfrm>
          <a:prstGeom prst="roundRect">
            <a:avLst>
              <a:gd name="adj" fmla="val 6140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70448" y="25420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실질 관문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870448" y="2834640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 메이린 (환산 주스탯 약 4.7만) — 포인트가 아닌 실전 격파 능력이 최종 필터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669280" y="3621024"/>
            <a:ext cx="3017520" cy="1042416"/>
          </a:xfrm>
          <a:prstGeom prst="roundRect">
            <a:avLst>
              <a:gd name="adj" fmla="val 6140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70448" y="37124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정체 구간 보상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870448" y="4005072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플래티넘→에메랄드(20K→30K) 병목에 결계 중형 해금·본 서버 수령 개방을 겹쳐 보상 밀도 배치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182880" cy="182880"/>
          </a:xfrm>
          <a:prstGeom prst="ellipse">
            <a:avLst/>
          </a:prstGeom>
          <a:solidFill>
            <a:srgbClr val="C98A4B"/>
          </a:solidFill>
          <a:ln/>
        </p:spPr>
      </p:sp>
      <p:sp>
        <p:nvSpPr>
          <p:cNvPr id="3" name="Shape 1"/>
          <p:cNvSpPr/>
          <p:nvPr/>
        </p:nvSpPr>
        <p:spPr>
          <a:xfrm>
            <a:off x="1609344" y="640080"/>
            <a:ext cx="182880" cy="182880"/>
          </a:xfrm>
          <a:prstGeom prst="ellipse">
            <a:avLst/>
          </a:prstGeom>
          <a:solidFill>
            <a:srgbClr val="C9CFDD"/>
          </a:solidFill>
          <a:ln/>
        </p:spPr>
      </p:sp>
      <p:sp>
        <p:nvSpPr>
          <p:cNvPr id="4" name="Shape 2"/>
          <p:cNvSpPr/>
          <p:nvPr/>
        </p:nvSpPr>
        <p:spPr>
          <a:xfrm>
            <a:off x="2395728" y="640080"/>
            <a:ext cx="182880" cy="182880"/>
          </a:xfrm>
          <a:prstGeom prst="ellipse">
            <a:avLst/>
          </a:prstGeom>
          <a:solidFill>
            <a:srgbClr val="F5C542"/>
          </a:solidFill>
          <a:ln/>
        </p:spPr>
      </p:sp>
      <p:sp>
        <p:nvSpPr>
          <p:cNvPr id="5" name="Shape 3"/>
          <p:cNvSpPr/>
          <p:nvPr/>
        </p:nvSpPr>
        <p:spPr>
          <a:xfrm>
            <a:off x="3182112" y="640080"/>
            <a:ext cx="182880" cy="182880"/>
          </a:xfrm>
          <a:prstGeom prst="ellipse">
            <a:avLst/>
          </a:prstGeom>
          <a:solidFill>
            <a:srgbClr val="8FE3D0"/>
          </a:solidFill>
          <a:ln/>
        </p:spPr>
      </p:sp>
      <p:sp>
        <p:nvSpPr>
          <p:cNvPr id="6" name="Shape 4"/>
          <p:cNvSpPr/>
          <p:nvPr/>
        </p:nvSpPr>
        <p:spPr>
          <a:xfrm>
            <a:off x="3968496" y="640080"/>
            <a:ext cx="182880" cy="182880"/>
          </a:xfrm>
          <a:prstGeom prst="ellipse">
            <a:avLst/>
          </a:prstGeom>
          <a:solidFill>
            <a:srgbClr val="3DD68C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640080"/>
            <a:ext cx="182880" cy="182880"/>
          </a:xfrm>
          <a:prstGeom prst="ellipse">
            <a:avLst/>
          </a:prstGeom>
          <a:solidFill>
            <a:srgbClr val="4D8DF7"/>
          </a:solidFill>
          <a:ln/>
        </p:spPr>
      </p:sp>
      <p:sp>
        <p:nvSpPr>
          <p:cNvPr id="8" name="Shape 6"/>
          <p:cNvSpPr/>
          <p:nvPr/>
        </p:nvSpPr>
        <p:spPr>
          <a:xfrm>
            <a:off x="5541264" y="640080"/>
            <a:ext cx="182880" cy="182880"/>
          </a:xfrm>
          <a:prstGeom prst="ellipse">
            <a:avLst/>
          </a:prstGeom>
          <a:solidFill>
            <a:srgbClr val="9AD8FF"/>
          </a:solidFill>
          <a:ln/>
        </p:spPr>
      </p:sp>
      <p:sp>
        <p:nvSpPr>
          <p:cNvPr id="9" name="Shape 7"/>
          <p:cNvSpPr/>
          <p:nvPr/>
        </p:nvSpPr>
        <p:spPr>
          <a:xfrm>
            <a:off x="6327648" y="640080"/>
            <a:ext cx="182880" cy="182880"/>
          </a:xfrm>
          <a:prstGeom prst="ellipse">
            <a:avLst/>
          </a:prstGeom>
          <a:solidFill>
            <a:srgbClr val="B57BFF"/>
          </a:solidFill>
          <a:ln/>
        </p:spPr>
      </p:sp>
      <p:sp>
        <p:nvSpPr>
          <p:cNvPr id="10" name="Shape 8"/>
          <p:cNvSpPr/>
          <p:nvPr/>
        </p:nvSpPr>
        <p:spPr>
          <a:xfrm>
            <a:off x="7114032" y="640080"/>
            <a:ext cx="182880" cy="182880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1" name="Shape 9"/>
          <p:cNvSpPr/>
          <p:nvPr/>
        </p:nvSpPr>
        <p:spPr>
          <a:xfrm>
            <a:off x="7900416" y="640080"/>
            <a:ext cx="182880" cy="182880"/>
          </a:xfrm>
          <a:prstGeom prst="ellipse">
            <a:avLst/>
          </a:prstGeom>
          <a:solidFill>
            <a:srgbClr val="FF5D5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1887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시사점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22960" y="1956816"/>
            <a:ext cx="457200" cy="457200"/>
          </a:xfrm>
          <a:prstGeom prst="ellipse">
            <a:avLst/>
          </a:prstGeom>
          <a:solidFill>
            <a:srgbClr val="232B5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192024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지표, 다중 연동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463040" y="2231136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 하나로 패시브·결계·보상·명예를 묶어 경쟁 참여가 곧 육성이 되게 한다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2825496"/>
            <a:ext cx="457200" cy="457200"/>
          </a:xfrm>
          <a:prstGeom prst="ellipse">
            <a:avLst/>
          </a:prstGeom>
          <a:solidFill>
            <a:srgbClr val="232B5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27889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문 + 실력 관문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463040" y="3099816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 컷은 낮추고 관문 보스에 검증을 위임 — 랭킹 인플레이션을 구조로 방지한다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3694176"/>
            <a:ext cx="457200" cy="457200"/>
          </a:xfrm>
          <a:prstGeom prst="ellipse">
            <a:avLst/>
          </a:prstGeom>
          <a:solidFill>
            <a:srgbClr val="232B57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36576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성격의 구간 전환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463040" y="3968496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티어는 월드 내 소모, 상위 티어는 본 서버 환류 — 시즌 성취를 리텐션 자산으로 만든다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4617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연계 문서: 「챌린저스 월드 시즌4 콘텐츠 분석서」 v2.0  ·  ※추정 표기 항목은 실제 내부 사양과 다를 수 있음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챌린저스 월드 티어 시스템 역기획서</dc:title>
  <dc:subject>PptxGenJS Presentation</dc:subject>
  <dc:creator>PptxGenJS</dc:creator>
  <cp:lastModifiedBy>PptxGenJS</cp:lastModifiedBy>
  <cp:revision>1</cp:revision>
  <dcterms:created xsi:type="dcterms:W3CDTF">2026-07-07T14:24:11Z</dcterms:created>
  <dcterms:modified xsi:type="dcterms:W3CDTF">2026-07-07T14:24:11Z</dcterms:modified>
</cp:coreProperties>
</file>